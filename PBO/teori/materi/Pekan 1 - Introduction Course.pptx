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slideLayouts/slideLayout11.xml" ContentType="application/vnd.openxmlformats-officedocument.presentationml.slideLayout+xml"/>
  <Override PartName="/ppt/theme/theme7.xml" ContentType="application/vnd.openxmlformats-officedocument.theme+xml"/>
  <Override PartName="/ppt/slideLayouts/slideLayout12.xml" ContentType="application/vnd.openxmlformats-officedocument.presentationml.slideLayout+xml"/>
  <Override PartName="/ppt/theme/theme8.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 id="2147483654" r:id="rId3"/>
    <p:sldMasterId id="2147483656" r:id="rId4"/>
    <p:sldMasterId id="2147483714" r:id="rId5"/>
    <p:sldMasterId id="2147484217" r:id="rId6"/>
    <p:sldMasterId id="2147483664" r:id="rId7"/>
    <p:sldMasterId id="2147483666" r:id="rId8"/>
    <p:sldMasterId id="2147484219" r:id="rId9"/>
  </p:sldMasterIdLst>
  <p:notesMasterIdLst>
    <p:notesMasterId r:id="rId48"/>
  </p:notesMasterIdLst>
  <p:sldIdLst>
    <p:sldId id="257" r:id="rId10"/>
    <p:sldId id="261" r:id="rId11"/>
    <p:sldId id="262" r:id="rId12"/>
    <p:sldId id="265" r:id="rId13"/>
    <p:sldId id="266" r:id="rId14"/>
    <p:sldId id="260" r:id="rId15"/>
    <p:sldId id="269" r:id="rId16"/>
    <p:sldId id="268" r:id="rId17"/>
    <p:sldId id="270" r:id="rId18"/>
    <p:sldId id="566" r:id="rId19"/>
    <p:sldId id="271" r:id="rId20"/>
    <p:sldId id="258" r:id="rId21"/>
    <p:sldId id="273" r:id="rId22"/>
    <p:sldId id="274" r:id="rId23"/>
    <p:sldId id="275" r:id="rId24"/>
    <p:sldId id="508" r:id="rId25"/>
    <p:sldId id="499" r:id="rId26"/>
    <p:sldId id="511" r:id="rId27"/>
    <p:sldId id="564" r:id="rId28"/>
    <p:sldId id="512" r:id="rId29"/>
    <p:sldId id="281" r:id="rId30"/>
    <p:sldId id="282" r:id="rId31"/>
    <p:sldId id="303" r:id="rId32"/>
    <p:sldId id="307" r:id="rId33"/>
    <p:sldId id="509" r:id="rId34"/>
    <p:sldId id="527" r:id="rId35"/>
    <p:sldId id="547" r:id="rId36"/>
    <p:sldId id="548" r:id="rId37"/>
    <p:sldId id="500" r:id="rId38"/>
    <p:sldId id="560" r:id="rId39"/>
    <p:sldId id="554" r:id="rId40"/>
    <p:sldId id="529" r:id="rId41"/>
    <p:sldId id="497" r:id="rId42"/>
    <p:sldId id="522" r:id="rId43"/>
    <p:sldId id="528" r:id="rId44"/>
    <p:sldId id="561" r:id="rId45"/>
    <p:sldId id="562" r:id="rId46"/>
    <p:sldId id="563" r:id="rId47"/>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E0B040-F743-A877-5A50-C67C0FDC1411}" v="82" dt="2025-03-05T07:57:52.268"/>
  </p1510:revLst>
</p1510:revInfo>
</file>

<file path=ppt/tableStyles.xml><?xml version="1.0" encoding="utf-8"?>
<a:tblStyleLst xmlns:a="http://schemas.openxmlformats.org/drawingml/2006/main" def="{5C22544A-7EE6-4342-B048-85BDC9FD1C3A}">
  <a:tblStyle styleId="{5C22544A-7EE6-4342-B048-85BDC9FD1C3A}" styleName="Gaya Medium 2 - Akse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Gaya Medium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Gaya Terang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Gaya Terang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microsoft.com/office/2015/10/relationships/revisionInfo" Target="revisionInfo.xml"/><Relationship Id="rId5" Type="http://schemas.openxmlformats.org/officeDocument/2006/relationships/slideMaster" Target="slideMasters/slideMaster5.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Tampungan Tanggal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BB68F0-FA51-4EA2-8E08-F38221BBAE57}" type="datetimeFigureOut">
              <a:t>2/23/2026</a:t>
            </a:fld>
            <a:endParaRPr lang="id-ID"/>
          </a:p>
        </p:txBody>
      </p:sp>
      <p:sp>
        <p:nvSpPr>
          <p:cNvPr id="4" name="Tampungan Gambar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Tampungan Catatan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6" name="Tampungan Ka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Tampungan Nomor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895B9D-C12B-4350-9309-F334304923B0}" type="slidenum">
              <a:t>‹#›</a:t>
            </a:fld>
            <a:endParaRPr lang="id-ID"/>
          </a:p>
        </p:txBody>
      </p:sp>
    </p:spTree>
    <p:extLst>
      <p:ext uri="{BB962C8B-B14F-4D97-AF65-F5344CB8AC3E}">
        <p14:creationId xmlns:p14="http://schemas.microsoft.com/office/powerpoint/2010/main" val="3326486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image" Target="../media/image22.png"/></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2</a:t>
            </a:fld>
            <a:endParaRPr/>
          </a:p>
        </p:txBody>
      </p:sp>
    </p:spTree>
    <p:extLst>
      <p:ext uri="{BB962C8B-B14F-4D97-AF65-F5344CB8AC3E}">
        <p14:creationId xmlns:p14="http://schemas.microsoft.com/office/powerpoint/2010/main" val="3148536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3</a:t>
            </a:fld>
            <a:endParaRPr/>
          </a:p>
        </p:txBody>
      </p:sp>
    </p:spTree>
    <p:extLst>
      <p:ext uri="{BB962C8B-B14F-4D97-AF65-F5344CB8AC3E}">
        <p14:creationId xmlns:p14="http://schemas.microsoft.com/office/powerpoint/2010/main" val="2576789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4</a:t>
            </a:fld>
            <a:endParaRPr/>
          </a:p>
        </p:txBody>
      </p:sp>
    </p:spTree>
    <p:extLst>
      <p:ext uri="{BB962C8B-B14F-4D97-AF65-F5344CB8AC3E}">
        <p14:creationId xmlns:p14="http://schemas.microsoft.com/office/powerpoint/2010/main" val="2251591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5</a:t>
            </a:fld>
            <a:endParaRPr/>
          </a:p>
        </p:txBody>
      </p:sp>
    </p:spTree>
    <p:extLst>
      <p:ext uri="{BB962C8B-B14F-4D97-AF65-F5344CB8AC3E}">
        <p14:creationId xmlns:p14="http://schemas.microsoft.com/office/powerpoint/2010/main" val="980243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6</a:t>
            </a:fld>
            <a:endParaRPr/>
          </a:p>
        </p:txBody>
      </p:sp>
    </p:spTree>
    <p:extLst>
      <p:ext uri="{BB962C8B-B14F-4D97-AF65-F5344CB8AC3E}">
        <p14:creationId xmlns:p14="http://schemas.microsoft.com/office/powerpoint/2010/main" val="3742123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7</a:t>
            </a:fld>
            <a:endParaRPr/>
          </a:p>
        </p:txBody>
      </p:sp>
    </p:spTree>
    <p:extLst>
      <p:ext uri="{BB962C8B-B14F-4D97-AF65-F5344CB8AC3E}">
        <p14:creationId xmlns:p14="http://schemas.microsoft.com/office/powerpoint/2010/main" val="3339776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8</a:t>
            </a:fld>
            <a:endParaRPr/>
          </a:p>
        </p:txBody>
      </p:sp>
    </p:spTree>
    <p:extLst>
      <p:ext uri="{BB962C8B-B14F-4D97-AF65-F5344CB8AC3E}">
        <p14:creationId xmlns:p14="http://schemas.microsoft.com/office/powerpoint/2010/main" val="839656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9</a:t>
            </a:fld>
            <a:endParaRPr/>
          </a:p>
        </p:txBody>
      </p:sp>
    </p:spTree>
    <p:extLst>
      <p:ext uri="{BB962C8B-B14F-4D97-AF65-F5344CB8AC3E}">
        <p14:creationId xmlns:p14="http://schemas.microsoft.com/office/powerpoint/2010/main" val="4280023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a:extLst>
            <a:ext uri="{FF2B5EF4-FFF2-40B4-BE49-F238E27FC236}">
              <a16:creationId xmlns:a16="http://schemas.microsoft.com/office/drawing/2014/main" id="{35110420-8BEE-101A-98DF-594152884D3E}"/>
            </a:ext>
          </a:extLst>
        </p:cNvPr>
        <p:cNvGrpSpPr/>
        <p:nvPr/>
      </p:nvGrpSpPr>
      <p:grpSpPr>
        <a:xfrm>
          <a:off x="0" y="0"/>
          <a:ext cx="0" cy="0"/>
          <a:chOff x="0" y="0"/>
          <a:chExt cx="0" cy="0"/>
        </a:xfrm>
      </p:grpSpPr>
      <p:sp>
        <p:nvSpPr>
          <p:cNvPr id="37" name="Google Shape;37;p1:notes">
            <a:extLst>
              <a:ext uri="{FF2B5EF4-FFF2-40B4-BE49-F238E27FC236}">
                <a16:creationId xmlns:a16="http://schemas.microsoft.com/office/drawing/2014/main" id="{6722F587-797A-B130-FF4F-699A53582A90}"/>
              </a:ext>
            </a:extLst>
          </p:cNvPr>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a:extLst>
              <a:ext uri="{FF2B5EF4-FFF2-40B4-BE49-F238E27FC236}">
                <a16:creationId xmlns:a16="http://schemas.microsoft.com/office/drawing/2014/main" id="{058CE9E5-62E0-3617-AC4F-20E0BFFBCBB3}"/>
              </a:ext>
            </a:extLst>
          </p:cNvPr>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a:extLst>
              <a:ext uri="{FF2B5EF4-FFF2-40B4-BE49-F238E27FC236}">
                <a16:creationId xmlns:a16="http://schemas.microsoft.com/office/drawing/2014/main" id="{205CE767-D4DD-165A-44C8-1D516E94FF53}"/>
              </a:ext>
            </a:extLst>
          </p:cNvPr>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10</a:t>
            </a:fld>
            <a:endParaRPr/>
          </a:p>
        </p:txBody>
      </p:sp>
    </p:spTree>
    <p:extLst>
      <p:ext uri="{BB962C8B-B14F-4D97-AF65-F5344CB8AC3E}">
        <p14:creationId xmlns:p14="http://schemas.microsoft.com/office/powerpoint/2010/main" val="2560546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4" name="Google Shape;54;p3: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5" name="Google Shape;55;p3: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4" name="Google Shape;104;p6: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SzPts val="1800"/>
              <a:buFont typeface="Calibri"/>
              <a:buNone/>
            </a:pPr>
            <a:r>
              <a:rPr lang="en-US" sz="1800">
                <a:latin typeface="Calibri"/>
                <a:ea typeface="Calibri"/>
                <a:cs typeface="Calibri"/>
                <a:sym typeface="Calibri"/>
              </a:rPr>
              <a:t>Lewat programing ini, hal yang bisa dilakukan manusia cukup meminta komputer berkeja.</a:t>
            </a:r>
            <a:endParaRPr/>
          </a:p>
          <a:p>
            <a:pPr marL="0" lvl="0" indent="0" algn="l" rtl="0">
              <a:spcBef>
                <a:spcPts val="0"/>
              </a:spcBef>
              <a:spcAft>
                <a:spcPts val="0"/>
              </a:spcAft>
              <a:buSzPts val="1800"/>
              <a:buNone/>
            </a:pPr>
            <a:endParaRPr sz="1800">
              <a:latin typeface="Calibri"/>
              <a:ea typeface="Calibri"/>
              <a:cs typeface="Calibri"/>
              <a:sym typeface="Calibri"/>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Apa yang dimaksud dengan program kalkulator? Program kalkulator adalah program yang meminta komputer untuk melakukan penghitungan untuk Anda agar penghitungan manusia menjadi lebih cepat dan mudah.</a:t>
            </a:r>
            <a:endParaRPr/>
          </a:p>
          <a:p>
            <a:pPr marL="0" lvl="0" indent="0" algn="l" rtl="0">
              <a:spcBef>
                <a:spcPts val="0"/>
              </a:spcBef>
              <a:spcAft>
                <a:spcPts val="0"/>
              </a:spcAft>
              <a:buSzPts val="1800"/>
              <a:buNone/>
            </a:pPr>
            <a:endParaRPr sz="1800">
              <a:latin typeface="Calibri"/>
              <a:ea typeface="Calibri"/>
              <a:cs typeface="Calibri"/>
              <a:sym typeface="Calibri"/>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Programing sendiri adalah program yang di buat agar bisa menggunakan komputer untuk melakukan hal yang bisa dilakukan manusia</a:t>
            </a:r>
            <a:endParaRPr/>
          </a:p>
          <a:p>
            <a:pPr marL="0" lvl="0" indent="0" algn="l" rtl="0">
              <a:spcBef>
                <a:spcPts val="0"/>
              </a:spcBef>
              <a:spcAft>
                <a:spcPts val="0"/>
              </a:spcAft>
              <a:buSzPts val="1800"/>
              <a:buNone/>
            </a:pPr>
            <a:endParaRPr sz="1800">
              <a:latin typeface="Calibri"/>
              <a:ea typeface="Calibri"/>
              <a:cs typeface="Calibri"/>
              <a:sym typeface="Calibri"/>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Lalu apa yang dimaksud dengan bahasa Programing?</a:t>
            </a:r>
            <a:endParaRPr/>
          </a:p>
          <a:p>
            <a:pPr marL="0" lvl="0" indent="0" algn="l" rtl="0">
              <a:spcBef>
                <a:spcPts val="0"/>
              </a:spcBef>
              <a:spcAft>
                <a:spcPts val="0"/>
              </a:spcAft>
              <a:buSzPts val="1800"/>
              <a:buNone/>
            </a:pPr>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Untuk memberikan perintah kepada komputer, kita harus menggunakan bahasa yang diketahui oleh komputer.</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Untuk menyampaikan suatu hal kepada orang Amerika, seberapa keras berbicara menggunakan bahasa Koreapun mereka tidak akan mengerti, komputer juga tidak mengerti bahasa yang digunakan oleh manusia meskipun dicoba. Agar perintahnya bisa dipahami bahasa komputer baru bisa digunakan</a:t>
            </a:r>
            <a:endParaRPr/>
          </a:p>
          <a:p>
            <a:pPr marL="0" lvl="0" indent="0" algn="l" rtl="0">
              <a:spcBef>
                <a:spcPts val="0"/>
              </a:spcBef>
              <a:spcAft>
                <a:spcPts val="0"/>
              </a:spcAft>
              <a:buSzPts val="1800"/>
              <a:buNone/>
            </a:pPr>
            <a:endParaRPr sz="1800">
              <a:latin typeface="Calibri"/>
              <a:ea typeface="Calibri"/>
              <a:cs typeface="Calibri"/>
              <a:sym typeface="Calibri"/>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Bahasa pemrograman adalah perintah untuk komputer yang kita pelajari juga bahasa yang dimengerti komputer.</a:t>
            </a:r>
            <a:endParaRPr/>
          </a:p>
          <a:p>
            <a:pPr marL="0" lvl="0" indent="0" algn="l" rtl="0">
              <a:spcBef>
                <a:spcPts val="0"/>
              </a:spcBef>
              <a:spcAft>
                <a:spcPts val="0"/>
              </a:spcAft>
              <a:buSzPts val="1800"/>
              <a:buNone/>
            </a:pPr>
            <a:endParaRPr sz="1800">
              <a:latin typeface="Calibri"/>
              <a:ea typeface="Calibri"/>
              <a:cs typeface="Calibri"/>
              <a:sym typeface="Calibri"/>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Bahasa manusia itu seperti Bahasa Korea, bahasa Inggris, bahasa Jepang, bahasa cina dan lain lain.</a:t>
            </a:r>
            <a:endParaRPr/>
          </a:p>
          <a:p>
            <a:pPr marL="0" lvl="0" indent="0" algn="l" rtl="0">
              <a:spcBef>
                <a:spcPts val="0"/>
              </a:spcBef>
              <a:spcAft>
                <a:spcPts val="0"/>
              </a:spcAft>
              <a:buSzPts val="1800"/>
              <a:buFont typeface="Calibri"/>
              <a:buNone/>
            </a:pPr>
            <a:br>
              <a:rPr lang="en-US" sz="1800">
                <a:latin typeface="Calibri"/>
                <a:ea typeface="Calibri"/>
                <a:cs typeface="Calibri"/>
                <a:sym typeface="Calibri"/>
              </a:rPr>
            </a:br>
            <a:r>
              <a:rPr lang="en-US" sz="1800">
                <a:latin typeface="Calibri"/>
                <a:ea typeface="Calibri"/>
                <a:cs typeface="Calibri"/>
                <a:sym typeface="Calibri"/>
              </a:rPr>
              <a:t>Bahasa komputer juga ada Java, C, C++ dan lain-lain.</a:t>
            </a:r>
            <a:endParaRPr/>
          </a:p>
          <a:p>
            <a:pPr marL="0" lvl="0" indent="0" algn="l" rtl="0">
              <a:spcBef>
                <a:spcPts val="0"/>
              </a:spcBef>
              <a:spcAft>
                <a:spcPts val="0"/>
              </a:spcAft>
              <a:buSzPts val="1800"/>
              <a:buNone/>
            </a:pPr>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Diantara berikut kita akan mempelajari bahasa JAVA.</a:t>
            </a:r>
            <a:endParaRPr/>
          </a:p>
          <a:p>
            <a:pPr marL="0" lvl="0" indent="0" algn="l" rtl="0">
              <a:spcBef>
                <a:spcPts val="0"/>
              </a:spcBef>
              <a:spcAft>
                <a:spcPts val="0"/>
              </a:spcAft>
              <a:buSzPts val="1800"/>
              <a:buNone/>
            </a:pPr>
            <a:endParaRPr/>
          </a:p>
          <a:p>
            <a:pPr marL="0" lvl="0" indent="0" algn="l" rtl="0">
              <a:spcBef>
                <a:spcPts val="0"/>
              </a:spcBef>
              <a:spcAft>
                <a:spcPts val="0"/>
              </a:spcAft>
              <a:buSzPts val="1800"/>
              <a:buFont typeface="Calibri"/>
              <a:buNone/>
            </a:pPr>
            <a:r>
              <a:rPr lang="en-US" sz="1800">
                <a:latin typeface="Calibri"/>
                <a:ea typeface="Calibri"/>
                <a:cs typeface="Calibri"/>
                <a:sym typeface="Calibri"/>
              </a:rPr>
              <a:t>Dengan kata lain, Pemrograman Java adalah menulis program untuk memerintahkan komputer melakukan sesuatu dengan menggunakan bahasa komputer Java.</a:t>
            </a:r>
            <a:endParaRPr/>
          </a:p>
          <a:p>
            <a:pPr marL="0" lvl="0" indent="0" algn="l" rtl="0">
              <a:spcBef>
                <a:spcPts val="0"/>
              </a:spcBef>
              <a:spcAft>
                <a:spcPts val="0"/>
              </a:spcAft>
              <a:buNone/>
            </a:pPr>
            <a:endParaRPr sz="1800">
              <a:latin typeface="Calibri"/>
              <a:ea typeface="Calibri"/>
              <a:cs typeface="Calibri"/>
              <a:sym typeface="Calibri"/>
            </a:endParaRPr>
          </a:p>
        </p:txBody>
      </p:sp>
      <p:sp>
        <p:nvSpPr>
          <p:cNvPr id="105" name="Google Shape;105;p6: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1" name="Google Shape;111;p7: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112" name="Google Shape;112;p7: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34" name="Google Shape;134;p9:notes"/>
          <p:cNvSpPr txBox="1">
            <a:spLocks noGrp="1"/>
          </p:cNvSpPr>
          <p:nvPr>
            <p:ph type="body" idx="1"/>
          </p:nvPr>
        </p:nvSpPr>
        <p:spPr>
          <a:xfrm>
            <a:off x="311150" y="5600700"/>
            <a:ext cx="6573837" cy="4114800"/>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SzPts val="1200"/>
              <a:buNone/>
            </a:pPr>
            <a:r>
              <a:rPr lang="en-US" sz="1200" b="1"/>
              <a:t>&lt;&lt; Source Code &gt;&gt;</a:t>
            </a:r>
            <a:endParaRPr/>
          </a:p>
          <a:p>
            <a:pPr marL="0" lvl="0" indent="0" algn="l" rtl="0">
              <a:spcBef>
                <a:spcPts val="0"/>
              </a:spcBef>
              <a:spcAft>
                <a:spcPts val="0"/>
              </a:spcAft>
              <a:buSzPts val="1200"/>
              <a:buNone/>
            </a:pPr>
            <a:r>
              <a:rPr lang="en-US" sz="1200"/>
              <a:t>Source Code berarti "kode asli", oleh karena itu disebut juga dengan "kode mentah".</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Ini mengacu pada kode program yang ditulis dalam bahasa pemrograman tertentu, dan Source Code disimpan dalam file yang disebut Source File.</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Di antara bahasa pemrograman lainnya, kita akan mempelajari bahasa bernama Java.</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Ketika kita menulis Source Code menggunakan bahasa Java dan menyimpannya sebagai file, kita membuat Source File Java bernama XXX.java.</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Namun, kode sumber ini tidak dapat dieksekusi dengan sendirinya.</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b="1"/>
              <a:t>&lt;&lt; Kode bahasa mesin &gt;&gt;</a:t>
            </a:r>
            <a:endParaRPr/>
          </a:p>
          <a:p>
            <a:pPr marL="0" lvl="0" indent="0" algn="l" rtl="0">
              <a:spcBef>
                <a:spcPts val="0"/>
              </a:spcBef>
              <a:spcAft>
                <a:spcPts val="0"/>
              </a:spcAft>
              <a:buSzPts val="1200"/>
              <a:buNone/>
            </a:pPr>
            <a:r>
              <a:rPr lang="en-US" sz="1200"/>
              <a:t>Komputer tidak dapat memahami bahasa manusia.</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Komputer adalah mesin yang hanya mengenal 0 atau 1. Namun, karena manusia tidak dapat menulis kode sumber hanya dengan 0 dan 1, kita akhirnya memprogram dalam bahasa yang dapat dimengerti oleh manusia.</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Namun, kode sumber ini harus dimengerti oleh komputer agar dapat dieksekusi.</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Kode yang diubah menjadi sesuatu yang dapat dimengerti oleh komputer disebut kode mesin.</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Komputer akan menjalankan kode mesin ini.</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b="1"/>
              <a:t>&lt;&lt; Compile &gt;&gt;</a:t>
            </a:r>
            <a:endParaRPr/>
          </a:p>
          <a:p>
            <a:pPr marL="0" lvl="0" indent="0" algn="l" rtl="0">
              <a:spcBef>
                <a:spcPts val="0"/>
              </a:spcBef>
              <a:spcAft>
                <a:spcPts val="0"/>
              </a:spcAft>
              <a:buSzPts val="1200"/>
              <a:buNone/>
            </a:pPr>
            <a:r>
              <a:rPr lang="en-US" sz="1200"/>
              <a:t>Ini adalah proses mengubah Source Code menjadi kode mesin.</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Setelah seorang programmer menulis kode sumber, kode tersebut harus melalui proses yang disebut kompilasi untuk membuat kode mesin.</a:t>
            </a:r>
            <a:endParaRPr/>
          </a:p>
          <a:p>
            <a:pPr marL="0" lvl="0" indent="0" algn="l" rtl="0">
              <a:spcBef>
                <a:spcPts val="0"/>
              </a:spcBef>
              <a:spcAft>
                <a:spcPts val="0"/>
              </a:spcAft>
              <a:buSzPts val="1200"/>
              <a:buNone/>
            </a:pPr>
            <a:endParaRPr sz="1200"/>
          </a:p>
          <a:p>
            <a:pPr marL="0" lvl="0" indent="0" algn="l" rtl="0">
              <a:spcBef>
                <a:spcPts val="0"/>
              </a:spcBef>
              <a:spcAft>
                <a:spcPts val="0"/>
              </a:spcAft>
              <a:buSzPts val="1200"/>
              <a:buNone/>
            </a:pPr>
            <a:r>
              <a:rPr lang="en-US" sz="1200"/>
              <a:t>Ini adalah bagian penting dari proses pemrograman karena program tidak dapat dieksekusi tanpa kode mesin ini.</a:t>
            </a:r>
            <a:endParaRPr/>
          </a:p>
        </p:txBody>
      </p:sp>
      <p:sp>
        <p:nvSpPr>
          <p:cNvPr id="135" name="Google Shape;135;p9: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018C700F-BC0D-1F18-C3DF-DF6D1CE43124}"/>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슬라이드 노트 개체 틀 2">
            <a:extLst>
              <a:ext uri="{FF2B5EF4-FFF2-40B4-BE49-F238E27FC236}">
                <a16:creationId xmlns:a16="http://schemas.microsoft.com/office/drawing/2014/main" id="{8E6BDBF8-CA40-AA11-2F10-FC37F16833F2}"/>
              </a:ext>
            </a:extLst>
          </p:cNvPr>
          <p:cNvSpPr>
            <a:spLocks noGrp="1"/>
          </p:cNvSpPr>
          <p:nvPr>
            <p:ph type="body" idx="1"/>
          </p:nvPr>
        </p:nvSpPr>
        <p:spPr bwMode="auto"/>
        <p:txBody>
          <a:bodyPr wrap="square" numCol="1" anchor="t" anchorCtr="0" compatLnSpc="1">
            <a:prstTxWarp prst="textNoShape">
              <a:avLst/>
            </a:prstTxWarp>
          </a:bodyPr>
          <a:lstStyle/>
          <a:p>
            <a:pPr>
              <a:lnSpc>
                <a:spcPct val="107000"/>
              </a:lnSpc>
              <a:spcAft>
                <a:spcPts val="800"/>
              </a:spcAft>
              <a:defRPr/>
            </a:pPr>
            <a:r>
              <a:rPr lang="en-ID" kern="100">
                <a:latin typeface="Calibri" panose="020F0502020204030204" pitchFamily="34" charset="0"/>
                <a:ea typeface="Malgun Gothic" panose="020B0503020000020004" pitchFamily="34" charset="-127"/>
                <a:cs typeface="Times New Roman" panose="02020603050405020304" pitchFamily="18" charset="0"/>
              </a:rPr>
              <a:t>Kita </a:t>
            </a:r>
            <a:r>
              <a:rPr lang="en-ID" kern="100" err="1">
                <a:latin typeface="Calibri" panose="020F0502020204030204" pitchFamily="34" charset="0"/>
                <a:ea typeface="Malgun Gothic" panose="020B0503020000020004" pitchFamily="34" charset="-127"/>
                <a:cs typeface="Times New Roman" panose="02020603050405020304" pitchFamily="18" charset="0"/>
              </a:rPr>
              <a:t>akan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menulis</a:t>
            </a:r>
            <a:r>
              <a:rPr lang="en-ID" kern="100">
                <a:latin typeface="Calibri" panose="020F0502020204030204" pitchFamily="34" charset="0"/>
                <a:ea typeface="Malgun Gothic" panose="020B0503020000020004" pitchFamily="34" charset="-127"/>
                <a:cs typeface="Times New Roman" panose="02020603050405020304" pitchFamily="18" charset="0"/>
              </a:rPr>
              <a:t> program </a:t>
            </a:r>
            <a:r>
              <a:rPr lang="en-ID" kern="100" err="1">
                <a:latin typeface="Calibri" panose="020F0502020204030204" pitchFamily="34" charset="0"/>
                <a:ea typeface="Malgun Gothic" panose="020B0503020000020004" pitchFamily="34" charset="-127"/>
                <a:cs typeface="Times New Roman" panose="02020603050405020304" pitchFamily="18" charset="0"/>
              </a:rPr>
              <a:t>dalam</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bahasa</a:t>
            </a:r>
            <a:r>
              <a:rPr lang="en-ID" kern="100">
                <a:latin typeface="Calibri" panose="020F0502020204030204" pitchFamily="34" charset="0"/>
                <a:ea typeface="Malgun Gothic" panose="020B0503020000020004" pitchFamily="34" charset="-127"/>
                <a:cs typeface="Times New Roman" panose="02020603050405020304" pitchFamily="18" charset="0"/>
              </a:rPr>
              <a:t> yang </a:t>
            </a:r>
            <a:r>
              <a:rPr lang="en-ID" kern="100" err="1">
                <a:latin typeface="Calibri" panose="020F0502020204030204" pitchFamily="34" charset="0"/>
                <a:ea typeface="Malgun Gothic" panose="020B0503020000020004" pitchFamily="34" charset="-127"/>
                <a:cs typeface="Times New Roman" panose="02020603050405020304" pitchFamily="18" charset="0"/>
              </a:rPr>
              <a:t>disebut</a:t>
            </a:r>
            <a:r>
              <a:rPr lang="en-ID" kern="100">
                <a:latin typeface="Calibri" panose="020F0502020204030204" pitchFamily="34" charset="0"/>
                <a:ea typeface="Malgun Gothic" panose="020B0503020000020004" pitchFamily="34" charset="-127"/>
                <a:cs typeface="Times New Roman" panose="02020603050405020304" pitchFamily="18" charset="0"/>
              </a:rPr>
              <a:t> Java. Jadi, </a:t>
            </a:r>
            <a:r>
              <a:rPr lang="en-ID" kern="100" err="1">
                <a:latin typeface="Calibri" panose="020F0502020204030204" pitchFamily="34" charset="0"/>
                <a:ea typeface="Malgun Gothic" panose="020B0503020000020004" pitchFamily="34" charset="-127"/>
                <a:cs typeface="Times New Roman" panose="02020603050405020304" pitchFamily="18" charset="0"/>
              </a:rPr>
              <a:t>bagaimana</a:t>
            </a:r>
            <a:r>
              <a:rPr lang="en-ID" kern="100">
                <a:latin typeface="Calibri" panose="020F0502020204030204" pitchFamily="34" charset="0"/>
                <a:ea typeface="Malgun Gothic" panose="020B0503020000020004" pitchFamily="34" charset="-127"/>
                <a:cs typeface="Times New Roman" panose="02020603050405020304" pitchFamily="18" charset="0"/>
              </a:rPr>
              <a:t> program Java </a:t>
            </a:r>
            <a:r>
              <a:rPr lang="en-ID" kern="100" err="1">
                <a:latin typeface="Calibri" panose="020F0502020204030204" pitchFamily="34" charset="0"/>
                <a:ea typeface="Malgun Gothic" panose="020B0503020000020004" pitchFamily="34" charset="-127"/>
                <a:cs typeface="Times New Roman" panose="02020603050405020304" pitchFamily="18" charset="0"/>
              </a:rPr>
              <a:t>berjalan</a:t>
            </a:r>
            <a:r>
              <a:rPr lang="en-ID" kern="100">
                <a:latin typeface="Calibri" panose="020F0502020204030204" pitchFamily="34" charset="0"/>
                <a:ea typeface="Malgun Gothic" panose="020B0503020000020004" pitchFamily="34" charset="-127"/>
                <a:cs typeface="Times New Roman" panose="02020603050405020304" pitchFamily="18" charset="0"/>
              </a:rPr>
              <a:t>? Mari </a:t>
            </a:r>
            <a:r>
              <a:rPr lang="en-ID" kern="100" err="1">
                <a:latin typeface="Calibri" panose="020F0502020204030204" pitchFamily="34" charset="0"/>
                <a:ea typeface="Malgun Gothic" panose="020B0503020000020004" pitchFamily="34" charset="-127"/>
                <a:cs typeface="Times New Roman" panose="02020603050405020304" pitchFamily="18" charset="0"/>
              </a:rPr>
              <a:t>kita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lihat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cara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kerjanya</a:t>
            </a:r>
            <a:r>
              <a:rPr lang="en-ID" kern="100">
                <a:latin typeface="Calibri" panose="020F0502020204030204" pitchFamily="34" charset="0"/>
                <a:ea typeface="Malgun Gothic" panose="020B0503020000020004" pitchFamily="34" charset="-127"/>
                <a:cs typeface="Times New Roman" panose="02020603050405020304" pitchFamily="18" charset="0"/>
              </a:rPr>
              <a:t>.</a:t>
            </a:r>
          </a:p>
          <a:p>
            <a:pPr>
              <a:lnSpc>
                <a:spcPct val="107000"/>
              </a:lnSpc>
              <a:spcAft>
                <a:spcPts val="800"/>
              </a:spcAft>
              <a:defRPr/>
            </a:pPr>
            <a:endParaRPr lang="en-ID"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kern="100" err="1">
                <a:latin typeface="Calibri" panose="020F0502020204030204" pitchFamily="34" charset="0"/>
                <a:ea typeface="Malgun Gothic" panose="020B0503020000020004" pitchFamily="34" charset="-127"/>
                <a:cs typeface="Times New Roman" panose="02020603050405020304" pitchFamily="18" charset="0"/>
              </a:rPr>
              <a:t>Pertama</a:t>
            </a:r>
            <a:r>
              <a:rPr lang="en-US" kern="100">
                <a:latin typeface="Calibri" panose="020F0502020204030204" pitchFamily="34" charset="0"/>
                <a:ea typeface="Malgun Gothic" panose="020B0503020000020004" pitchFamily="34" charset="-127"/>
                <a:cs typeface="Times New Roman" panose="02020603050405020304" pitchFamily="18" charset="0"/>
              </a:rPr>
              <a:t>, Anda </a:t>
            </a:r>
            <a:r>
              <a:rPr lang="en-US" kern="100" err="1">
                <a:latin typeface="Calibri" panose="020F0502020204030204" pitchFamily="34" charset="0"/>
                <a:ea typeface="Malgun Gothic" panose="020B0503020000020004" pitchFamily="34" charset="-127"/>
                <a:cs typeface="Times New Roman" panose="02020603050405020304" pitchFamily="18" charset="0"/>
              </a:rPr>
              <a:t>perlu</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menulis</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kode</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sumber</a:t>
            </a:r>
            <a:r>
              <a:rPr lang="en-US" kern="100">
                <a:latin typeface="Calibri" panose="020F0502020204030204" pitchFamily="34" charset="0"/>
                <a:ea typeface="Malgun Gothic" panose="020B0503020000020004" pitchFamily="34" charset="-127"/>
                <a:cs typeface="Times New Roman" panose="02020603050405020304" pitchFamily="18" charset="0"/>
              </a:rPr>
              <a:t> Java. Anda </a:t>
            </a:r>
            <a:r>
              <a:rPr lang="en-US" kern="100" err="1">
                <a:latin typeface="Calibri" panose="020F0502020204030204" pitchFamily="34" charset="0"/>
                <a:ea typeface="Malgun Gothic" panose="020B0503020000020004" pitchFamily="34" charset="-127"/>
                <a:cs typeface="Times New Roman" panose="02020603050405020304" pitchFamily="18" charset="0"/>
              </a:rPr>
              <a:t>akan</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menulis</a:t>
            </a:r>
            <a:r>
              <a:rPr lang="en-US" kern="100">
                <a:latin typeface="Calibri" panose="020F0502020204030204" pitchFamily="34" charset="0"/>
                <a:ea typeface="Malgun Gothic" panose="020B0503020000020004" pitchFamily="34" charset="-127"/>
                <a:cs typeface="Times New Roman" panose="02020603050405020304" pitchFamily="18" charset="0"/>
              </a:rPr>
              <a:t> program Anda </a:t>
            </a:r>
            <a:r>
              <a:rPr lang="en-US" kern="100" err="1">
                <a:latin typeface="Calibri" panose="020F0502020204030204" pitchFamily="34" charset="0"/>
                <a:ea typeface="Malgun Gothic" panose="020B0503020000020004" pitchFamily="34" charset="-127"/>
                <a:cs typeface="Times New Roman" panose="02020603050405020304" pitchFamily="18" charset="0"/>
              </a:rPr>
              <a:t>dengan</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mengikuti</a:t>
            </a:r>
            <a:r>
              <a:rPr lang="en-US" kern="100">
                <a:latin typeface="Calibri" panose="020F0502020204030204" pitchFamily="34" charset="0"/>
                <a:ea typeface="Malgun Gothic" panose="020B0503020000020004" pitchFamily="34" charset="-127"/>
                <a:cs typeface="Times New Roman" panose="02020603050405020304" pitchFamily="18" charset="0"/>
              </a:rPr>
              <a:t> tata </a:t>
            </a:r>
            <a:r>
              <a:rPr lang="en-US" kern="100" err="1">
                <a:latin typeface="Calibri" panose="020F0502020204030204" pitchFamily="34" charset="0"/>
                <a:ea typeface="Malgun Gothic" panose="020B0503020000020004" pitchFamily="34" charset="-127"/>
                <a:cs typeface="Times New Roman" panose="02020603050405020304" pitchFamily="18" charset="0"/>
              </a:rPr>
              <a:t>bahasa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bahasa</a:t>
            </a:r>
            <a:r>
              <a:rPr lang="en-US" kern="100">
                <a:latin typeface="Calibri" panose="020F0502020204030204" pitchFamily="34" charset="0"/>
                <a:ea typeface="Malgun Gothic" panose="020B0503020000020004" pitchFamily="34" charset="-127"/>
                <a:cs typeface="Times New Roman" panose="02020603050405020304" pitchFamily="18" charset="0"/>
              </a:rPr>
              <a:t> Java yang </a:t>
            </a:r>
            <a:r>
              <a:rPr lang="en-US" kern="100" err="1">
                <a:latin typeface="Calibri" panose="020F0502020204030204" pitchFamily="34" charset="0"/>
                <a:ea typeface="Malgun Gothic" panose="020B0503020000020004" pitchFamily="34" charset="-127"/>
                <a:cs typeface="Times New Roman" panose="02020603050405020304" pitchFamily="18" charset="0"/>
              </a:rPr>
              <a:t>akan</a:t>
            </a:r>
            <a:r>
              <a:rPr lang="en-US" kern="100">
                <a:latin typeface="Calibri" panose="020F0502020204030204" pitchFamily="34" charset="0"/>
                <a:ea typeface="Malgun Gothic" panose="020B0503020000020004" pitchFamily="34" charset="-127"/>
                <a:cs typeface="Times New Roman" panose="02020603050405020304" pitchFamily="18" charset="0"/>
              </a:rPr>
              <a:t> Anda </a:t>
            </a:r>
            <a:r>
              <a:rPr lang="en-US" kern="100" err="1">
                <a:latin typeface="Calibri" panose="020F0502020204030204" pitchFamily="34" charset="0"/>
                <a:ea typeface="Malgun Gothic" panose="020B0503020000020004" pitchFamily="34" charset="-127"/>
                <a:cs typeface="Times New Roman" panose="02020603050405020304" pitchFamily="18" charset="0"/>
              </a:rPr>
              <a:t>pelajari</a:t>
            </a:r>
            <a:r>
              <a:rPr lang="en-US" kern="100">
                <a:latin typeface="Calibri" panose="020F0502020204030204" pitchFamily="34" charset="0"/>
                <a:ea typeface="Malgun Gothic" panose="020B0503020000020004" pitchFamily="34" charset="-127"/>
                <a:cs typeface="Times New Roman" panose="02020603050405020304" pitchFamily="18" charset="0"/>
              </a:rPr>
              <a:t>. Sama </a:t>
            </a:r>
            <a:r>
              <a:rPr lang="en-US" kern="100" err="1">
                <a:latin typeface="Calibri" panose="020F0502020204030204" pitchFamily="34" charset="0"/>
                <a:ea typeface="Malgun Gothic" panose="020B0503020000020004" pitchFamily="34" charset="-127"/>
                <a:cs typeface="Times New Roman" panose="02020603050405020304" pitchFamily="18" charset="0"/>
              </a:rPr>
              <a:t>seperti</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ketika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kita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pergi</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ke</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Jepang</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kita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harus</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berbicara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bahasa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Jepang</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untuk</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dimengerti</a:t>
            </a:r>
            <a:r>
              <a:rPr lang="en-US" kern="100">
                <a:latin typeface="Calibri" panose="020F0502020204030204" pitchFamily="34" charset="0"/>
                <a:ea typeface="Malgun Gothic" panose="020B0503020000020004" pitchFamily="34" charset="-127"/>
                <a:cs typeface="Times New Roman" panose="02020603050405020304" pitchFamily="18" charset="0"/>
              </a:rPr>
              <a:t>, dan </a:t>
            </a:r>
            <a:r>
              <a:rPr lang="en-US" kern="100" err="1">
                <a:latin typeface="Calibri" panose="020F0502020204030204" pitchFamily="34" charset="0"/>
                <a:ea typeface="Malgun Gothic" panose="020B0503020000020004" pitchFamily="34" charset="-127"/>
                <a:cs typeface="Times New Roman" panose="02020603050405020304" pitchFamily="18" charset="0"/>
              </a:rPr>
              <a:t>ketika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kita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pergi</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ke</a:t>
            </a:r>
            <a:r>
              <a:rPr lang="en-US" kern="100">
                <a:latin typeface="Calibri" panose="020F0502020204030204" pitchFamily="34" charset="0"/>
                <a:ea typeface="Malgun Gothic" panose="020B0503020000020004" pitchFamily="34" charset="-127"/>
                <a:cs typeface="Times New Roman" panose="02020603050405020304" pitchFamily="18" charset="0"/>
              </a:rPr>
              <a:t> Amerika </a:t>
            </a:r>
            <a:r>
              <a:rPr lang="en-US" kern="100" err="1">
                <a:latin typeface="Calibri" panose="020F0502020204030204" pitchFamily="34" charset="0"/>
                <a:ea typeface="Malgun Gothic" panose="020B0503020000020004" pitchFamily="34" charset="-127"/>
                <a:cs typeface="Times New Roman" panose="02020603050405020304" pitchFamily="18" charset="0"/>
              </a:rPr>
              <a:t>Serikat</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kita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harus</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berbicara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bahasa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Inggris</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untuk</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dimengerti</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kita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harus</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berbicara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dengan</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komputer</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dalam</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bahasa</a:t>
            </a:r>
            <a:r>
              <a:rPr lang="en-US" kern="100">
                <a:latin typeface="Calibri" panose="020F0502020204030204" pitchFamily="34" charset="0"/>
                <a:ea typeface="Malgun Gothic" panose="020B0503020000020004" pitchFamily="34" charset="-127"/>
                <a:cs typeface="Times New Roman" panose="02020603050405020304" pitchFamily="18" charset="0"/>
              </a:rPr>
              <a:t> yang </a:t>
            </a:r>
            <a:r>
              <a:rPr lang="en-US" kern="100" err="1">
                <a:latin typeface="Calibri" panose="020F0502020204030204" pitchFamily="34" charset="0"/>
                <a:ea typeface="Malgun Gothic" panose="020B0503020000020004" pitchFamily="34" charset="-127"/>
                <a:cs typeface="Times New Roman" panose="02020603050405020304" pitchFamily="18" charset="0"/>
              </a:rPr>
              <a:t>dimengerti</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komputer</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Dalam</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prosesnya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kita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akan</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mempelajari</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bahasa</a:t>
            </a:r>
            <a:r>
              <a:rPr lang="en-US" kern="100">
                <a:latin typeface="Calibri" panose="020F0502020204030204" pitchFamily="34" charset="0"/>
                <a:ea typeface="Malgun Gothic" panose="020B0503020000020004" pitchFamily="34" charset="-127"/>
                <a:cs typeface="Times New Roman" panose="02020603050405020304" pitchFamily="18" charset="0"/>
              </a:rPr>
              <a:t> yang </a:t>
            </a:r>
            <a:r>
              <a:rPr lang="en-US" kern="100" err="1">
                <a:latin typeface="Calibri" panose="020F0502020204030204" pitchFamily="34" charset="0"/>
                <a:ea typeface="Malgun Gothic" panose="020B0503020000020004" pitchFamily="34" charset="-127"/>
                <a:cs typeface="Times New Roman" panose="02020603050405020304" pitchFamily="18" charset="0"/>
              </a:rPr>
              <a:t>disebut</a:t>
            </a:r>
            <a:r>
              <a:rPr lang="en-US" kern="100">
                <a:latin typeface="Calibri" panose="020F0502020204030204" pitchFamily="34" charset="0"/>
                <a:ea typeface="Malgun Gothic" panose="020B0503020000020004" pitchFamily="34" charset="-127"/>
                <a:cs typeface="Times New Roman" panose="02020603050405020304" pitchFamily="18" charset="0"/>
              </a:rPr>
              <a:t> Java, dan </a:t>
            </a:r>
            <a:r>
              <a:rPr lang="en-US" kern="100" err="1">
                <a:latin typeface="Calibri" panose="020F0502020204030204" pitchFamily="34" charset="0"/>
                <a:ea typeface="Malgun Gothic" panose="020B0503020000020004" pitchFamily="34" charset="-127"/>
                <a:cs typeface="Times New Roman" panose="02020603050405020304" pitchFamily="18" charset="0"/>
              </a:rPr>
              <a:t>karena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ini</a:t>
            </a:r>
            <a:r>
              <a:rPr lang="en-US" kern="100">
                <a:latin typeface="Calibri" panose="020F0502020204030204" pitchFamily="34" charset="0"/>
                <a:ea typeface="Malgun Gothic" panose="020B0503020000020004" pitchFamily="34" charset="-127"/>
                <a:cs typeface="Times New Roman" panose="02020603050405020304" pitchFamily="18" charset="0"/>
              </a:rPr>
              <a:t> juga </a:t>
            </a:r>
            <a:r>
              <a:rPr lang="en-US" kern="100" err="1">
                <a:latin typeface="Calibri" panose="020F0502020204030204" pitchFamily="34" charset="0"/>
                <a:ea typeface="Malgun Gothic" panose="020B0503020000020004" pitchFamily="34" charset="-127"/>
                <a:cs typeface="Times New Roman" panose="02020603050405020304" pitchFamily="18" charset="0"/>
              </a:rPr>
              <a:t>merupakan</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bahasa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kita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harus</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mengikuti</a:t>
            </a:r>
            <a:r>
              <a:rPr lang="en-US" kern="100">
                <a:latin typeface="Calibri" panose="020F0502020204030204" pitchFamily="34" charset="0"/>
                <a:ea typeface="Malgun Gothic" panose="020B0503020000020004" pitchFamily="34" charset="-127"/>
                <a:cs typeface="Times New Roman" panose="02020603050405020304" pitchFamily="18" charset="0"/>
              </a:rPr>
              <a:t> tata </a:t>
            </a:r>
            <a:r>
              <a:rPr lang="en-US" kern="100" err="1">
                <a:latin typeface="Calibri" panose="020F0502020204030204" pitchFamily="34" charset="0"/>
                <a:ea typeface="Malgun Gothic" panose="020B0503020000020004" pitchFamily="34" charset="-127"/>
                <a:cs typeface="Times New Roman" panose="02020603050405020304" pitchFamily="18" charset="0"/>
              </a:rPr>
              <a:t>bahasanya</a:t>
            </a:r>
            <a:r>
              <a:rPr lang="en-US" kern="100">
                <a:latin typeface="Calibri" panose="020F0502020204030204" pitchFamily="34" charset="0"/>
                <a:ea typeface="Malgun Gothic" panose="020B0503020000020004" pitchFamily="34" charset="-127"/>
                <a:cs typeface="Times New Roman" panose="02020603050405020304" pitchFamily="18" charset="0"/>
              </a:rPr>
              <a:t> agar </a:t>
            </a:r>
            <a:r>
              <a:rPr lang="en-US" kern="100" err="1">
                <a:latin typeface="Calibri" panose="020F0502020204030204" pitchFamily="34" charset="0"/>
                <a:ea typeface="Malgun Gothic" panose="020B0503020000020004" pitchFamily="34" charset="-127"/>
                <a:cs typeface="Times New Roman" panose="02020603050405020304" pitchFamily="18" charset="0"/>
              </a:rPr>
              <a:t>komputer</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dapat</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memahaminya</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dengan</a:t>
            </a:r>
            <a:r>
              <a:rPr lang="en-US" kern="100">
                <a:latin typeface="Calibri" panose="020F0502020204030204" pitchFamily="34" charset="0"/>
                <a:ea typeface="Malgun Gothic" panose="020B0503020000020004" pitchFamily="34" charset="-127"/>
                <a:cs typeface="Times New Roman" panose="02020603050405020304" pitchFamily="18" charset="0"/>
              </a:rPr>
              <a:t> </a:t>
            </a:r>
            <a:r>
              <a:rPr lang="en-US" kern="100" err="1">
                <a:latin typeface="Calibri" panose="020F0502020204030204" pitchFamily="34" charset="0"/>
                <a:ea typeface="Malgun Gothic" panose="020B0503020000020004" pitchFamily="34" charset="-127"/>
                <a:cs typeface="Times New Roman" panose="02020603050405020304" pitchFamily="18" charset="0"/>
              </a:rPr>
              <a:t>baik</a:t>
            </a:r>
            <a:r>
              <a:rPr lang="en-US" kern="100">
                <a:latin typeface="Calibri" panose="020F0502020204030204" pitchFamily="34" charset="0"/>
                <a:ea typeface="Malgun Gothic" panose="020B0503020000020004" pitchFamily="34" charset="-127"/>
                <a:cs typeface="Times New Roman" panose="02020603050405020304" pitchFamily="18" charset="0"/>
              </a:rPr>
              <a:t>.</a:t>
            </a:r>
            <a:endParaRPr lang="en-ID" kern="100">
              <a:latin typeface="Calibri" panose="020F0502020204030204" pitchFamily="34" charset="0"/>
              <a:ea typeface="Malgun Gothic" panose="020B0503020000020004" pitchFamily="34" charset="-127"/>
              <a:cs typeface="Times New Roman" panose="02020603050405020304" pitchFamily="18" charset="0"/>
            </a:endParaRPr>
          </a:p>
          <a:p>
            <a:pPr>
              <a:defRPr/>
            </a:pPr>
            <a:endParaRPr lang="en-ID" kern="100">
              <a:latin typeface="Calibri" panose="020F0502020204030204" pitchFamily="34" charset="0"/>
              <a:ea typeface="Malgun Gothic" panose="020B0503020000020004" pitchFamily="34" charset="-127"/>
              <a:cs typeface="Times New Roman" panose="02020603050405020304" pitchFamily="18" charset="0"/>
            </a:endParaRPr>
          </a:p>
          <a:p>
            <a:pPr>
              <a:defRPr/>
            </a:pPr>
            <a:r>
              <a:rPr lang="en-ID" kern="100" err="1">
                <a:latin typeface="Calibri" panose="020F0502020204030204" pitchFamily="34" charset="0"/>
                <a:ea typeface="Malgun Gothic" panose="020B0503020000020004" pitchFamily="34" charset="-127"/>
                <a:cs typeface="Times New Roman" panose="02020603050405020304" pitchFamily="18" charset="0"/>
              </a:rPr>
              <a:t>Setelah</a:t>
            </a:r>
            <a:r>
              <a:rPr lang="en-ID" kern="100">
                <a:latin typeface="Calibri" panose="020F0502020204030204" pitchFamily="34" charset="0"/>
                <a:ea typeface="Malgun Gothic" panose="020B0503020000020004" pitchFamily="34" charset="-127"/>
                <a:cs typeface="Times New Roman" panose="02020603050405020304" pitchFamily="18" charset="0"/>
              </a:rPr>
              <a:t> Anda </a:t>
            </a:r>
            <a:r>
              <a:rPr lang="en-ID" kern="100" err="1">
                <a:latin typeface="Calibri" panose="020F0502020204030204" pitchFamily="34" charset="0"/>
                <a:ea typeface="Malgun Gothic" panose="020B0503020000020004" pitchFamily="34" charset="-127"/>
                <a:cs typeface="Times New Roman" panose="02020603050405020304" pitchFamily="18" charset="0"/>
              </a:rPr>
              <a:t>menulis</a:t>
            </a:r>
            <a:r>
              <a:rPr lang="en-ID" kern="100">
                <a:latin typeface="Calibri" panose="020F0502020204030204" pitchFamily="34" charset="0"/>
                <a:ea typeface="Malgun Gothic" panose="020B0503020000020004" pitchFamily="34" charset="-127"/>
                <a:cs typeface="Times New Roman" panose="02020603050405020304" pitchFamily="18" charset="0"/>
              </a:rPr>
              <a:t> Source Code, </a:t>
            </a:r>
            <a:r>
              <a:rPr lang="en-ID" kern="100" err="1">
                <a:latin typeface="Calibri" panose="020F0502020204030204" pitchFamily="34" charset="0"/>
                <a:ea typeface="Malgun Gothic" panose="020B0503020000020004" pitchFamily="34" charset="-127"/>
                <a:cs typeface="Times New Roman" panose="02020603050405020304" pitchFamily="18" charset="0"/>
              </a:rPr>
              <a:t>apa</a:t>
            </a:r>
            <a:r>
              <a:rPr lang="en-ID" kern="100">
                <a:latin typeface="Calibri" panose="020F0502020204030204" pitchFamily="34" charset="0"/>
                <a:ea typeface="Malgun Gothic" panose="020B0503020000020004" pitchFamily="34" charset="-127"/>
                <a:cs typeface="Times New Roman" panose="02020603050405020304" pitchFamily="18" charset="0"/>
              </a:rPr>
              <a:t> yang Anda </a:t>
            </a:r>
            <a:r>
              <a:rPr lang="en-ID" kern="100" err="1">
                <a:latin typeface="Calibri" panose="020F0502020204030204" pitchFamily="34" charset="0"/>
                <a:ea typeface="Malgun Gothic" panose="020B0503020000020004" pitchFamily="34" charset="-127"/>
                <a:cs typeface="Times New Roman" panose="02020603050405020304" pitchFamily="18" charset="0"/>
              </a:rPr>
              <a:t>lakukan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dengan</a:t>
            </a:r>
            <a:r>
              <a:rPr lang="en-ID" kern="100">
                <a:latin typeface="Calibri" panose="020F0502020204030204" pitchFamily="34" charset="0"/>
                <a:ea typeface="Malgun Gothic" panose="020B0503020000020004" pitchFamily="34" charset="-127"/>
                <a:cs typeface="Times New Roman" panose="02020603050405020304" pitchFamily="18" charset="0"/>
              </a:rPr>
              <a:t> Source Code </a:t>
            </a:r>
            <a:r>
              <a:rPr lang="en-ID" kern="100" err="1">
                <a:latin typeface="Calibri" panose="020F0502020204030204" pitchFamily="34" charset="0"/>
                <a:ea typeface="Malgun Gothic" panose="020B0503020000020004" pitchFamily="34" charset="-127"/>
                <a:cs typeface="Times New Roman" panose="02020603050405020304" pitchFamily="18" charset="0"/>
              </a:rPr>
              <a:t>tersebut</a:t>
            </a:r>
            <a:r>
              <a:rPr lang="en-ID" kern="100">
                <a:latin typeface="Calibri" panose="020F0502020204030204" pitchFamily="34" charset="0"/>
                <a:ea typeface="Malgun Gothic" panose="020B0503020000020004" pitchFamily="34" charset="-127"/>
                <a:cs typeface="Times New Roman" panose="02020603050405020304" pitchFamily="18" charset="0"/>
              </a:rPr>
              <a:t>? Anda </a:t>
            </a:r>
            <a:r>
              <a:rPr lang="en-ID" kern="100" err="1">
                <a:latin typeface="Calibri" panose="020F0502020204030204" pitchFamily="34" charset="0"/>
                <a:ea typeface="Malgun Gothic" panose="020B0503020000020004" pitchFamily="34" charset="-127"/>
                <a:cs typeface="Times New Roman" panose="02020603050405020304" pitchFamily="18" charset="0"/>
              </a:rPr>
              <a:t>akan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melalui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sebuah</a:t>
            </a:r>
            <a:r>
              <a:rPr lang="en-ID" kern="100">
                <a:latin typeface="Calibri" panose="020F0502020204030204" pitchFamily="34" charset="0"/>
                <a:ea typeface="Malgun Gothic" panose="020B0503020000020004" pitchFamily="34" charset="-127"/>
                <a:cs typeface="Times New Roman" panose="02020603050405020304" pitchFamily="18" charset="0"/>
              </a:rPr>
              <a:t> proses yang </a:t>
            </a:r>
            <a:r>
              <a:rPr lang="en-ID" kern="100" err="1">
                <a:latin typeface="Calibri" panose="020F0502020204030204" pitchFamily="34" charset="0"/>
                <a:ea typeface="Malgun Gothic" panose="020B0503020000020004" pitchFamily="34" charset="-127"/>
                <a:cs typeface="Times New Roman" panose="02020603050405020304" pitchFamily="18" charset="0"/>
              </a:rPr>
              <a:t>disebut</a:t>
            </a:r>
            <a:r>
              <a:rPr lang="en-ID" kern="100">
                <a:latin typeface="Calibri" panose="020F0502020204030204" pitchFamily="34" charset="0"/>
                <a:ea typeface="Malgun Gothic" panose="020B0503020000020004" pitchFamily="34" charset="-127"/>
                <a:cs typeface="Times New Roman" panose="02020603050405020304" pitchFamily="18" charset="0"/>
              </a:rPr>
              <a:t> "Compile". Anda </a:t>
            </a:r>
            <a:r>
              <a:rPr lang="en-ID" kern="100" err="1">
                <a:latin typeface="Calibri" panose="020F0502020204030204" pitchFamily="34" charset="0"/>
                <a:ea typeface="Malgun Gothic" panose="020B0503020000020004" pitchFamily="34" charset="-127"/>
                <a:cs typeface="Times New Roman" panose="02020603050405020304" pitchFamily="18" charset="0"/>
              </a:rPr>
              <a:t>telah</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menulis</a:t>
            </a:r>
            <a:r>
              <a:rPr lang="en-ID" kern="100">
                <a:latin typeface="Calibri" panose="020F0502020204030204" pitchFamily="34" charset="0"/>
                <a:ea typeface="Malgun Gothic" panose="020B0503020000020004" pitchFamily="34" charset="-127"/>
                <a:cs typeface="Times New Roman" panose="02020603050405020304" pitchFamily="18" charset="0"/>
              </a:rPr>
              <a:t> program Anda </a:t>
            </a:r>
            <a:r>
              <a:rPr lang="en-ID" kern="100" err="1">
                <a:latin typeface="Calibri" panose="020F0502020204030204" pitchFamily="34" charset="0"/>
                <a:ea typeface="Malgun Gothic" panose="020B0503020000020004" pitchFamily="34" charset="-127"/>
                <a:cs typeface="Times New Roman" panose="02020603050405020304" pitchFamily="18" charset="0"/>
              </a:rPr>
              <a:t>dalam</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bahasa</a:t>
            </a:r>
            <a:r>
              <a:rPr lang="en-ID" kern="100">
                <a:latin typeface="Calibri" panose="020F0502020204030204" pitchFamily="34" charset="0"/>
                <a:ea typeface="Malgun Gothic" panose="020B0503020000020004" pitchFamily="34" charset="-127"/>
                <a:cs typeface="Times New Roman" panose="02020603050405020304" pitchFamily="18" charset="0"/>
              </a:rPr>
              <a:t> yang </a:t>
            </a:r>
            <a:r>
              <a:rPr lang="en-ID" kern="100" err="1">
                <a:latin typeface="Calibri" panose="020F0502020204030204" pitchFamily="34" charset="0"/>
                <a:ea typeface="Malgun Gothic" panose="020B0503020000020004" pitchFamily="34" charset="-127"/>
                <a:cs typeface="Times New Roman" panose="02020603050405020304" pitchFamily="18" charset="0"/>
              </a:rPr>
              <a:t>disebut</a:t>
            </a:r>
            <a:r>
              <a:rPr lang="en-ID" kern="100">
                <a:latin typeface="Calibri" panose="020F0502020204030204" pitchFamily="34" charset="0"/>
                <a:ea typeface="Malgun Gothic" panose="020B0503020000020004" pitchFamily="34" charset="-127"/>
                <a:cs typeface="Times New Roman" panose="02020603050405020304" pitchFamily="18" charset="0"/>
              </a:rPr>
              <a:t> Java, </a:t>
            </a:r>
            <a:r>
              <a:rPr lang="en-ID" kern="100" err="1">
                <a:latin typeface="Calibri" panose="020F0502020204030204" pitchFamily="34" charset="0"/>
                <a:ea typeface="Malgun Gothic" panose="020B0503020000020004" pitchFamily="34" charset="-127"/>
                <a:cs typeface="Times New Roman" panose="02020603050405020304" pitchFamily="18" charset="0"/>
              </a:rPr>
              <a:t>tetapi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bahkan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bahasa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ini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tidak</a:t>
            </a:r>
            <a:r>
              <a:rPr lang="en-ID" kern="100">
                <a:latin typeface="Calibri" panose="020F0502020204030204" pitchFamily="34" charset="0"/>
                <a:ea typeface="Malgun Gothic" panose="020B0503020000020004" pitchFamily="34" charset="-127"/>
                <a:cs typeface="Times New Roman" panose="02020603050405020304" pitchFamily="18" charset="0"/>
              </a:rPr>
              <a:t> 100% </a:t>
            </a:r>
            <a:r>
              <a:rPr lang="en-ID" kern="100" err="1">
                <a:latin typeface="Calibri" panose="020F0502020204030204" pitchFamily="34" charset="0"/>
                <a:ea typeface="Malgun Gothic" panose="020B0503020000020004" pitchFamily="34" charset="-127"/>
                <a:cs typeface="Times New Roman" panose="02020603050405020304" pitchFamily="18" charset="0"/>
              </a:rPr>
              <a:t>dapat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dimengerti</a:t>
            </a:r>
            <a:r>
              <a:rPr lang="en-ID" kern="100">
                <a:latin typeface="Calibri" panose="020F0502020204030204" pitchFamily="34" charset="0"/>
                <a:ea typeface="Malgun Gothic" panose="020B0503020000020004" pitchFamily="34" charset="-127"/>
                <a:cs typeface="Times New Roman" panose="02020603050405020304" pitchFamily="18" charset="0"/>
              </a:rPr>
              <a:t> oleh </a:t>
            </a:r>
            <a:r>
              <a:rPr lang="en-ID" kern="100" err="1">
                <a:latin typeface="Calibri" panose="020F0502020204030204" pitchFamily="34" charset="0"/>
                <a:ea typeface="Malgun Gothic" panose="020B0503020000020004" pitchFamily="34" charset="-127"/>
                <a:cs typeface="Times New Roman" panose="02020603050405020304" pitchFamily="18" charset="0"/>
              </a:rPr>
              <a:t>komputer</a:t>
            </a:r>
            <a:r>
              <a:rPr lang="en-ID" kern="100">
                <a:latin typeface="Calibri" panose="020F0502020204030204" pitchFamily="34" charset="0"/>
                <a:ea typeface="Malgun Gothic" panose="020B0503020000020004" pitchFamily="34" charset="-127"/>
                <a:cs typeface="Times New Roman" panose="02020603050405020304" pitchFamily="18" charset="0"/>
              </a:rPr>
              <a:t> (pada </a:t>
            </a:r>
            <a:r>
              <a:rPr lang="en-ID" kern="100" err="1">
                <a:latin typeface="Calibri" panose="020F0502020204030204" pitchFamily="34" charset="0"/>
                <a:ea typeface="Malgun Gothic" panose="020B0503020000020004" pitchFamily="34" charset="-127"/>
                <a:cs typeface="Times New Roman" panose="02020603050405020304" pitchFamily="18" charset="0"/>
              </a:rPr>
              <a:t>kenyataannya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komputer</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hanya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tahu</a:t>
            </a:r>
            <a:r>
              <a:rPr lang="en-ID" kern="100">
                <a:latin typeface="Calibri" panose="020F0502020204030204" pitchFamily="34" charset="0"/>
                <a:ea typeface="Malgun Gothic" panose="020B0503020000020004" pitchFamily="34" charset="-127"/>
                <a:cs typeface="Times New Roman" panose="02020603050405020304" pitchFamily="18" charset="0"/>
              </a:rPr>
              <a:t> 0 dan 1). Jadi, Anda </a:t>
            </a:r>
            <a:r>
              <a:rPr lang="en-ID" kern="100" err="1">
                <a:latin typeface="Calibri" panose="020F0502020204030204" pitchFamily="34" charset="0"/>
                <a:ea typeface="Malgun Gothic" panose="020B0503020000020004" pitchFamily="34" charset="-127"/>
                <a:cs typeface="Times New Roman" panose="02020603050405020304" pitchFamily="18" charset="0"/>
              </a:rPr>
              <a:t>perlu</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mengubahnya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menjadi</a:t>
            </a:r>
            <a:r>
              <a:rPr lang="en-ID" kern="100">
                <a:latin typeface="Calibri" panose="020F0502020204030204" pitchFamily="34" charset="0"/>
                <a:ea typeface="Malgun Gothic" panose="020B0503020000020004" pitchFamily="34" charset="-127"/>
                <a:cs typeface="Times New Roman" panose="02020603050405020304" pitchFamily="18" charset="0"/>
              </a:rPr>
              <a:t> file yang </a:t>
            </a:r>
            <a:r>
              <a:rPr lang="en-ID" kern="100" err="1">
                <a:latin typeface="Calibri" panose="020F0502020204030204" pitchFamily="34" charset="0"/>
                <a:ea typeface="Malgun Gothic" panose="020B0503020000020004" pitchFamily="34" charset="-127"/>
                <a:cs typeface="Times New Roman" panose="02020603050405020304" pitchFamily="18" charset="0"/>
              </a:rPr>
              <a:t>dapat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dijalankan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komputer</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melalui</a:t>
            </a:r>
            <a:r>
              <a:rPr lang="en-ID" kern="100">
                <a:latin typeface="Calibri" panose="020F0502020204030204" pitchFamily="34" charset="0"/>
                <a:ea typeface="Malgun Gothic" panose="020B0503020000020004" pitchFamily="34" charset="-127"/>
                <a:cs typeface="Times New Roman" panose="02020603050405020304" pitchFamily="18" charset="0"/>
              </a:rPr>
              <a:t> proses yang </a:t>
            </a:r>
            <a:r>
              <a:rPr lang="en-ID" kern="100" err="1">
                <a:latin typeface="Calibri" panose="020F0502020204030204" pitchFamily="34" charset="0"/>
                <a:ea typeface="Malgun Gothic" panose="020B0503020000020004" pitchFamily="34" charset="-127"/>
                <a:cs typeface="Times New Roman" panose="02020603050405020304" pitchFamily="18" charset="0"/>
              </a:rPr>
              <a:t>disebut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kompilasi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Sebuah</a:t>
            </a:r>
            <a:r>
              <a:rPr lang="en-ID" kern="100">
                <a:latin typeface="Calibri" panose="020F0502020204030204" pitchFamily="34" charset="0"/>
                <a:ea typeface="Malgun Gothic" panose="020B0503020000020004" pitchFamily="34" charset="-127"/>
                <a:cs typeface="Times New Roman" panose="02020603050405020304" pitchFamily="18" charset="0"/>
              </a:rPr>
              <a:t> "compiler" yang </a:t>
            </a:r>
            <a:r>
              <a:rPr lang="en-ID" kern="100" err="1">
                <a:latin typeface="Calibri" panose="020F0502020204030204" pitchFamily="34" charset="0"/>
                <a:ea typeface="Malgun Gothic" panose="020B0503020000020004" pitchFamily="34" charset="-127"/>
                <a:cs typeface="Times New Roman" panose="02020603050405020304" pitchFamily="18" charset="0"/>
              </a:rPr>
              <a:t>mengetahui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bahasa</a:t>
            </a:r>
            <a:r>
              <a:rPr lang="en-ID" kern="100">
                <a:latin typeface="Calibri" panose="020F0502020204030204" pitchFamily="34" charset="0"/>
                <a:ea typeface="Malgun Gothic" panose="020B0503020000020004" pitchFamily="34" charset="-127"/>
                <a:cs typeface="Times New Roman" panose="02020603050405020304" pitchFamily="18" charset="0"/>
              </a:rPr>
              <a:t> Java </a:t>
            </a:r>
            <a:r>
              <a:rPr lang="en-ID" kern="100" err="1">
                <a:latin typeface="Calibri" panose="020F0502020204030204" pitchFamily="34" charset="0"/>
                <a:ea typeface="Malgun Gothic" panose="020B0503020000020004" pitchFamily="34" charset="-127"/>
                <a:cs typeface="Times New Roman" panose="02020603050405020304" pitchFamily="18" charset="0"/>
              </a:rPr>
              <a:t>akan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mengkompilasi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kode</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sumber</a:t>
            </a:r>
            <a:r>
              <a:rPr lang="en-ID" kern="100">
                <a:latin typeface="Calibri" panose="020F0502020204030204" pitchFamily="34" charset="0"/>
                <a:ea typeface="Malgun Gothic" panose="020B0503020000020004" pitchFamily="34" charset="-127"/>
                <a:cs typeface="Times New Roman" panose="02020603050405020304" pitchFamily="18" charset="0"/>
              </a:rPr>
              <a:t> Java </a:t>
            </a:r>
            <a:r>
              <a:rPr lang="en-ID" kern="100" err="1">
                <a:latin typeface="Calibri" panose="020F0502020204030204" pitchFamily="34" charset="0"/>
                <a:ea typeface="Malgun Gothic" panose="020B0503020000020004" pitchFamily="34" charset="-127"/>
                <a:cs typeface="Times New Roman" panose="02020603050405020304" pitchFamily="18" charset="0"/>
              </a:rPr>
              <a:t>kita</a:t>
            </a:r>
            <a:r>
              <a:rPr lang="en-ID" kern="100">
                <a:latin typeface="Calibri" panose="020F0502020204030204" pitchFamily="34" charset="0"/>
                <a:ea typeface="Malgun Gothic" panose="020B0503020000020004" pitchFamily="34" charset="-127"/>
                <a:cs typeface="Times New Roman" panose="02020603050405020304" pitchFamily="18" charset="0"/>
              </a:rPr>
              <a:t> dan </a:t>
            </a:r>
            <a:r>
              <a:rPr lang="en-ID" kern="100" err="1">
                <a:latin typeface="Calibri" panose="020F0502020204030204" pitchFamily="34" charset="0"/>
                <a:ea typeface="Malgun Gothic" panose="020B0503020000020004" pitchFamily="34" charset="-127"/>
                <a:cs typeface="Times New Roman" panose="02020603050405020304" pitchFamily="18" charset="0"/>
              </a:rPr>
              <a:t>mengubahnya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menjadi</a:t>
            </a:r>
            <a:r>
              <a:rPr lang="en-ID" kern="100">
                <a:latin typeface="Calibri" panose="020F0502020204030204" pitchFamily="34" charset="0"/>
                <a:ea typeface="Malgun Gothic" panose="020B0503020000020004" pitchFamily="34" charset="-127"/>
                <a:cs typeface="Times New Roman" panose="02020603050405020304" pitchFamily="18" charset="0"/>
              </a:rPr>
              <a:t> file yang </a:t>
            </a:r>
            <a:r>
              <a:rPr lang="en-ID" kern="100" err="1">
                <a:latin typeface="Calibri" panose="020F0502020204030204" pitchFamily="34" charset="0"/>
                <a:ea typeface="Malgun Gothic" panose="020B0503020000020004" pitchFamily="34" charset="-127"/>
                <a:cs typeface="Times New Roman" panose="02020603050405020304" pitchFamily="18" charset="0"/>
              </a:rPr>
              <a:t>dapat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dieksekusi</a:t>
            </a:r>
            <a:r>
              <a:rPr lang="en-ID" kern="100">
                <a:latin typeface="Calibri" panose="020F0502020204030204" pitchFamily="34" charset="0"/>
                <a:ea typeface="Malgun Gothic" panose="020B0503020000020004" pitchFamily="34" charset="-127"/>
                <a:cs typeface="Times New Roman" panose="02020603050405020304" pitchFamily="18" charset="0"/>
              </a:rPr>
              <a:t>.</a:t>
            </a:r>
          </a:p>
          <a:p>
            <a:pPr>
              <a:defRPr/>
            </a:pPr>
            <a:endParaRPr lang="en-US" altLang="ko-KR"/>
          </a:p>
          <a:p>
            <a:pPr>
              <a:lnSpc>
                <a:spcPct val="107000"/>
              </a:lnSpc>
              <a:spcAft>
                <a:spcPts val="800"/>
              </a:spcAft>
              <a:defRPr/>
            </a:pPr>
            <a:r>
              <a:rPr lang="en-ID" kern="100" err="1">
                <a:latin typeface="Calibri" panose="020F0502020204030204" pitchFamily="34" charset="0"/>
                <a:ea typeface="Malgun Gothic" panose="020B0503020000020004" pitchFamily="34" charset="-127"/>
                <a:cs typeface="Times New Roman" panose="02020603050405020304" pitchFamily="18" charset="0"/>
              </a:rPr>
              <a:t>Setelah</a:t>
            </a:r>
            <a:r>
              <a:rPr lang="en-ID" kern="100">
                <a:latin typeface="Calibri" panose="020F0502020204030204" pitchFamily="34" charset="0"/>
                <a:ea typeface="Malgun Gothic" panose="020B0503020000020004" pitchFamily="34" charset="-127"/>
                <a:cs typeface="Times New Roman" panose="02020603050405020304" pitchFamily="18" charset="0"/>
              </a:rPr>
              <a:t> proses Compile, file </a:t>
            </a:r>
            <a:r>
              <a:rPr lang="en-ID" b="1" kern="100">
                <a:latin typeface="Calibri" panose="020F0502020204030204" pitchFamily="34" charset="0"/>
                <a:ea typeface="Malgun Gothic" panose="020B0503020000020004" pitchFamily="34" charset="-127"/>
                <a:cs typeface="Times New Roman" panose="02020603050405020304" pitchFamily="18" charset="0"/>
              </a:rPr>
              <a:t>*.java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menjadi</a:t>
            </a:r>
            <a:r>
              <a:rPr lang="en-ID" kern="100">
                <a:latin typeface="Calibri" panose="020F0502020204030204" pitchFamily="34" charset="0"/>
                <a:ea typeface="Malgun Gothic" panose="020B0503020000020004" pitchFamily="34" charset="-127"/>
                <a:cs typeface="Times New Roman" panose="02020603050405020304" pitchFamily="18" charset="0"/>
              </a:rPr>
              <a:t> file </a:t>
            </a:r>
            <a:r>
              <a:rPr lang="en-ID" b="1" kern="100">
                <a:latin typeface="Calibri" panose="020F0502020204030204" pitchFamily="34" charset="0"/>
                <a:ea typeface="Malgun Gothic" panose="020B0503020000020004" pitchFamily="34" charset="-127"/>
                <a:cs typeface="Times New Roman" panose="02020603050405020304" pitchFamily="18" charset="0"/>
              </a:rPr>
              <a:t>*.class</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Ini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adalah</a:t>
            </a:r>
            <a:r>
              <a:rPr lang="en-ID" kern="100">
                <a:latin typeface="Calibri" panose="020F0502020204030204" pitchFamily="34" charset="0"/>
                <a:ea typeface="Malgun Gothic" panose="020B0503020000020004" pitchFamily="34" charset="-127"/>
                <a:cs typeface="Times New Roman" panose="02020603050405020304" pitchFamily="18" charset="0"/>
              </a:rPr>
              <a:t> file yang </a:t>
            </a:r>
            <a:r>
              <a:rPr lang="en-ID" kern="100" err="1">
                <a:latin typeface="Calibri" panose="020F0502020204030204" pitchFamily="34" charset="0"/>
                <a:ea typeface="Malgun Gothic" panose="020B0503020000020004" pitchFamily="34" charset="-127"/>
                <a:cs typeface="Times New Roman" panose="02020603050405020304" pitchFamily="18" charset="0"/>
              </a:rPr>
              <a:t>dapat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dieksekusi</a:t>
            </a:r>
            <a:r>
              <a:rPr lang="en-ID" kern="100">
                <a:latin typeface="Calibri" panose="020F0502020204030204" pitchFamily="34" charset="0"/>
                <a:ea typeface="Malgun Gothic" panose="020B0503020000020004" pitchFamily="34" charset="-127"/>
                <a:cs typeface="Times New Roman" panose="02020603050405020304" pitchFamily="18" charset="0"/>
              </a:rPr>
              <a:t> Java.</a:t>
            </a:r>
          </a:p>
          <a:p>
            <a:pPr>
              <a:lnSpc>
                <a:spcPct val="107000"/>
              </a:lnSpc>
              <a:spcAft>
                <a:spcPts val="800"/>
              </a:spcAft>
              <a:defRPr/>
            </a:pPr>
            <a:endParaRPr lang="en-ID"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ID" kern="100" err="1">
                <a:latin typeface="Calibri" panose="020F0502020204030204" pitchFamily="34" charset="0"/>
                <a:ea typeface="Malgun Gothic" panose="020B0503020000020004" pitchFamily="34" charset="-127"/>
                <a:cs typeface="Times New Roman" panose="02020603050405020304" pitchFamily="18" charset="0"/>
              </a:rPr>
              <a:t>Terakhir</a:t>
            </a:r>
            <a:r>
              <a:rPr lang="en-ID" kern="100">
                <a:latin typeface="Calibri" panose="020F0502020204030204" pitchFamily="34" charset="0"/>
                <a:ea typeface="Malgun Gothic" panose="020B0503020000020004" pitchFamily="34" charset="-127"/>
                <a:cs typeface="Times New Roman" panose="02020603050405020304" pitchFamily="18" charset="0"/>
              </a:rPr>
              <a:t>, Java Virtual Machine (JVM), yang </a:t>
            </a:r>
            <a:r>
              <a:rPr lang="en-ID" kern="100" err="1">
                <a:latin typeface="Calibri" panose="020F0502020204030204" pitchFamily="34" charset="0"/>
                <a:ea typeface="Malgun Gothic" panose="020B0503020000020004" pitchFamily="34" charset="-127"/>
                <a:cs typeface="Times New Roman" panose="02020603050405020304" pitchFamily="18" charset="0"/>
              </a:rPr>
              <a:t>dapat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menginterpretasikan</a:t>
            </a:r>
            <a:r>
              <a:rPr lang="en-ID" kern="100">
                <a:latin typeface="Calibri" panose="020F0502020204030204" pitchFamily="34" charset="0"/>
                <a:ea typeface="Malgun Gothic" panose="020B0503020000020004" pitchFamily="34" charset="-127"/>
                <a:cs typeface="Times New Roman" panose="02020603050405020304" pitchFamily="18" charset="0"/>
              </a:rPr>
              <a:t> file yang </a:t>
            </a:r>
            <a:r>
              <a:rPr lang="en-ID" kern="100" err="1">
                <a:latin typeface="Calibri" panose="020F0502020204030204" pitchFamily="34" charset="0"/>
                <a:ea typeface="Malgun Gothic" panose="020B0503020000020004" pitchFamily="34" charset="-127"/>
                <a:cs typeface="Times New Roman" panose="02020603050405020304" pitchFamily="18" charset="0"/>
              </a:rPr>
              <a:t>dapat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dieksekusi</a:t>
            </a:r>
            <a:r>
              <a:rPr lang="en-ID" kern="100">
                <a:latin typeface="Calibri" panose="020F0502020204030204" pitchFamily="34" charset="0"/>
                <a:ea typeface="Malgun Gothic" panose="020B0503020000020004" pitchFamily="34" charset="-127"/>
                <a:cs typeface="Times New Roman" panose="02020603050405020304" pitchFamily="18" charset="0"/>
              </a:rPr>
              <a:t> Java, </a:t>
            </a:r>
            <a:r>
              <a:rPr lang="en-ID" kern="100" err="1">
                <a:latin typeface="Calibri" panose="020F0502020204030204" pitchFamily="34" charset="0"/>
                <a:ea typeface="Malgun Gothic" panose="020B0503020000020004" pitchFamily="34" charset="-127"/>
                <a:cs typeface="Times New Roman" panose="02020603050405020304" pitchFamily="18" charset="0"/>
              </a:rPr>
              <a:t>menginterpretasikan</a:t>
            </a:r>
            <a:r>
              <a:rPr lang="en-ID" kern="100">
                <a:latin typeface="Calibri" panose="020F0502020204030204" pitchFamily="34" charset="0"/>
                <a:ea typeface="Malgun Gothic" panose="020B0503020000020004" pitchFamily="34" charset="-127"/>
                <a:cs typeface="Times New Roman" panose="02020603050405020304" pitchFamily="18" charset="0"/>
              </a:rPr>
              <a:t> dan </a:t>
            </a:r>
            <a:r>
              <a:rPr lang="en-ID" kern="100" err="1">
                <a:latin typeface="Calibri" panose="020F0502020204030204" pitchFamily="34" charset="0"/>
                <a:ea typeface="Malgun Gothic" panose="020B0503020000020004" pitchFamily="34" charset="-127"/>
                <a:cs typeface="Times New Roman" panose="02020603050405020304" pitchFamily="18" charset="0"/>
              </a:rPr>
              <a:t>mengeksekusi</a:t>
            </a:r>
            <a:r>
              <a:rPr lang="en-ID" kern="100">
                <a:latin typeface="Calibri" panose="020F0502020204030204" pitchFamily="34" charset="0"/>
                <a:ea typeface="Malgun Gothic" panose="020B0503020000020004" pitchFamily="34" charset="-127"/>
                <a:cs typeface="Times New Roman" panose="02020603050405020304" pitchFamily="18" charset="0"/>
              </a:rPr>
              <a:t> file </a:t>
            </a:r>
            <a:r>
              <a:rPr lang="en-ID" kern="100" err="1">
                <a:latin typeface="Calibri" panose="020F0502020204030204" pitchFamily="34" charset="0"/>
                <a:ea typeface="Malgun Gothic" panose="020B0503020000020004" pitchFamily="34" charset="-127"/>
                <a:cs typeface="Times New Roman" panose="02020603050405020304" pitchFamily="18" charset="0"/>
              </a:rPr>
              <a:t>tersebut</a:t>
            </a:r>
            <a:r>
              <a:rPr lang="en-ID" kern="100">
                <a:latin typeface="Calibri" panose="020F0502020204030204" pitchFamily="34" charset="0"/>
                <a:ea typeface="Malgun Gothic" panose="020B0503020000020004" pitchFamily="34" charset="-127"/>
                <a:cs typeface="Times New Roman" panose="02020603050405020304" pitchFamily="18" charset="0"/>
              </a:rPr>
              <a:t>.</a:t>
            </a:r>
          </a:p>
          <a:p>
            <a:pPr>
              <a:lnSpc>
                <a:spcPct val="107000"/>
              </a:lnSpc>
              <a:spcAft>
                <a:spcPts val="800"/>
              </a:spcAft>
              <a:defRPr/>
            </a:pPr>
            <a:endParaRPr lang="en-ID"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ID" kern="100" err="1">
                <a:latin typeface="Calibri" panose="020F0502020204030204" pitchFamily="34" charset="0"/>
                <a:ea typeface="Malgun Gothic" panose="020B0503020000020004" pitchFamily="34" charset="-127"/>
                <a:cs typeface="Times New Roman" panose="02020603050405020304" pitchFamily="18" charset="0"/>
              </a:rPr>
              <a:t>Setelah</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langkah-langkah</a:t>
            </a:r>
            <a:r>
              <a:rPr lang="en-ID" kern="100">
                <a:latin typeface="Calibri" panose="020F0502020204030204" pitchFamily="34" charset="0"/>
                <a:ea typeface="Malgun Gothic" panose="020B0503020000020004" pitchFamily="34" charset="-127"/>
                <a:cs typeface="Times New Roman" panose="02020603050405020304" pitchFamily="18" charset="0"/>
              </a:rPr>
              <a:t> di </a:t>
            </a:r>
            <a:r>
              <a:rPr lang="en-ID" kern="100" err="1">
                <a:latin typeface="Calibri" panose="020F0502020204030204" pitchFamily="34" charset="0"/>
                <a:ea typeface="Malgun Gothic" panose="020B0503020000020004" pitchFamily="34" charset="-127"/>
                <a:cs typeface="Times New Roman" panose="02020603050405020304" pitchFamily="18" charset="0"/>
              </a:rPr>
              <a:t>atas</a:t>
            </a:r>
            <a:r>
              <a:rPr lang="en-ID" kern="100">
                <a:latin typeface="Calibri" panose="020F0502020204030204" pitchFamily="34" charset="0"/>
                <a:ea typeface="Malgun Gothic" panose="020B0503020000020004" pitchFamily="34" charset="-127"/>
                <a:cs typeface="Times New Roman" panose="02020603050405020304" pitchFamily="18" charset="0"/>
              </a:rPr>
              <a:t>, Anda </a:t>
            </a:r>
            <a:r>
              <a:rPr lang="en-ID" kern="100" err="1">
                <a:latin typeface="Calibri" panose="020F0502020204030204" pitchFamily="34" charset="0"/>
                <a:ea typeface="Malgun Gothic" panose="020B0503020000020004" pitchFamily="34" charset="-127"/>
                <a:cs typeface="Times New Roman" panose="02020603050405020304" pitchFamily="18" charset="0"/>
              </a:rPr>
              <a:t>akan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dapat</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menjalankan</a:t>
            </a:r>
            <a:r>
              <a:rPr lang="en-ID" kern="100">
                <a:latin typeface="Calibri" panose="020F0502020204030204" pitchFamily="34" charset="0"/>
                <a:ea typeface="Malgun Gothic" panose="020B0503020000020004" pitchFamily="34" charset="-127"/>
                <a:cs typeface="Times New Roman" panose="02020603050405020304" pitchFamily="18" charset="0"/>
              </a:rPr>
              <a:t> program yang </a:t>
            </a:r>
            <a:r>
              <a:rPr lang="en-ID" kern="100" err="1">
                <a:latin typeface="Calibri" panose="020F0502020204030204" pitchFamily="34" charset="0"/>
                <a:ea typeface="Malgun Gothic" panose="020B0503020000020004" pitchFamily="34" charset="-127"/>
                <a:cs typeface="Times New Roman" panose="02020603050405020304" pitchFamily="18" charset="0"/>
              </a:rPr>
              <a:t>ditulis</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dalam</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bahasa</a:t>
            </a:r>
            <a:r>
              <a:rPr lang="en-ID" kern="100">
                <a:latin typeface="Calibri" panose="020F0502020204030204" pitchFamily="34" charset="0"/>
                <a:ea typeface="Malgun Gothic" panose="020B0503020000020004" pitchFamily="34" charset="-127"/>
                <a:cs typeface="Times New Roman" panose="02020603050405020304" pitchFamily="18" charset="0"/>
              </a:rPr>
              <a:t> Java. </a:t>
            </a:r>
            <a:r>
              <a:rPr lang="en-ID" kern="100" err="1">
                <a:latin typeface="Calibri" panose="020F0502020204030204" pitchFamily="34" charset="0"/>
                <a:ea typeface="Malgun Gothic" panose="020B0503020000020004" pitchFamily="34" charset="-127"/>
                <a:cs typeface="Times New Roman" panose="02020603050405020304" pitchFamily="18" charset="0"/>
              </a:rPr>
              <a:t>Selanjutnya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kita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akan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mempelajari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cara</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menulis</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kode</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sumber</a:t>
            </a:r>
            <a:r>
              <a:rPr lang="en-ID" kern="100">
                <a:latin typeface="Calibri" panose="020F0502020204030204" pitchFamily="34" charset="0"/>
                <a:ea typeface="Malgun Gothic" panose="020B0503020000020004" pitchFamily="34" charset="-127"/>
                <a:cs typeface="Times New Roman" panose="02020603050405020304" pitchFamily="18" charset="0"/>
              </a:rPr>
              <a:t> Java", yang </a:t>
            </a:r>
            <a:r>
              <a:rPr lang="en-ID" kern="100" err="1">
                <a:latin typeface="Calibri" panose="020F0502020204030204" pitchFamily="34" charset="0"/>
                <a:ea typeface="Malgun Gothic" panose="020B0503020000020004" pitchFamily="34" charset="-127"/>
                <a:cs typeface="Times New Roman" panose="02020603050405020304" pitchFamily="18" charset="0"/>
              </a:rPr>
              <a:t>sesuai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dengan</a:t>
            </a:r>
            <a:r>
              <a:rPr lang="en-ID" kern="100">
                <a:latin typeface="Calibri" panose="020F0502020204030204" pitchFamily="34" charset="0"/>
                <a:ea typeface="Malgun Gothic" panose="020B0503020000020004" pitchFamily="34" charset="-127"/>
                <a:cs typeface="Times New Roman" panose="02020603050405020304" pitchFamily="18" charset="0"/>
              </a:rPr>
              <a:t> Langkah 1. Dan proses </a:t>
            </a:r>
            <a:r>
              <a:rPr lang="en-ID" kern="100" err="1">
                <a:latin typeface="Calibri" panose="020F0502020204030204" pitchFamily="34" charset="0"/>
                <a:ea typeface="Malgun Gothic" panose="020B0503020000020004" pitchFamily="34" charset="-127"/>
                <a:cs typeface="Times New Roman" panose="02020603050405020304" pitchFamily="18" charset="0"/>
              </a:rPr>
              <a:t>kompilasi</a:t>
            </a:r>
            <a:r>
              <a:rPr lang="en-ID" kern="100">
                <a:latin typeface="Calibri" panose="020F0502020204030204" pitchFamily="34" charset="0"/>
                <a:ea typeface="Malgun Gothic" panose="020B0503020000020004" pitchFamily="34" charset="-127"/>
                <a:cs typeface="Times New Roman" panose="02020603050405020304" pitchFamily="18" charset="0"/>
              </a:rPr>
              <a:t> dan </a:t>
            </a:r>
            <a:r>
              <a:rPr lang="en-ID" kern="100" err="1">
                <a:latin typeface="Calibri" panose="020F0502020204030204" pitchFamily="34" charset="0"/>
                <a:ea typeface="Malgun Gothic" panose="020B0503020000020004" pitchFamily="34" charset="-127"/>
                <a:cs typeface="Times New Roman" panose="02020603050405020304" pitchFamily="18" charset="0"/>
              </a:rPr>
              <a:t>eksekusi</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akan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dilakukan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dengan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menggunakan</a:t>
            </a:r>
            <a:r>
              <a:rPr lang="en-ID" kern="100">
                <a:latin typeface="Calibri" panose="020F0502020204030204" pitchFamily="34" charset="0"/>
                <a:ea typeface="Malgun Gothic" panose="020B0503020000020004" pitchFamily="34" charset="-127"/>
                <a:cs typeface="Times New Roman" panose="02020603050405020304" pitchFamily="18" charset="0"/>
              </a:rPr>
              <a:t> </a:t>
            </a:r>
            <a:r>
              <a:rPr lang="en-ID" kern="100" err="1">
                <a:latin typeface="Calibri" panose="020F0502020204030204" pitchFamily="34" charset="0"/>
                <a:ea typeface="Malgun Gothic" panose="020B0503020000020004" pitchFamily="34" charset="-127"/>
                <a:cs typeface="Times New Roman" panose="02020603050405020304" pitchFamily="18" charset="0"/>
              </a:rPr>
              <a:t>alat</a:t>
            </a:r>
            <a:r>
              <a:rPr lang="en-ID" kern="100">
                <a:latin typeface="Calibri" panose="020F0502020204030204" pitchFamily="34" charset="0"/>
                <a:ea typeface="Malgun Gothic" panose="020B0503020000020004" pitchFamily="34" charset="-127"/>
                <a:cs typeface="Times New Roman" panose="02020603050405020304" pitchFamily="18" charset="0"/>
              </a:rPr>
              <a:t> yang </a:t>
            </a:r>
            <a:r>
              <a:rPr lang="en-ID" kern="100" err="1">
                <a:latin typeface="Calibri" panose="020F0502020204030204" pitchFamily="34" charset="0"/>
                <a:ea typeface="Malgun Gothic" panose="020B0503020000020004" pitchFamily="34" charset="-127"/>
                <a:cs typeface="Times New Roman" panose="02020603050405020304" pitchFamily="18" charset="0"/>
              </a:rPr>
              <a:t>disebut</a:t>
            </a:r>
            <a:r>
              <a:rPr lang="en-ID" kern="100">
                <a:latin typeface="Calibri" panose="020F0502020204030204" pitchFamily="34" charset="0"/>
                <a:ea typeface="Malgun Gothic" panose="020B0503020000020004" pitchFamily="34" charset="-127"/>
                <a:cs typeface="Times New Roman" panose="02020603050405020304" pitchFamily="18" charset="0"/>
              </a:rPr>
              <a:t> eclipse</a:t>
            </a:r>
          </a:p>
        </p:txBody>
      </p:sp>
      <p:sp>
        <p:nvSpPr>
          <p:cNvPr id="21508" name="슬라이드 번호 개체 틀 3">
            <a:extLst>
              <a:ext uri="{FF2B5EF4-FFF2-40B4-BE49-F238E27FC236}">
                <a16:creationId xmlns:a16="http://schemas.microsoft.com/office/drawing/2014/main" id="{2BAD7461-501D-8CD0-AA2E-E4F65177DF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E5ABE29E-3644-4E48-8EEE-1090C5D6EC47}" type="slidenum">
              <a:rPr kumimoji="0" lang="ko-KR" altLang="en-US" smtClean="0">
                <a:latin typeface="나눔고딕코딩" pitchFamily="49" charset="-127"/>
                <a:ea typeface="나눔고딕코딩" pitchFamily="49" charset="-127"/>
              </a:rPr>
              <a:pPr/>
              <a:t>16</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슬라이드 이미지 개체 틀 1">
            <a:extLst>
              <a:ext uri="{FF2B5EF4-FFF2-40B4-BE49-F238E27FC236}">
                <a16:creationId xmlns:a16="http://schemas.microsoft.com/office/drawing/2014/main" id="{3BA88F6A-1F78-FCDB-EFAE-CDE36BD0B7B1}"/>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슬라이드 노트 개체 틀 2">
            <a:extLst>
              <a:ext uri="{FF2B5EF4-FFF2-40B4-BE49-F238E27FC236}">
                <a16:creationId xmlns:a16="http://schemas.microsoft.com/office/drawing/2014/main" id="{4FAB75D0-366A-A0B8-3654-A41BD813FF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ko-KR" altLang="en-US"/>
          </a:p>
        </p:txBody>
      </p:sp>
      <p:sp>
        <p:nvSpPr>
          <p:cNvPr id="31748" name="슬라이드 번호 개체 틀 3">
            <a:extLst>
              <a:ext uri="{FF2B5EF4-FFF2-40B4-BE49-F238E27FC236}">
                <a16:creationId xmlns:a16="http://schemas.microsoft.com/office/drawing/2014/main" id="{E7AE92C4-15F4-C2C1-F3CF-704A7B6BA8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2342B17A-D2C1-F144-BC04-D86619A73334}" type="slidenum">
              <a:rPr kumimoji="0" lang="ko-KR" altLang="en-US" smtClean="0">
                <a:latin typeface="나눔고딕코딩" pitchFamily="49" charset="-127"/>
                <a:ea typeface="나눔고딕코딩" pitchFamily="49" charset="-127"/>
              </a:rPr>
              <a:pPr/>
              <a:t>17</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슬라이드 이미지 개체 틀 1">
            <a:extLst>
              <a:ext uri="{FF2B5EF4-FFF2-40B4-BE49-F238E27FC236}">
                <a16:creationId xmlns:a16="http://schemas.microsoft.com/office/drawing/2014/main" id="{CF8AA80F-F25A-480B-6542-D013DA376745}"/>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슬라이드 노트 개체 틀 2">
            <a:extLst>
              <a:ext uri="{FF2B5EF4-FFF2-40B4-BE49-F238E27FC236}">
                <a16:creationId xmlns:a16="http://schemas.microsoft.com/office/drawing/2014/main" id="{90CCECFE-5115-EB32-1690-FD85AACA51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ko-KR" altLang="en-US"/>
          </a:p>
        </p:txBody>
      </p:sp>
      <p:sp>
        <p:nvSpPr>
          <p:cNvPr id="52228" name="슬라이드 번호 개체 틀 3">
            <a:extLst>
              <a:ext uri="{FF2B5EF4-FFF2-40B4-BE49-F238E27FC236}">
                <a16:creationId xmlns:a16="http://schemas.microsoft.com/office/drawing/2014/main" id="{95C778FF-BB02-11D0-1BEC-5BD2BECB1C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6BDD3CD3-6A26-4849-B2DE-0697B399B875}" type="slidenum">
              <a:rPr kumimoji="0" lang="ko-KR" altLang="en-US" smtClean="0">
                <a:latin typeface="나눔고딕코딩" pitchFamily="49" charset="-127"/>
                <a:ea typeface="나눔고딕코딩" pitchFamily="49" charset="-127"/>
              </a:rPr>
              <a:pPr/>
              <a:t>18</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11150"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8" name="Google Shape;38;p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39" name="Google Shape;39;p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19</a:t>
            </a:fld>
            <a:endParaRPr/>
          </a:p>
        </p:txBody>
      </p:sp>
    </p:spTree>
    <p:extLst>
      <p:ext uri="{BB962C8B-B14F-4D97-AF65-F5344CB8AC3E}">
        <p14:creationId xmlns:p14="http://schemas.microsoft.com/office/powerpoint/2010/main" val="3860770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1" name="Google Shape;151;p6: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lnSpc>
                <a:spcPct val="100000"/>
              </a:lnSpc>
              <a:spcBef>
                <a:spcPts val="0"/>
              </a:spcBef>
              <a:spcAft>
                <a:spcPts val="0"/>
              </a:spcAft>
              <a:buSzPts val="1400"/>
              <a:buNone/>
            </a:pPr>
            <a:endParaRPr/>
          </a:p>
        </p:txBody>
      </p:sp>
      <p:sp>
        <p:nvSpPr>
          <p:cNvPr id="152" name="Google Shape;152;p6: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5: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04" name="Google Shape;404;p25:notes"/>
          <p:cNvSpPr txBox="1">
            <a:spLocks noGrp="1"/>
          </p:cNvSpPr>
          <p:nvPr>
            <p:ph type="body" idx="1"/>
          </p:nvPr>
        </p:nvSpPr>
        <p:spPr>
          <a:xfrm>
            <a:off x="311150" y="5600700"/>
            <a:ext cx="6573837" cy="4124325"/>
          </a:xfrm>
          <a:prstGeom prst="rect">
            <a:avLst/>
          </a:prstGeom>
          <a:noFill/>
          <a:ln>
            <a:noFill/>
          </a:ln>
        </p:spPr>
        <p:txBody>
          <a:bodyPr spcFirstLastPara="1" wrap="square" lIns="99050" tIns="49525" rIns="99050" bIns="49525" anchor="t" anchorCtr="0">
            <a:noAutofit/>
          </a:bodyPr>
          <a:lstStyle/>
          <a:p>
            <a:pPr marL="0" lvl="0" indent="0" algn="l" rtl="0">
              <a:lnSpc>
                <a:spcPct val="107000"/>
              </a:lnSpc>
              <a:spcBef>
                <a:spcPts val="0"/>
              </a:spcBef>
              <a:spcAft>
                <a:spcPts val="0"/>
              </a:spcAft>
              <a:buSzPts val="1800"/>
              <a:buFont typeface="Calibri"/>
              <a:buNone/>
            </a:pPr>
            <a:r>
              <a:rPr lang="en-US">
                <a:latin typeface="Calibri"/>
                <a:ea typeface="Calibri"/>
                <a:cs typeface="Calibri"/>
                <a:sym typeface="Calibri"/>
              </a:rPr>
              <a:t>Ada banyak jenis data yang kita gunakan dalam kehidupan nyata.</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Anda pergi ke pasar. Anda membeli sesuatu, dan Anda harus membayarnya. Beberapa barang berharga 5000 won, beberapa berharga 10000 won, dan seterusnya. Seperti informasi harga ini, ada data yang terdiri dari angka-angka umum. Meskipun itu adalah angka umum, ada juga data numerik yang sangat besar seperti penjualan perusahaan saya selama satu tahun, anggaran negara saya selama satu tahun, dll.</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Di Java, data numerik biasa tanpa titik desimal, seperti di atas, disebut data "integer". Java mengklasifikasikan data bilangan bulat kecil sebagai tipe data yang disebut int, dan data bilangan bulat besar sebagai tipe data yang disebut long.</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Namun, data bilangan bulat bukanlah satu-satunya data numerik yang kita gunakan. Pertimbangkan kredit kuliah. Itu adalah data numerik dengan desimal: 3,7, 3,9, 4,2, dll. Atau keliling lingkaran, yang digunakan untuk menghitung luas lingkaran atau keliling lingkaran, adalah 3,14195...</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Di Java, data numerik dengan titik desimal seperti di atas disebut data "real". Kami menggunakan tipe data yang disebut double untuk mengelola jenis data ini.</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Kisaran nilai untuk setiap tipe data adalah sebagai berikut. Panjang dapat mewakili rentang angka yang lebih luas daripada int, dan ganda dapat mewakili rentang angka yang lebih luas daripada panjang.</a:t>
            </a:r>
            <a:endParaRPr/>
          </a:p>
          <a:p>
            <a:pPr marL="0" lvl="0" indent="0" algn="l" rtl="0">
              <a:lnSpc>
                <a:spcPct val="107000"/>
              </a:lnSpc>
              <a:spcBef>
                <a:spcPts val="800"/>
              </a:spcBef>
              <a:spcAft>
                <a:spcPts val="0"/>
              </a:spcAft>
              <a:buSzPts val="1800"/>
              <a:buNone/>
            </a:pPr>
            <a:endParaRPr>
              <a:latin typeface="Calibri"/>
              <a:ea typeface="Calibri"/>
              <a:cs typeface="Calibri"/>
              <a:sym typeface="Calibri"/>
            </a:endParaRPr>
          </a:p>
          <a:p>
            <a:pPr marL="0" lvl="0" indent="0" algn="l" rtl="0">
              <a:lnSpc>
                <a:spcPct val="107000"/>
              </a:lnSpc>
              <a:spcBef>
                <a:spcPts val="800"/>
              </a:spcBef>
              <a:spcAft>
                <a:spcPts val="0"/>
              </a:spcAft>
              <a:buSzPts val="1800"/>
              <a:buNone/>
            </a:pPr>
            <a:endParaRPr>
              <a:latin typeface="Calibri"/>
              <a:ea typeface="Calibri"/>
              <a:cs typeface="Calibri"/>
              <a:sym typeface="Calibri"/>
            </a:endParaRPr>
          </a:p>
          <a:p>
            <a:pPr marL="0" lvl="0" indent="0" algn="l" rtl="0">
              <a:lnSpc>
                <a:spcPct val="107000"/>
              </a:lnSpc>
              <a:spcBef>
                <a:spcPts val="800"/>
              </a:spcBef>
              <a:spcAft>
                <a:spcPts val="0"/>
              </a:spcAft>
              <a:buSzPts val="1800"/>
              <a:buNone/>
            </a:pPr>
            <a:endParaRPr>
              <a:latin typeface="Calibri"/>
              <a:ea typeface="Calibri"/>
              <a:cs typeface="Calibri"/>
              <a:sym typeface="Calibri"/>
            </a:endParaRPr>
          </a:p>
          <a:p>
            <a:pPr marL="0" lvl="0" indent="0" algn="l" rtl="0">
              <a:lnSpc>
                <a:spcPct val="107000"/>
              </a:lnSpc>
              <a:spcBef>
                <a:spcPts val="800"/>
              </a:spcBef>
              <a:spcAft>
                <a:spcPts val="0"/>
              </a:spcAft>
              <a:buSzPts val="1800"/>
              <a:buNone/>
            </a:pPr>
            <a:endParaRPr>
              <a:latin typeface="Calibri"/>
              <a:ea typeface="Calibri"/>
              <a:cs typeface="Calibri"/>
              <a:sym typeface="Calibri"/>
            </a:endParaRPr>
          </a:p>
          <a:p>
            <a:pPr marL="0" lvl="0" indent="0" algn="l" rtl="0">
              <a:lnSpc>
                <a:spcPct val="107000"/>
              </a:lnSpc>
              <a:spcBef>
                <a:spcPts val="800"/>
              </a:spcBef>
              <a:spcAft>
                <a:spcPts val="0"/>
              </a:spcAft>
              <a:buSzPts val="1800"/>
              <a:buFont typeface="Calibri"/>
              <a:buNone/>
            </a:pPr>
            <a:r>
              <a:rPr lang="en-US" sz="1800">
                <a:latin typeface="Calibri"/>
                <a:ea typeface="Calibri"/>
                <a:cs typeface="Calibri"/>
                <a:sym typeface="Calibri"/>
              </a:rPr>
              <a:t>Selain tipe data numerik ini, ada juga tipe data yang disebut boolean yang dapat digunakan untuk menentukan apakah sesuatu itu benar atau salah. Tipe ini memiliki dua nilai benar atau salah.</a:t>
            </a:r>
            <a:endParaRPr/>
          </a:p>
          <a:p>
            <a:pPr marL="0" lvl="0" indent="0" algn="l" rtl="0">
              <a:lnSpc>
                <a:spcPct val="107000"/>
              </a:lnSpc>
              <a:spcBef>
                <a:spcPts val="800"/>
              </a:spcBef>
              <a:spcAft>
                <a:spcPts val="0"/>
              </a:spcAft>
              <a:buSzPts val="1800"/>
              <a:buFont typeface="Calibri"/>
              <a:buNone/>
            </a:pPr>
            <a:r>
              <a:rPr lang="en-US" sz="1800">
                <a:latin typeface="Calibri"/>
                <a:ea typeface="Calibri"/>
                <a:cs typeface="Calibri"/>
                <a:sym typeface="Calibri"/>
              </a:rPr>
              <a:t>Di Java, tipe data int, long, double, dan boolean </a:t>
            </a:r>
            <a:r>
              <a:rPr lang="en-US" sz="1800" b="1">
                <a:latin typeface="Calibri"/>
                <a:ea typeface="Calibri"/>
                <a:cs typeface="Calibri"/>
                <a:sym typeface="Calibri"/>
              </a:rPr>
              <a:t>disebut tipe data primitif</a:t>
            </a:r>
            <a:r>
              <a:rPr lang="en-US" sz="1800">
                <a:latin typeface="Calibri"/>
                <a:ea typeface="Calibri"/>
                <a:cs typeface="Calibri"/>
                <a:sym typeface="Calibri"/>
              </a:rPr>
              <a:t>.</a:t>
            </a:r>
            <a:endParaRPr/>
          </a:p>
          <a:p>
            <a:pPr marL="0" lvl="0" indent="0" algn="l" rtl="0">
              <a:lnSpc>
                <a:spcPct val="100000"/>
              </a:lnSpc>
              <a:spcBef>
                <a:spcPts val="800"/>
              </a:spcBef>
              <a:spcAft>
                <a:spcPts val="0"/>
              </a:spcAft>
              <a:buSzPts val="1400"/>
              <a:buNone/>
            </a:pPr>
            <a:endParaRPr sz="1800">
              <a:latin typeface="Calibri"/>
              <a:ea typeface="Calibri"/>
              <a:cs typeface="Calibri"/>
              <a:sym typeface="Calibri"/>
            </a:endParaRPr>
          </a:p>
        </p:txBody>
      </p:sp>
      <p:sp>
        <p:nvSpPr>
          <p:cNvPr id="405" name="Google Shape;405;p25: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graphicFrame>
        <p:nvGraphicFramePr>
          <p:cNvPr id="406" name="Google Shape;406;p25:notes"/>
          <p:cNvGraphicFramePr/>
          <p:nvPr/>
        </p:nvGraphicFramePr>
        <p:xfrm>
          <a:off x="520700" y="7788275"/>
          <a:ext cx="3000000" cy="3000000"/>
        </p:xfrm>
        <a:graphic>
          <a:graphicData uri="http://schemas.openxmlformats.org/drawingml/2006/table">
            <a:tbl>
              <a:tblPr>
                <a:noFill/>
              </a:tblPr>
              <a:tblGrid>
                <a:gridCol w="831850">
                  <a:extLst>
                    <a:ext uri="{9D8B030D-6E8A-4147-A177-3AD203B41FA5}">
                      <a16:colId xmlns:a16="http://schemas.microsoft.com/office/drawing/2014/main" val="20000"/>
                    </a:ext>
                  </a:extLst>
                </a:gridCol>
                <a:gridCol w="657225">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tblGrid>
              <a:tr h="228600">
                <a:tc>
                  <a:txBody>
                    <a:bodyPr/>
                    <a:lstStyle/>
                    <a:p>
                      <a:pPr marL="0" lvl="0" indent="0" algn="ctr" rtl="0">
                        <a:spcBef>
                          <a:spcPts val="0"/>
                        </a:spcBef>
                        <a:spcAft>
                          <a:spcPts val="0"/>
                        </a:spcAft>
                        <a:buSzPts val="900"/>
                        <a:buFont typeface="Arial"/>
                        <a:buNone/>
                      </a:pPr>
                      <a:r>
                        <a:rPr lang="en-US" sz="900" b="1">
                          <a:latin typeface="Arial"/>
                          <a:ea typeface="Arial"/>
                          <a:cs typeface="Arial"/>
                          <a:sym typeface="Arial"/>
                        </a:rPr>
                        <a:t>데이터 타입</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FBFBF"/>
                    </a:solidFill>
                  </a:tcPr>
                </a:tc>
                <a:tc>
                  <a:txBody>
                    <a:bodyPr/>
                    <a:lstStyle/>
                    <a:p>
                      <a:pPr marL="0" lvl="0" indent="0" algn="ctr" rtl="0">
                        <a:spcBef>
                          <a:spcPts val="0"/>
                        </a:spcBef>
                        <a:spcAft>
                          <a:spcPts val="0"/>
                        </a:spcAft>
                        <a:buSzPts val="900"/>
                        <a:buFont typeface="Arial"/>
                        <a:buNone/>
                      </a:pPr>
                      <a:r>
                        <a:rPr lang="en-US" sz="900" b="1">
                          <a:latin typeface="Arial"/>
                          <a:ea typeface="Arial"/>
                          <a:cs typeface="Arial"/>
                          <a:sym typeface="Arial"/>
                        </a:rPr>
                        <a:t>크기</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FBFBF"/>
                    </a:solidFill>
                  </a:tcPr>
                </a:tc>
                <a:tc>
                  <a:txBody>
                    <a:bodyPr/>
                    <a:lstStyle/>
                    <a:p>
                      <a:pPr marL="0" lvl="0" indent="0" algn="ctr" rtl="0">
                        <a:spcBef>
                          <a:spcPts val="0"/>
                        </a:spcBef>
                        <a:spcAft>
                          <a:spcPts val="0"/>
                        </a:spcAft>
                        <a:buSzPts val="900"/>
                        <a:buFont typeface="Arial"/>
                        <a:buNone/>
                      </a:pPr>
                      <a:r>
                        <a:rPr lang="en-US" sz="900" b="1">
                          <a:latin typeface="Arial"/>
                          <a:ea typeface="Arial"/>
                          <a:cs typeface="Arial"/>
                          <a:sym typeface="Arial"/>
                        </a:rPr>
                        <a:t>값의 범위</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228600">
                <a:tc>
                  <a:txBody>
                    <a:bodyPr/>
                    <a:lstStyle/>
                    <a:p>
                      <a:pPr marL="0" lvl="0" indent="0" algn="ctr" rtl="0">
                        <a:spcBef>
                          <a:spcPts val="0"/>
                        </a:spcBef>
                        <a:spcAft>
                          <a:spcPts val="0"/>
                        </a:spcAft>
                        <a:buSzPts val="900"/>
                        <a:buFont typeface="Arial"/>
                        <a:buNone/>
                      </a:pPr>
                      <a:r>
                        <a:rPr lang="en-US" sz="900">
                          <a:latin typeface="Arial"/>
                          <a:ea typeface="Arial"/>
                          <a:cs typeface="Arial"/>
                          <a:sym typeface="Arial"/>
                        </a:rPr>
                        <a:t>int</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SzPts val="900"/>
                        <a:buFont typeface="Arial"/>
                        <a:buNone/>
                      </a:pPr>
                      <a:r>
                        <a:rPr lang="en-US" sz="900">
                          <a:latin typeface="Arial"/>
                          <a:ea typeface="Arial"/>
                          <a:cs typeface="Arial"/>
                          <a:sym typeface="Arial"/>
                        </a:rPr>
                        <a:t>4 byte</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900"/>
                        <a:buFont typeface="Arial"/>
                        <a:buNone/>
                      </a:pPr>
                      <a:r>
                        <a:rPr lang="en-US" sz="900">
                          <a:latin typeface="Arial"/>
                          <a:ea typeface="Arial"/>
                          <a:cs typeface="Arial"/>
                          <a:sym typeface="Arial"/>
                        </a:rPr>
                        <a:t>-2,147,483,648 ~ 2,147,483,647</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65125">
                <a:tc>
                  <a:txBody>
                    <a:bodyPr/>
                    <a:lstStyle/>
                    <a:p>
                      <a:pPr marL="0" lvl="0" indent="0" algn="ctr" rtl="0">
                        <a:spcBef>
                          <a:spcPts val="0"/>
                        </a:spcBef>
                        <a:spcAft>
                          <a:spcPts val="0"/>
                        </a:spcAft>
                        <a:buSzPts val="900"/>
                        <a:buFont typeface="Arial"/>
                        <a:buNone/>
                      </a:pPr>
                      <a:r>
                        <a:rPr lang="en-US" sz="900">
                          <a:latin typeface="Arial"/>
                          <a:ea typeface="Arial"/>
                          <a:cs typeface="Arial"/>
                          <a:sym typeface="Arial"/>
                        </a:rPr>
                        <a:t>long</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SzPts val="900"/>
                        <a:buFont typeface="Arial"/>
                        <a:buNone/>
                      </a:pPr>
                      <a:r>
                        <a:rPr lang="en-US" sz="900">
                          <a:latin typeface="Arial"/>
                          <a:ea typeface="Arial"/>
                          <a:cs typeface="Arial"/>
                          <a:sym typeface="Arial"/>
                        </a:rPr>
                        <a:t>8 byte</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900"/>
                        <a:buFont typeface="Arial"/>
                        <a:buNone/>
                      </a:pPr>
                      <a:r>
                        <a:rPr lang="en-US" sz="900">
                          <a:latin typeface="Arial"/>
                          <a:ea typeface="Arial"/>
                          <a:cs typeface="Arial"/>
                          <a:sym typeface="Arial"/>
                        </a:rPr>
                        <a:t>-9,223,372,036,854,775,808</a:t>
                      </a:r>
                      <a:endParaRPr sz="1800"/>
                    </a:p>
                    <a:p>
                      <a:pPr marL="0" lvl="0" indent="0" algn="l" rtl="0">
                        <a:spcBef>
                          <a:spcPts val="0"/>
                        </a:spcBef>
                        <a:spcAft>
                          <a:spcPts val="0"/>
                        </a:spcAft>
                        <a:buSzPts val="900"/>
                        <a:buFont typeface="Arial"/>
                        <a:buNone/>
                      </a:pPr>
                      <a:r>
                        <a:rPr lang="en-US" sz="900">
                          <a:latin typeface="Arial"/>
                          <a:ea typeface="Arial"/>
                          <a:cs typeface="Arial"/>
                          <a:sym typeface="Arial"/>
                        </a:rPr>
                        <a:t>        ~ 9,223,372,036,854,775,807</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lvl="0" indent="0" algn="ctr" rtl="0">
                        <a:spcBef>
                          <a:spcPts val="0"/>
                        </a:spcBef>
                        <a:spcAft>
                          <a:spcPts val="0"/>
                        </a:spcAft>
                        <a:buSzPts val="900"/>
                        <a:buFont typeface="Arial"/>
                        <a:buNone/>
                      </a:pPr>
                      <a:r>
                        <a:rPr lang="en-US" sz="900">
                          <a:latin typeface="Arial"/>
                          <a:ea typeface="Arial"/>
                          <a:cs typeface="Arial"/>
                          <a:sym typeface="Arial"/>
                        </a:rPr>
                        <a:t>double</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SzPts val="900"/>
                        <a:buFont typeface="Arial"/>
                        <a:buNone/>
                      </a:pPr>
                      <a:r>
                        <a:rPr lang="en-US" sz="900">
                          <a:latin typeface="Arial"/>
                          <a:ea typeface="Arial"/>
                          <a:cs typeface="Arial"/>
                          <a:sym typeface="Arial"/>
                        </a:rPr>
                        <a:t>8 byte</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SzPts val="900"/>
                        <a:buFont typeface="Arial"/>
                        <a:buNone/>
                      </a:pPr>
                      <a:r>
                        <a:rPr lang="en-US" sz="900">
                          <a:latin typeface="Arial"/>
                          <a:ea typeface="Arial"/>
                          <a:cs typeface="Arial"/>
                          <a:sym typeface="Arial"/>
                        </a:rPr>
                        <a:t>-1.7E308 ~ +1.7E308</a:t>
                      </a:r>
                      <a:endParaRPr sz="1800"/>
                    </a:p>
                  </a:txBody>
                  <a:tcPr marL="91450" marR="91450" marT="45650" marB="4565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6: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13" name="Google Shape;413;p26: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lnSpc>
                <a:spcPct val="107000"/>
              </a:lnSpc>
              <a:spcBef>
                <a:spcPts val="0"/>
              </a:spcBef>
              <a:spcAft>
                <a:spcPts val="0"/>
              </a:spcAft>
              <a:buSzPts val="1800"/>
              <a:buFont typeface="Calibri"/>
              <a:buNone/>
            </a:pPr>
            <a:r>
              <a:rPr lang="en-US" sz="1800">
                <a:latin typeface="Calibri"/>
                <a:ea typeface="Calibri"/>
                <a:cs typeface="Calibri"/>
                <a:sym typeface="Calibri"/>
              </a:rPr>
              <a:t>Seperti yang telah kita lihat, variabel tipe data dasar adalah boolean, int, long, dan double.</a:t>
            </a:r>
            <a:endParaRPr/>
          </a:p>
          <a:p>
            <a:pPr marL="0" lvl="0" indent="0" algn="l" rtl="0">
              <a:lnSpc>
                <a:spcPct val="107000"/>
              </a:lnSpc>
              <a:spcBef>
                <a:spcPts val="800"/>
              </a:spcBef>
              <a:spcAft>
                <a:spcPts val="0"/>
              </a:spcAft>
              <a:buSzPts val="1800"/>
              <a:buFont typeface="Calibri"/>
              <a:buNone/>
            </a:pPr>
            <a:r>
              <a:rPr lang="en-US" sz="1800">
                <a:latin typeface="Calibri"/>
                <a:ea typeface="Calibri"/>
                <a:cs typeface="Calibri"/>
                <a:sym typeface="Calibri"/>
              </a:rPr>
              <a:t>1. Jika Anda memiliki rentang data integer yang kecil, seperti usia, Anda harus menggunakan int. Faktanya, sebagian besar data integer dapat dideklarasikan sebagai int.</a:t>
            </a:r>
            <a:endParaRPr/>
          </a:p>
          <a:p>
            <a:pPr marL="0" lvl="0" indent="0" algn="l" rtl="0">
              <a:lnSpc>
                <a:spcPct val="107000"/>
              </a:lnSpc>
              <a:spcBef>
                <a:spcPts val="800"/>
              </a:spcBef>
              <a:spcAft>
                <a:spcPts val="0"/>
              </a:spcAft>
              <a:buSzPts val="1800"/>
              <a:buFont typeface="Calibri"/>
              <a:buNone/>
            </a:pPr>
            <a:r>
              <a:rPr lang="en-US" sz="1800">
                <a:latin typeface="Calibri"/>
                <a:ea typeface="Calibri"/>
                <a:cs typeface="Calibri"/>
                <a:sym typeface="Calibri"/>
              </a:rPr>
              <a:t>2. Kita ingin menyimpan kekayaan Bill Gates. Dengan asumsi nilainya sekitar $7 miliar, kita menggunakan rentang data integer yang sangat besar. Karena ini adalah bilangan bulat, kita mengimplementasikan int billWealth = 7000000000;. Hal ini akan menyebabkan Eclipse melemparkan sebuah kesalahan. Pesan kesalahannya adalah sebagai berikut: Anda telah menulis sebuah angka di luar jangkauan data bertipe int.</a:t>
            </a:r>
            <a:endParaRPr/>
          </a:p>
          <a:p>
            <a:pPr marL="0" lvl="0" indent="0" algn="l" rtl="0">
              <a:lnSpc>
                <a:spcPct val="107000"/>
              </a:lnSpc>
              <a:spcBef>
                <a:spcPts val="800"/>
              </a:spcBef>
              <a:spcAft>
                <a:spcPts val="0"/>
              </a:spcAft>
              <a:buSzPts val="1800"/>
              <a:buNone/>
            </a:pPr>
            <a:endParaRPr sz="1800">
              <a:latin typeface="Calibri"/>
              <a:ea typeface="Calibri"/>
              <a:cs typeface="Calibri"/>
              <a:sym typeface="Calibri"/>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Dengan kata lain, int dan long adalah wadah untuk data bilangan bulat, tetapi ukuran wadahnya berbeda. Tipe long dapat menampung rentang angka yang lebih besar. Jadi saya mengubah kodenya menjadi long billKekayaan = 7000000000;. Kesalahan mungkin tidak akan hilang. Untuk membedakan antara int dan bilangan panjang, Java akan selalu mengenali int jika bilangannya kecil. Jika angka </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tersebut adalah tipe long, maka harus diawali dengan huruf besar L atau huruf kecil l setelah angka </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tersebut.</a:t>
            </a:r>
            <a:endParaRPr/>
          </a:p>
          <a:p>
            <a:pPr marL="0" lvl="0" indent="0" algn="l" rtl="0">
              <a:lnSpc>
                <a:spcPct val="107000"/>
              </a:lnSpc>
              <a:spcBef>
                <a:spcPts val="800"/>
              </a:spcBef>
              <a:spcAft>
                <a:spcPts val="0"/>
              </a:spcAft>
              <a:buSzPts val="1800"/>
              <a:buNone/>
            </a:pPr>
            <a:endParaRPr>
              <a:latin typeface="Calibri"/>
              <a:ea typeface="Calibri"/>
              <a:cs typeface="Calibri"/>
              <a:sym typeface="Calibri"/>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3. Anda ingin menyimpan data keliling. Tidak seperti data yang telah kita simpan sebelumnya, keliling adalah sebuah bilangan riil yang berisi titik desimal. Anda tidak dapat menyimpan data real sebagai int atau long. Pastikan Anda menggunakan double, yang dapat menyimpan data real.</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4. Selain angka, Java mendefinisikan tipe data logika, boolean, yang dapat menyimpan nilai benar atau salah. Nilainya hanya bisa benar atau salah</a:t>
            </a:r>
            <a:endParaRPr/>
          </a:p>
          <a:p>
            <a:pPr marL="0" lvl="0" indent="0" algn="l" rtl="0">
              <a:lnSpc>
                <a:spcPct val="100000"/>
              </a:lnSpc>
              <a:spcBef>
                <a:spcPts val="800"/>
              </a:spcBef>
              <a:spcAft>
                <a:spcPts val="0"/>
              </a:spcAft>
              <a:buSzPts val="1400"/>
              <a:buNone/>
            </a:pPr>
            <a:endParaRPr>
              <a:latin typeface="Calibri"/>
              <a:ea typeface="Calibri"/>
              <a:cs typeface="Calibri"/>
              <a:sym typeface="Calibri"/>
            </a:endParaRPr>
          </a:p>
        </p:txBody>
      </p:sp>
      <p:sp>
        <p:nvSpPr>
          <p:cNvPr id="414" name="Google Shape;414;p26: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pic>
        <p:nvPicPr>
          <p:cNvPr id="415" name="Google Shape;415;p26:notes"/>
          <p:cNvPicPr preferRelativeResize="0"/>
          <p:nvPr/>
        </p:nvPicPr>
        <p:blipFill rotWithShape="1">
          <a:blip r:embed="rId3">
            <a:alphaModFix/>
          </a:blip>
          <a:srcRect/>
          <a:stretch/>
        </p:blipFill>
        <p:spPr>
          <a:xfrm>
            <a:off x="1566862" y="7118350"/>
            <a:ext cx="3968750" cy="595312"/>
          </a:xfrm>
          <a:prstGeom prst="rect">
            <a:avLst/>
          </a:prstGeom>
          <a:noFill/>
          <a:ln w="19050" cap="flat" cmpd="sng">
            <a:solidFill>
              <a:srgbClr val="000000"/>
            </a:solidFill>
            <a:prstDash val="solid"/>
            <a:miter lim="800000"/>
            <a:headEnd type="none" w="sm" len="sm"/>
            <a:tailEnd type="none" w="sm" len="sm"/>
          </a:ln>
        </p:spPr>
      </p:pic>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47: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41" name="Google Shape;641;p47: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lnSpc>
                <a:spcPct val="100000"/>
              </a:lnSpc>
              <a:spcBef>
                <a:spcPts val="0"/>
              </a:spcBef>
              <a:spcAft>
                <a:spcPts val="0"/>
              </a:spcAft>
              <a:buSzPts val="1400"/>
              <a:buNone/>
            </a:pPr>
            <a:endParaRPr/>
          </a:p>
        </p:txBody>
      </p:sp>
      <p:sp>
        <p:nvSpPr>
          <p:cNvPr id="642" name="Google Shape;642;p47: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51: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01" name="Google Shape;701;p5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lnSpc>
                <a:spcPct val="107000"/>
              </a:lnSpc>
              <a:spcBef>
                <a:spcPts val="0"/>
              </a:spcBef>
              <a:spcAft>
                <a:spcPts val="0"/>
              </a:spcAft>
              <a:buSzPts val="1800"/>
              <a:buFont typeface="Calibri"/>
              <a:buNone/>
            </a:pPr>
            <a:r>
              <a:rPr lang="en-US">
                <a:latin typeface="Calibri"/>
                <a:ea typeface="Calibri"/>
                <a:cs typeface="Calibri"/>
                <a:sym typeface="Calibri"/>
              </a:rPr>
              <a:t>Tanda + biasanya berarti penjumlahan di antara angka-angka.</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Jadi, kita semua tahu bahwa 10 + 10 = 20.</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Namun, apa yang terjadi jika Anda menambahkan dua string "Hong Gil-dong" dan "Education Team"? "Hong Gil-dong" dan "Tim Pendidikan" bukanlah angka, jadi bagaimana kita bisa menjumlahkannya?</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Saat Anda menambahkan string, Anda hanya menggabungkannya.</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Artinya, "Hong Gil-dong" + "Tim Pendidikan" = "Tim Pendidikan Hong Gil-dong".</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Jadi, perhatikan hasil dari kode berikut ini</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String perusahaan = "LG CNS";</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String posisi = "Karyawan baru";</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int jumlah1 = 15;</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int jumlah2 = 20;</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System.out.println( perusahaan + posisi ); // Hasil eksekusi: Karyawan baru LG CNS</a:t>
            </a:r>
            <a:endParaRPr/>
          </a:p>
          <a:p>
            <a:pPr marL="0" lvl="0" indent="0" algn="l" rtl="0">
              <a:lnSpc>
                <a:spcPct val="107000"/>
              </a:lnSpc>
              <a:spcBef>
                <a:spcPts val="800"/>
              </a:spcBef>
              <a:spcAft>
                <a:spcPts val="0"/>
              </a:spcAft>
              <a:buSzPts val="1800"/>
              <a:buFont typeface="Calibri"/>
              <a:buNone/>
            </a:pPr>
            <a:r>
              <a:rPr lang="en-US">
                <a:latin typeface="Calibri"/>
                <a:ea typeface="Calibri"/>
                <a:cs typeface="Calibri"/>
                <a:sym typeface="Calibri"/>
              </a:rPr>
              <a:t>System.out.println( jumlah1 + jumlah2 ); // Hasil eksekusi : 35</a:t>
            </a:r>
            <a:endParaRPr/>
          </a:p>
          <a:p>
            <a:pPr marL="0" lvl="0" indent="0" algn="l" rtl="0">
              <a:lnSpc>
                <a:spcPct val="100000"/>
              </a:lnSpc>
              <a:spcBef>
                <a:spcPts val="800"/>
              </a:spcBef>
              <a:spcAft>
                <a:spcPts val="0"/>
              </a:spcAft>
              <a:buSzPts val="1400"/>
              <a:buNone/>
            </a:pPr>
            <a:endParaRPr>
              <a:latin typeface="Calibri"/>
              <a:ea typeface="Calibri"/>
              <a:cs typeface="Calibri"/>
              <a:sym typeface="Calibri"/>
            </a:endParaRPr>
          </a:p>
        </p:txBody>
      </p:sp>
      <p:sp>
        <p:nvSpPr>
          <p:cNvPr id="702" name="Google Shape;702;p5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슬라이드 이미지 개체 틀 1">
            <a:extLst>
              <a:ext uri="{FF2B5EF4-FFF2-40B4-BE49-F238E27FC236}">
                <a16:creationId xmlns:a16="http://schemas.microsoft.com/office/drawing/2014/main" id="{F575A9B0-7EF2-960A-D893-F04BE4B31E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슬라이드 노트 개체 틀 2">
            <a:extLst>
              <a:ext uri="{FF2B5EF4-FFF2-40B4-BE49-F238E27FC236}">
                <a16:creationId xmlns:a16="http://schemas.microsoft.com/office/drawing/2014/main" id="{3B545D27-C48C-A7B1-42AC-3EA58D72FD12}"/>
              </a:ext>
            </a:extLst>
          </p:cNvPr>
          <p:cNvSpPr>
            <a:spLocks noGrp="1"/>
          </p:cNvSpPr>
          <p:nvPr>
            <p:ph type="body" idx="1"/>
          </p:nvPr>
        </p:nvSpPr>
        <p:spPr bwMode="auto">
          <a:xfrm>
            <a:off x="311150" y="5600700"/>
            <a:ext cx="6573838" cy="4133850"/>
          </a:xfrm>
        </p:spPr>
        <p:txBody>
          <a:bodyPr wrap="square" numCol="1" anchor="t" anchorCtr="0" compatLnSpc="1">
            <a:prstTxWarp prst="textNoShape">
              <a:avLst/>
            </a:prstTxWarp>
          </a:bodyPr>
          <a:lstStyle/>
          <a:p>
            <a:pPr>
              <a:lnSpc>
                <a:spcPct val="107000"/>
              </a:lnSpc>
              <a:spcAft>
                <a:spcPts val="800"/>
              </a:spcAft>
              <a:defRPr/>
            </a:pPr>
            <a:r>
              <a:rPr lang="en-ID" sz="1800" kern="100">
                <a:latin typeface="Calibri" panose="020F0502020204030204" pitchFamily="34" charset="0"/>
                <a:ea typeface="Malgun Gothic" panose="020B0503020000020004" pitchFamily="34" charset="-127"/>
                <a:cs typeface="Times New Roman" panose="02020603050405020304" pitchFamily="18" charset="0"/>
              </a:rPr>
              <a:t>Operator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aritmatika</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adalah</a:t>
            </a:r>
            <a:r>
              <a:rPr lang="en-ID" sz="1800" kern="100">
                <a:latin typeface="Calibri" panose="020F0502020204030204" pitchFamily="34" charset="0"/>
                <a:ea typeface="Malgun Gothic" panose="020B0503020000020004" pitchFamily="34" charset="-127"/>
                <a:cs typeface="Times New Roman" panose="02020603050405020304" pitchFamily="18" charset="0"/>
              </a:rPr>
              <a:t> operator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penjumlahan</a:t>
            </a:r>
            <a:r>
              <a:rPr lang="en-ID" sz="1800" kern="100">
                <a:latin typeface="Calibri" panose="020F0502020204030204" pitchFamily="34" charset="0"/>
                <a:ea typeface="Malgun Gothic" panose="020B0503020000020004" pitchFamily="34" charset="-127"/>
                <a:cs typeface="Times New Roman" panose="02020603050405020304" pitchFamily="18" charset="0"/>
              </a:rPr>
              <a:t>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pengurangan</a:t>
            </a:r>
            <a:r>
              <a:rPr lang="en-ID" sz="1800" kern="100">
                <a:latin typeface="Calibri" panose="020F0502020204030204" pitchFamily="34" charset="0"/>
                <a:ea typeface="Malgun Gothic" panose="020B0503020000020004" pitchFamily="34" charset="-127"/>
                <a:cs typeface="Times New Roman" panose="02020603050405020304" pitchFamily="18" charset="0"/>
              </a:rPr>
              <a:t>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perkalian</a:t>
            </a:r>
            <a:r>
              <a:rPr lang="en-ID" sz="1800" kern="100">
                <a:latin typeface="Calibri" panose="020F0502020204030204" pitchFamily="34" charset="0"/>
                <a:ea typeface="Malgun Gothic" panose="020B0503020000020004" pitchFamily="34" charset="-127"/>
                <a:cs typeface="Times New Roman" panose="02020603050405020304" pitchFamily="18" charset="0"/>
              </a:rPr>
              <a:t>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pembagian</a:t>
            </a:r>
            <a:r>
              <a:rPr lang="en-ID" sz="1800" kern="100">
                <a:latin typeface="Calibri" panose="020F0502020204030204" pitchFamily="34" charset="0"/>
                <a:ea typeface="Malgun Gothic" panose="020B0503020000020004" pitchFamily="34" charset="-127"/>
                <a:cs typeface="Times New Roman" panose="02020603050405020304" pitchFamily="18" charset="0"/>
              </a:rPr>
              <a:t> (/), dan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sisa</a:t>
            </a:r>
            <a:r>
              <a:rPr lang="en-ID" sz="1800" kern="100">
                <a:latin typeface="Calibri" panose="020F0502020204030204" pitchFamily="34" charset="0"/>
                <a:ea typeface="Malgun Gothic" panose="020B0503020000020004" pitchFamily="34" charset="-127"/>
                <a:cs typeface="Times New Roman" panose="02020603050405020304" pitchFamily="18" charset="0"/>
              </a:rPr>
              <a:t>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Fungsi</a:t>
            </a:r>
            <a:r>
              <a:rPr lang="en-ID" sz="1800" kern="100">
                <a:latin typeface="Calibri" panose="020F0502020204030204" pitchFamily="34" charset="0"/>
                <a:ea typeface="Malgun Gothic" panose="020B0503020000020004" pitchFamily="34" charset="-127"/>
                <a:cs typeface="Times New Roman" panose="02020603050405020304" pitchFamily="18" charset="0"/>
              </a:rPr>
              <a:t> operator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ini</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sama</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dengan</a:t>
            </a:r>
            <a:r>
              <a:rPr lang="en-ID" sz="1800" kern="100">
                <a:latin typeface="Calibri" panose="020F0502020204030204" pitchFamily="34" charset="0"/>
                <a:ea typeface="Malgun Gothic" panose="020B0503020000020004" pitchFamily="34" charset="-127"/>
                <a:cs typeface="Times New Roman" panose="02020603050405020304" pitchFamily="18" charset="0"/>
              </a:rPr>
              <a:t> yang Anda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pelajari</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dalam</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matematika</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tetapi</a:t>
            </a:r>
            <a:r>
              <a:rPr lang="en-ID" sz="1800" kern="100">
                <a:latin typeface="Calibri" panose="020F0502020204030204" pitchFamily="34" charset="0"/>
                <a:ea typeface="Malgun Gothic" panose="020B0503020000020004" pitchFamily="34" charset="-127"/>
                <a:cs typeface="Times New Roman" panose="02020603050405020304" pitchFamily="18" charset="0"/>
              </a:rPr>
              <a:t> operator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sisa</a:t>
            </a:r>
            <a:r>
              <a:rPr lang="en-ID" sz="1800" kern="100">
                <a:latin typeface="Calibri" panose="020F0502020204030204" pitchFamily="34" charset="0"/>
                <a:ea typeface="Malgun Gothic" panose="020B0503020000020004" pitchFamily="34" charset="-127"/>
                <a:cs typeface="Times New Roman" panose="02020603050405020304" pitchFamily="18" charset="0"/>
              </a:rPr>
              <a:t>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mungkin</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sedikit</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asing</a:t>
            </a:r>
            <a:r>
              <a:rPr lang="en-ID" sz="1800" kern="100">
                <a:latin typeface="Calibri" panose="020F0502020204030204" pitchFamily="34" charset="0"/>
                <a:ea typeface="Malgun Gothic" panose="020B0503020000020004" pitchFamily="34" charset="-127"/>
                <a:cs typeface="Times New Roman" panose="02020603050405020304" pitchFamily="18" charset="0"/>
              </a:rPr>
              <a:t>.</a:t>
            </a:r>
          </a:p>
          <a:p>
            <a:pPr>
              <a:lnSpc>
                <a:spcPct val="107000"/>
              </a:lnSpc>
              <a:spcAft>
                <a:spcPts val="800"/>
              </a:spcAft>
              <a:defRPr/>
            </a:pPr>
            <a:endParaRPr lang="en-US"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a:latin typeface="Calibri" panose="020F0502020204030204" pitchFamily="34" charset="0"/>
                <a:ea typeface="Malgun Gothic" panose="020B0503020000020004" pitchFamily="34" charset="-127"/>
                <a:cs typeface="Times New Roman" panose="02020603050405020304" pitchFamily="18" charset="0"/>
              </a:rPr>
              <a:t>Operator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sisa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memberikan</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sisa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dari</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operan</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pertama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ketika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dibagi</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dengan</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operan</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kedua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Misalnya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nilai</a:t>
            </a:r>
            <a:r>
              <a:rPr lang="en-US" sz="1800" kern="100">
                <a:latin typeface="Calibri" panose="020F0502020204030204" pitchFamily="34" charset="0"/>
                <a:ea typeface="Malgun Gothic" panose="020B0503020000020004" pitchFamily="34" charset="-127"/>
                <a:cs typeface="Times New Roman" panose="02020603050405020304" pitchFamily="18" charset="0"/>
              </a:rPr>
              <a:t> 7% 5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adalah</a:t>
            </a:r>
            <a:r>
              <a:rPr lang="en-US" sz="1800" kern="100">
                <a:latin typeface="Calibri" panose="020F0502020204030204" pitchFamily="34" charset="0"/>
                <a:ea typeface="Malgun Gothic" panose="020B0503020000020004" pitchFamily="34" charset="-127"/>
                <a:cs typeface="Times New Roman" panose="02020603050405020304" pitchFamily="18" charset="0"/>
              </a:rPr>
              <a:t> 2.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Artinya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ketika</a:t>
            </a:r>
            <a:r>
              <a:rPr lang="en-US" sz="1800" kern="100">
                <a:latin typeface="Calibri" panose="020F0502020204030204" pitchFamily="34" charset="0"/>
                <a:ea typeface="Malgun Gothic" panose="020B0503020000020004" pitchFamily="34" charset="-127"/>
                <a:cs typeface="Times New Roman" panose="02020603050405020304" pitchFamily="18" charset="0"/>
              </a:rPr>
              <a:t> 7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dibagi</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dengan</a:t>
            </a:r>
            <a:r>
              <a:rPr lang="en-US" sz="1800" kern="100">
                <a:latin typeface="Calibri" panose="020F0502020204030204" pitchFamily="34" charset="0"/>
                <a:ea typeface="Malgun Gothic" panose="020B0503020000020004" pitchFamily="34" charset="-127"/>
                <a:cs typeface="Times New Roman" panose="02020603050405020304" pitchFamily="18" charset="0"/>
              </a:rPr>
              <a:t> 5,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hasil</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baginya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adalah</a:t>
            </a:r>
            <a:r>
              <a:rPr lang="en-US" sz="1800" kern="100">
                <a:latin typeface="Calibri" panose="020F0502020204030204" pitchFamily="34" charset="0"/>
                <a:ea typeface="Malgun Gothic" panose="020B0503020000020004" pitchFamily="34" charset="-127"/>
                <a:cs typeface="Times New Roman" panose="02020603050405020304" pitchFamily="18" charset="0"/>
              </a:rPr>
              <a:t> 1 dan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sisanya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adalah</a:t>
            </a:r>
            <a:r>
              <a:rPr lang="en-US" sz="1800" kern="100">
                <a:latin typeface="Calibri" panose="020F0502020204030204" pitchFamily="34" charset="0"/>
                <a:ea typeface="Malgun Gothic" panose="020B0503020000020004" pitchFamily="34" charset="-127"/>
                <a:cs typeface="Times New Roman" panose="02020603050405020304" pitchFamily="18" charset="0"/>
              </a:rPr>
              <a:t> 2,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sehingga</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hasil</a:t>
            </a:r>
            <a:r>
              <a:rPr lang="en-US"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dari</a:t>
            </a:r>
            <a:r>
              <a:rPr lang="en-US" sz="1800" kern="100">
                <a:latin typeface="Calibri" panose="020F0502020204030204" pitchFamily="34" charset="0"/>
                <a:ea typeface="Malgun Gothic" panose="020B0503020000020004" pitchFamily="34" charset="-127"/>
                <a:cs typeface="Times New Roman" panose="02020603050405020304" pitchFamily="18" charset="0"/>
              </a:rPr>
              <a:t> 7 % 5 </a:t>
            </a:r>
            <a:r>
              <a:rPr lang="en-US" sz="1800" kern="100" err="1">
                <a:latin typeface="Calibri" panose="020F0502020204030204" pitchFamily="34" charset="0"/>
                <a:ea typeface="Malgun Gothic" panose="020B0503020000020004" pitchFamily="34" charset="-127"/>
                <a:cs typeface="Times New Roman" panose="02020603050405020304" pitchFamily="18" charset="0"/>
              </a:rPr>
              <a:t>adalah</a:t>
            </a:r>
            <a:r>
              <a:rPr lang="en-US" sz="1800" kern="100">
                <a:latin typeface="Calibri" panose="020F0502020204030204" pitchFamily="34" charset="0"/>
                <a:ea typeface="Malgun Gothic" panose="020B0503020000020004" pitchFamily="34" charset="-127"/>
                <a:cs typeface="Times New Roman" panose="02020603050405020304" pitchFamily="18" charset="0"/>
              </a:rPr>
              <a:t> 2.</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defRPr/>
            </a:pPr>
            <a:endParaRPr lang="en-US" altLang="ko-KR"/>
          </a:p>
          <a:p>
            <a:pPr>
              <a:defRPr/>
            </a:pPr>
            <a:endParaRPr lang="en-US" altLang="ko-KR"/>
          </a:p>
          <a:p>
            <a:pPr>
              <a:defRPr/>
            </a:pPr>
            <a:endParaRPr lang="en-US" altLang="ko-KR"/>
          </a:p>
          <a:p>
            <a:pPr>
              <a:defRPr/>
            </a:pPr>
            <a:endParaRPr lang="en-US" altLang="ko-KR"/>
          </a:p>
          <a:p>
            <a:pPr>
              <a:defRPr/>
            </a:pPr>
            <a:endParaRPr lang="en-US" altLang="ko-KR"/>
          </a:p>
          <a:p>
            <a:pPr>
              <a:defRPr/>
            </a:pPr>
            <a:endParaRPr lang="en-US" altLang="ko-KR" sz="400"/>
          </a:p>
          <a:p>
            <a:pPr>
              <a:lnSpc>
                <a:spcPct val="107000"/>
              </a:lnSpc>
              <a:spcAft>
                <a:spcPts val="800"/>
              </a:spcAft>
              <a:defRPr/>
            </a:pPr>
            <a:r>
              <a:rPr lang="en-US" sz="1800" b="1" kern="100">
                <a:latin typeface="Calibri" panose="020F0502020204030204" pitchFamily="34" charset="0"/>
                <a:ea typeface="Malgun Gothic" panose="020B0503020000020004" pitchFamily="34" charset="-127"/>
                <a:cs typeface="Times New Roman" panose="02020603050405020304" pitchFamily="18" charset="0"/>
              </a:rPr>
              <a:t>&lt;&lt; </a:t>
            </a:r>
            <a:r>
              <a:rPr lang="en-ID" sz="1800" b="1" kern="100" err="1">
                <a:latin typeface="Calibri" panose="020F0502020204030204" pitchFamily="34" charset="0"/>
                <a:ea typeface="Malgun Gothic" panose="020B0503020000020004" pitchFamily="34" charset="-127"/>
                <a:cs typeface="Times New Roman" panose="02020603050405020304" pitchFamily="18" charset="0"/>
              </a:rPr>
              <a:t>Contoh</a:t>
            </a:r>
            <a:r>
              <a:rPr lang="en-ID" sz="1800" b="1" kern="100">
                <a:latin typeface="Calibri" panose="020F0502020204030204" pitchFamily="34" charset="0"/>
                <a:ea typeface="Malgun Gothic" panose="020B0503020000020004" pitchFamily="34" charset="-127"/>
                <a:cs typeface="Times New Roman" panose="02020603050405020304" pitchFamily="18" charset="0"/>
              </a:rPr>
              <a:t> </a:t>
            </a:r>
            <a:r>
              <a:rPr lang="en-US" sz="1800" b="1" kern="100">
                <a:latin typeface="Calibri" panose="020F0502020204030204" pitchFamily="34" charset="0"/>
                <a:ea typeface="Malgun Gothic" panose="020B0503020000020004" pitchFamily="34" charset="-127"/>
                <a:cs typeface="Times New Roman" panose="02020603050405020304" pitchFamily="18" charset="0"/>
              </a:rPr>
              <a:t>&gt;&gt;</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a:latin typeface="Calibri" panose="020F0502020204030204" pitchFamily="34" charset="0"/>
                <a:ea typeface="Malgun Gothic" panose="020B0503020000020004" pitchFamily="34" charset="-127"/>
                <a:cs typeface="Times New Roman" panose="02020603050405020304" pitchFamily="18" charset="0"/>
              </a:rPr>
              <a:t>int number1 = 10;</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a:latin typeface="Calibri" panose="020F0502020204030204" pitchFamily="34" charset="0"/>
                <a:ea typeface="Malgun Gothic" panose="020B0503020000020004" pitchFamily="34" charset="-127"/>
                <a:cs typeface="Times New Roman" panose="02020603050405020304" pitchFamily="18" charset="0"/>
              </a:rPr>
              <a:t>int number2 = 3;</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err="1">
                <a:latin typeface="Calibri" panose="020F0502020204030204" pitchFamily="34" charset="0"/>
                <a:ea typeface="Malgun Gothic" panose="020B0503020000020004" pitchFamily="34" charset="-127"/>
                <a:cs typeface="Times New Roman" panose="02020603050405020304" pitchFamily="18" charset="0"/>
              </a:rPr>
              <a:t>System.out.println</a:t>
            </a:r>
            <a:r>
              <a:rPr lang="en-US" sz="1800" kern="100">
                <a:latin typeface="Calibri" panose="020F0502020204030204" pitchFamily="34" charset="0"/>
                <a:ea typeface="Malgun Gothic" panose="020B0503020000020004" pitchFamily="34" charset="-127"/>
                <a:cs typeface="Times New Roman" panose="02020603050405020304" pitchFamily="18" charset="0"/>
              </a:rPr>
              <a:t>( number1 + number2 );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hasil</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nilai</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a:latin typeface="Calibri" panose="020F0502020204030204" pitchFamily="34" charset="0"/>
                <a:ea typeface="Malgun Gothic" panose="020B0503020000020004" pitchFamily="34" charset="-127"/>
                <a:cs typeface="Times New Roman" panose="02020603050405020304" pitchFamily="18" charset="0"/>
              </a:rPr>
              <a:t>: 13</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err="1">
                <a:latin typeface="Calibri" panose="020F0502020204030204" pitchFamily="34" charset="0"/>
                <a:ea typeface="Malgun Gothic" panose="020B0503020000020004" pitchFamily="34" charset="-127"/>
                <a:cs typeface="Times New Roman" panose="02020603050405020304" pitchFamily="18" charset="0"/>
              </a:rPr>
              <a:t>System.out.println</a:t>
            </a:r>
            <a:r>
              <a:rPr lang="en-US" sz="1800" kern="100">
                <a:latin typeface="Calibri" panose="020F0502020204030204" pitchFamily="34" charset="0"/>
                <a:ea typeface="Malgun Gothic" panose="020B0503020000020004" pitchFamily="34" charset="-127"/>
                <a:cs typeface="Times New Roman" panose="02020603050405020304" pitchFamily="18" charset="0"/>
              </a:rPr>
              <a:t>( number1 - number2 );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hasil</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nilai</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a:latin typeface="Calibri" panose="020F0502020204030204" pitchFamily="34" charset="0"/>
                <a:ea typeface="Malgun Gothic" panose="020B0503020000020004" pitchFamily="34" charset="-127"/>
                <a:cs typeface="Times New Roman" panose="02020603050405020304" pitchFamily="18" charset="0"/>
              </a:rPr>
              <a:t>: 7</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err="1">
                <a:latin typeface="Calibri" panose="020F0502020204030204" pitchFamily="34" charset="0"/>
                <a:ea typeface="Malgun Gothic" panose="020B0503020000020004" pitchFamily="34" charset="-127"/>
                <a:cs typeface="Times New Roman" panose="02020603050405020304" pitchFamily="18" charset="0"/>
              </a:rPr>
              <a:t>System.out.println</a:t>
            </a:r>
            <a:r>
              <a:rPr lang="en-US" sz="1800" kern="100">
                <a:latin typeface="Calibri" panose="020F0502020204030204" pitchFamily="34" charset="0"/>
                <a:ea typeface="Malgun Gothic" panose="020B0503020000020004" pitchFamily="34" charset="-127"/>
                <a:cs typeface="Times New Roman" panose="02020603050405020304" pitchFamily="18" charset="0"/>
              </a:rPr>
              <a:t>( number1 * number2 );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hasil</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nilai</a:t>
            </a:r>
            <a:r>
              <a:rPr lang="en-US" sz="1800" kern="100">
                <a:latin typeface="Calibri" panose="020F0502020204030204" pitchFamily="34" charset="0"/>
                <a:ea typeface="Malgun Gothic" panose="020B0503020000020004" pitchFamily="34" charset="-127"/>
                <a:cs typeface="Times New Roman" panose="02020603050405020304" pitchFamily="18" charset="0"/>
              </a:rPr>
              <a:t>: 30</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err="1">
                <a:latin typeface="Calibri" panose="020F0502020204030204" pitchFamily="34" charset="0"/>
                <a:ea typeface="Malgun Gothic" panose="020B0503020000020004" pitchFamily="34" charset="-127"/>
                <a:cs typeface="Times New Roman" panose="02020603050405020304" pitchFamily="18" charset="0"/>
              </a:rPr>
              <a:t>System.out.println</a:t>
            </a:r>
            <a:r>
              <a:rPr lang="en-US" sz="1800" kern="100">
                <a:latin typeface="Calibri" panose="020F0502020204030204" pitchFamily="34" charset="0"/>
                <a:ea typeface="Malgun Gothic" panose="020B0503020000020004" pitchFamily="34" charset="-127"/>
                <a:cs typeface="Times New Roman" panose="02020603050405020304" pitchFamily="18" charset="0"/>
              </a:rPr>
              <a:t>( number1 / number2 );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hasil</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nilai</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a:latin typeface="Calibri" panose="020F0502020204030204" pitchFamily="34" charset="0"/>
                <a:ea typeface="Malgun Gothic" panose="020B0503020000020004" pitchFamily="34" charset="-127"/>
                <a:cs typeface="Times New Roman" panose="02020603050405020304" pitchFamily="18" charset="0"/>
              </a:rPr>
              <a:t>: 3</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a:p>
            <a:pPr>
              <a:lnSpc>
                <a:spcPct val="107000"/>
              </a:lnSpc>
              <a:spcAft>
                <a:spcPts val="800"/>
              </a:spcAft>
              <a:defRPr/>
            </a:pPr>
            <a:r>
              <a:rPr lang="en-US" sz="1800" kern="100" err="1">
                <a:latin typeface="Calibri" panose="020F0502020204030204" pitchFamily="34" charset="0"/>
                <a:ea typeface="Malgun Gothic" panose="020B0503020000020004" pitchFamily="34" charset="-127"/>
                <a:cs typeface="Times New Roman" panose="02020603050405020304" pitchFamily="18" charset="0"/>
              </a:rPr>
              <a:t>System.out.println</a:t>
            </a:r>
            <a:r>
              <a:rPr lang="en-US" sz="1800" kern="100">
                <a:latin typeface="Calibri" panose="020F0502020204030204" pitchFamily="34" charset="0"/>
                <a:ea typeface="Malgun Gothic" panose="020B0503020000020004" pitchFamily="34" charset="-127"/>
                <a:cs typeface="Times New Roman" panose="02020603050405020304" pitchFamily="18" charset="0"/>
              </a:rPr>
              <a:t>( number1 % number2 );	//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hasil</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ID" sz="1800" kern="100" err="1">
                <a:latin typeface="Calibri" panose="020F0502020204030204" pitchFamily="34" charset="0"/>
                <a:ea typeface="Malgun Gothic" panose="020B0503020000020004" pitchFamily="34" charset="-127"/>
                <a:cs typeface="Times New Roman" panose="02020603050405020304" pitchFamily="18" charset="0"/>
              </a:rPr>
              <a:t>nilai</a:t>
            </a:r>
            <a:r>
              <a:rPr lang="en-ID" sz="1800" kern="100">
                <a:latin typeface="Calibri" panose="020F0502020204030204" pitchFamily="34" charset="0"/>
                <a:ea typeface="Malgun Gothic" panose="020B0503020000020004" pitchFamily="34" charset="-127"/>
                <a:cs typeface="Times New Roman" panose="02020603050405020304" pitchFamily="18" charset="0"/>
              </a:rPr>
              <a:t> </a:t>
            </a:r>
            <a:r>
              <a:rPr lang="en-US" sz="1800" kern="100">
                <a:latin typeface="Calibri" panose="020F0502020204030204" pitchFamily="34" charset="0"/>
                <a:ea typeface="Malgun Gothic" panose="020B0503020000020004" pitchFamily="34" charset="-127"/>
                <a:cs typeface="Times New Roman" panose="02020603050405020304" pitchFamily="18" charset="0"/>
              </a:rPr>
              <a:t>: 1</a:t>
            </a:r>
            <a:endParaRPr lang="en-ID" sz="1800" kern="100">
              <a:latin typeface="Calibri" panose="020F0502020204030204" pitchFamily="34" charset="0"/>
              <a:ea typeface="Malgun Gothic" panose="020B0503020000020004" pitchFamily="34" charset="-127"/>
              <a:cs typeface="Times New Roman" panose="02020603050405020304" pitchFamily="18" charset="0"/>
            </a:endParaRPr>
          </a:p>
        </p:txBody>
      </p:sp>
      <p:sp>
        <p:nvSpPr>
          <p:cNvPr id="29700" name="슬라이드 번호 개체 틀 3">
            <a:extLst>
              <a:ext uri="{FF2B5EF4-FFF2-40B4-BE49-F238E27FC236}">
                <a16:creationId xmlns:a16="http://schemas.microsoft.com/office/drawing/2014/main" id="{C1F4EBD5-1D37-7A9E-4701-94CC556E9A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ts val="563"/>
              </a:spcAft>
              <a:defRPr sz="900">
                <a:solidFill>
                  <a:schemeClr val="tx1"/>
                </a:solidFill>
                <a:latin typeface="LG스마트체2.0 Regular" panose="020B0600000101010101" pitchFamily="50" charset="-127"/>
                <a:ea typeface="LG스마트체2.0 Regular" panose="020B0600000101010101" pitchFamily="50" charset="-127"/>
              </a:defRPr>
            </a:lvl1pPr>
            <a:lvl2pPr marL="742950" indent="-28575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2pPr>
            <a:lvl3pPr marL="11430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3pPr>
            <a:lvl4pPr marL="16002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4pPr>
            <a:lvl5pPr marL="20574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5pPr>
            <a:lvl6pPr marL="25146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6pPr>
            <a:lvl7pPr marL="29718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7pPr>
            <a:lvl8pPr marL="34290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8pPr>
            <a:lvl9pPr marL="38862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9pPr>
          </a:lstStyle>
          <a:p>
            <a:pPr>
              <a:spcAft>
                <a:spcPct val="0"/>
              </a:spcAft>
            </a:pPr>
            <a:fld id="{F7250278-895F-E14D-A31D-FEB8C09DCEE1}" type="slidenum">
              <a:rPr lang="ko-KR" altLang="en-US" sz="1000" smtClean="0">
                <a:latin typeface="나눔고딕코딩" pitchFamily="49" charset="-127"/>
                <a:ea typeface="나눔고딕코딩" pitchFamily="49" charset="-127"/>
              </a:rPr>
              <a:pPr>
                <a:spcAft>
                  <a:spcPct val="0"/>
                </a:spcAft>
              </a:pPr>
              <a:t>25</a:t>
            </a:fld>
            <a:endParaRPr lang="ko-KR" altLang="en-US" sz="1000">
              <a:latin typeface="나눔고딕코딩" pitchFamily="49" charset="-127"/>
              <a:ea typeface="나눔고딕코딩" pitchFamily="49" charset="-127"/>
            </a:endParaRPr>
          </a:p>
        </p:txBody>
      </p:sp>
      <p:grpSp>
        <p:nvGrpSpPr>
          <p:cNvPr id="29701" name="그룹 29">
            <a:extLst>
              <a:ext uri="{FF2B5EF4-FFF2-40B4-BE49-F238E27FC236}">
                <a16:creationId xmlns:a16="http://schemas.microsoft.com/office/drawing/2014/main" id="{5AFC3A9B-7C45-5E7D-2EA8-7520F3EB5682}"/>
              </a:ext>
            </a:extLst>
          </p:cNvPr>
          <p:cNvGrpSpPr>
            <a:grpSpLocks/>
          </p:cNvGrpSpPr>
          <p:nvPr/>
        </p:nvGrpSpPr>
        <p:grpSpPr bwMode="auto">
          <a:xfrm>
            <a:off x="2263775" y="6640513"/>
            <a:ext cx="1587500" cy="1165225"/>
            <a:chOff x="4595892" y="6474901"/>
            <a:chExt cx="1587515" cy="1165928"/>
          </a:xfrm>
        </p:grpSpPr>
        <p:grpSp>
          <p:nvGrpSpPr>
            <p:cNvPr id="29702" name="그룹 28">
              <a:extLst>
                <a:ext uri="{FF2B5EF4-FFF2-40B4-BE49-F238E27FC236}">
                  <a16:creationId xmlns:a16="http://schemas.microsoft.com/office/drawing/2014/main" id="{382EC8F3-3C30-1746-1D89-46C7D3B85E54}"/>
                </a:ext>
              </a:extLst>
            </p:cNvPr>
            <p:cNvGrpSpPr>
              <a:grpSpLocks/>
            </p:cNvGrpSpPr>
            <p:nvPr/>
          </p:nvGrpSpPr>
          <p:grpSpPr bwMode="auto">
            <a:xfrm>
              <a:off x="4595892" y="6474901"/>
              <a:ext cx="716638" cy="1165928"/>
              <a:chOff x="4595892" y="6474901"/>
              <a:chExt cx="716638" cy="1165928"/>
            </a:xfrm>
          </p:grpSpPr>
          <p:grpSp>
            <p:nvGrpSpPr>
              <p:cNvPr id="29707" name="그룹 8">
                <a:extLst>
                  <a:ext uri="{FF2B5EF4-FFF2-40B4-BE49-F238E27FC236}">
                    <a16:creationId xmlns:a16="http://schemas.microsoft.com/office/drawing/2014/main" id="{56640E26-971C-11B9-2809-665B9995B3A6}"/>
                  </a:ext>
                </a:extLst>
              </p:cNvPr>
              <p:cNvGrpSpPr>
                <a:grpSpLocks/>
              </p:cNvGrpSpPr>
              <p:nvPr/>
            </p:nvGrpSpPr>
            <p:grpSpPr bwMode="auto">
              <a:xfrm>
                <a:off x="4826001" y="6802892"/>
                <a:ext cx="486529" cy="292100"/>
                <a:chOff x="4514850" y="6978650"/>
                <a:chExt cx="692368" cy="440239"/>
              </a:xfrm>
            </p:grpSpPr>
            <p:cxnSp>
              <p:nvCxnSpPr>
                <p:cNvPr id="3" name="직선 연결선 2">
                  <a:extLst>
                    <a:ext uri="{FF2B5EF4-FFF2-40B4-BE49-F238E27FC236}">
                      <a16:creationId xmlns:a16="http://schemas.microsoft.com/office/drawing/2014/main" id="{57573AA2-7C9F-600E-3486-F8EEAEFF0A90}"/>
                    </a:ext>
                  </a:extLst>
                </p:cNvPr>
                <p:cNvCxnSpPr/>
                <p:nvPr/>
              </p:nvCxnSpPr>
              <p:spPr>
                <a:xfrm>
                  <a:off x="4514965" y="6984673"/>
                  <a:ext cx="6913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자유형 7">
                  <a:extLst>
                    <a:ext uri="{FF2B5EF4-FFF2-40B4-BE49-F238E27FC236}">
                      <a16:creationId xmlns:a16="http://schemas.microsoft.com/office/drawing/2014/main" id="{D26CFD02-C623-914F-9884-A3CF138F9A44}"/>
                    </a:ext>
                  </a:extLst>
                </p:cNvPr>
                <p:cNvSpPr/>
                <p:nvPr/>
              </p:nvSpPr>
              <p:spPr>
                <a:xfrm>
                  <a:off x="4514965" y="6977492"/>
                  <a:ext cx="119735" cy="440504"/>
                </a:xfrm>
                <a:custGeom>
                  <a:avLst/>
                  <a:gdLst>
                    <a:gd name="connsiteX0" fmla="*/ 0 w 120909"/>
                    <a:gd name="connsiteY0" fmla="*/ 0 h 440239"/>
                    <a:gd name="connsiteX1" fmla="*/ 120650 w 120909"/>
                    <a:gd name="connsiteY1" fmla="*/ 222250 h 440239"/>
                    <a:gd name="connsiteX2" fmla="*/ 31750 w 120909"/>
                    <a:gd name="connsiteY2" fmla="*/ 419100 h 440239"/>
                    <a:gd name="connsiteX3" fmla="*/ 19050 w 120909"/>
                    <a:gd name="connsiteY3" fmla="*/ 425450 h 440239"/>
                  </a:gdLst>
                  <a:ahLst/>
                  <a:cxnLst>
                    <a:cxn ang="0">
                      <a:pos x="connsiteX0" y="connsiteY0"/>
                    </a:cxn>
                    <a:cxn ang="0">
                      <a:pos x="connsiteX1" y="connsiteY1"/>
                    </a:cxn>
                    <a:cxn ang="0">
                      <a:pos x="connsiteX2" y="connsiteY2"/>
                    </a:cxn>
                    <a:cxn ang="0">
                      <a:pos x="connsiteX3" y="connsiteY3"/>
                    </a:cxn>
                  </a:cxnLst>
                  <a:rect l="l" t="t" r="r" b="b"/>
                  <a:pathLst>
                    <a:path w="120909" h="440239">
                      <a:moveTo>
                        <a:pt x="0" y="0"/>
                      </a:moveTo>
                      <a:cubicBezTo>
                        <a:pt x="57679" y="76200"/>
                        <a:pt x="115358" y="152400"/>
                        <a:pt x="120650" y="222250"/>
                      </a:cubicBezTo>
                      <a:cubicBezTo>
                        <a:pt x="125942" y="292100"/>
                        <a:pt x="48683" y="385233"/>
                        <a:pt x="31750" y="419100"/>
                      </a:cubicBezTo>
                      <a:cubicBezTo>
                        <a:pt x="14817" y="452967"/>
                        <a:pt x="16933" y="439208"/>
                        <a:pt x="19050" y="42545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latinLnBrk="1" hangingPunct="1">
                    <a:defRPr/>
                  </a:pPr>
                  <a:endParaRPr lang="ko-KR" altLang="en-US"/>
                </a:p>
              </p:txBody>
            </p:sp>
          </p:grpSp>
          <p:sp>
            <p:nvSpPr>
              <p:cNvPr id="29708" name="TextBox 9">
                <a:extLst>
                  <a:ext uri="{FF2B5EF4-FFF2-40B4-BE49-F238E27FC236}">
                    <a16:creationId xmlns:a16="http://schemas.microsoft.com/office/drawing/2014/main" id="{E5C0D292-CA64-E994-10E9-23387DA91809}"/>
                  </a:ext>
                </a:extLst>
              </p:cNvPr>
              <p:cNvSpPr txBox="1">
                <a:spLocks noChangeArrowheads="1"/>
              </p:cNvSpPr>
              <p:nvPr/>
            </p:nvSpPr>
            <p:spPr bwMode="auto">
              <a:xfrm>
                <a:off x="4942721" y="6775355"/>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563"/>
                  </a:spcAft>
                  <a:defRPr sz="900">
                    <a:solidFill>
                      <a:schemeClr val="tx1"/>
                    </a:solidFill>
                    <a:latin typeface="LG스마트체2.0 Regular" panose="020B0600000101010101" pitchFamily="50" charset="-127"/>
                    <a:ea typeface="LG스마트체2.0 Regular" panose="020B0600000101010101" pitchFamily="50" charset="-127"/>
                  </a:defRPr>
                </a:lvl1pPr>
                <a:lvl2pPr marL="742950" indent="-28575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2pPr>
                <a:lvl3pPr marL="11430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3pPr>
                <a:lvl4pPr marL="16002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4pPr>
                <a:lvl5pPr marL="20574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5pPr>
                <a:lvl6pPr marL="25146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6pPr>
                <a:lvl7pPr marL="29718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7pPr>
                <a:lvl8pPr marL="34290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8pPr>
                <a:lvl9pPr marL="38862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9pPr>
              </a:lstStyle>
              <a:p>
                <a:pPr eaLnBrk="1" latinLnBrk="1" hangingPunct="1">
                  <a:spcAft>
                    <a:spcPct val="0"/>
                  </a:spcAft>
                </a:pPr>
                <a:r>
                  <a:rPr lang="en-US" altLang="ko-KR" sz="1600" b="1">
                    <a:latin typeface="나눔고딕코딩" pitchFamily="49" charset="-127"/>
                    <a:ea typeface="나눔고딕코딩" pitchFamily="49" charset="-127"/>
                  </a:rPr>
                  <a:t>7</a:t>
                </a:r>
                <a:endParaRPr lang="ko-KR" altLang="en-US" sz="1600" b="1">
                  <a:latin typeface="나눔고딕코딩" pitchFamily="49" charset="-127"/>
                  <a:ea typeface="나눔고딕코딩" pitchFamily="49" charset="-127"/>
                </a:endParaRPr>
              </a:p>
            </p:txBody>
          </p:sp>
          <p:sp>
            <p:nvSpPr>
              <p:cNvPr id="29709" name="TextBox 13">
                <a:extLst>
                  <a:ext uri="{FF2B5EF4-FFF2-40B4-BE49-F238E27FC236}">
                    <a16:creationId xmlns:a16="http://schemas.microsoft.com/office/drawing/2014/main" id="{2920C366-F9E6-6266-2598-05B51D0C8CEB}"/>
                  </a:ext>
                </a:extLst>
              </p:cNvPr>
              <p:cNvSpPr txBox="1">
                <a:spLocks noChangeArrowheads="1"/>
              </p:cNvSpPr>
              <p:nvPr/>
            </p:nvSpPr>
            <p:spPr bwMode="auto">
              <a:xfrm>
                <a:off x="4595892" y="6762655"/>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563"/>
                  </a:spcAft>
                  <a:defRPr sz="900">
                    <a:solidFill>
                      <a:schemeClr val="tx1"/>
                    </a:solidFill>
                    <a:latin typeface="LG스마트체2.0 Regular" panose="020B0600000101010101" pitchFamily="50" charset="-127"/>
                    <a:ea typeface="LG스마트체2.0 Regular" panose="020B0600000101010101" pitchFamily="50" charset="-127"/>
                  </a:defRPr>
                </a:lvl1pPr>
                <a:lvl2pPr marL="742950" indent="-28575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2pPr>
                <a:lvl3pPr marL="11430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3pPr>
                <a:lvl4pPr marL="16002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4pPr>
                <a:lvl5pPr marL="20574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5pPr>
                <a:lvl6pPr marL="25146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6pPr>
                <a:lvl7pPr marL="29718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7pPr>
                <a:lvl8pPr marL="34290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8pPr>
                <a:lvl9pPr marL="38862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9pPr>
              </a:lstStyle>
              <a:p>
                <a:pPr eaLnBrk="1" latinLnBrk="1" hangingPunct="1">
                  <a:spcAft>
                    <a:spcPct val="0"/>
                  </a:spcAft>
                </a:pPr>
                <a:r>
                  <a:rPr lang="en-US" altLang="ko-KR" sz="1600" b="1">
                    <a:latin typeface="나눔고딕코딩" pitchFamily="49" charset="-127"/>
                    <a:ea typeface="나눔고딕코딩" pitchFamily="49" charset="-127"/>
                  </a:rPr>
                  <a:t>5</a:t>
                </a:r>
                <a:endParaRPr lang="ko-KR" altLang="en-US" sz="1600" b="1">
                  <a:latin typeface="나눔고딕코딩" pitchFamily="49" charset="-127"/>
                  <a:ea typeface="나눔고딕코딩" pitchFamily="49" charset="-127"/>
                </a:endParaRPr>
              </a:p>
            </p:txBody>
          </p:sp>
          <p:sp>
            <p:nvSpPr>
              <p:cNvPr id="29710" name="TextBox 15">
                <a:extLst>
                  <a:ext uri="{FF2B5EF4-FFF2-40B4-BE49-F238E27FC236}">
                    <a16:creationId xmlns:a16="http://schemas.microsoft.com/office/drawing/2014/main" id="{C1BBDC71-E02A-A182-502A-B549D598D36E}"/>
                  </a:ext>
                </a:extLst>
              </p:cNvPr>
              <p:cNvSpPr txBox="1">
                <a:spLocks noChangeArrowheads="1"/>
              </p:cNvSpPr>
              <p:nvPr/>
            </p:nvSpPr>
            <p:spPr bwMode="auto">
              <a:xfrm>
                <a:off x="4942721" y="6474901"/>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563"/>
                  </a:spcAft>
                  <a:defRPr sz="900">
                    <a:solidFill>
                      <a:schemeClr val="tx1"/>
                    </a:solidFill>
                    <a:latin typeface="LG스마트체2.0 Regular" panose="020B0600000101010101" pitchFamily="50" charset="-127"/>
                    <a:ea typeface="LG스마트체2.0 Regular" panose="020B0600000101010101" pitchFamily="50" charset="-127"/>
                  </a:defRPr>
                </a:lvl1pPr>
                <a:lvl2pPr marL="742950" indent="-28575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2pPr>
                <a:lvl3pPr marL="11430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3pPr>
                <a:lvl4pPr marL="16002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4pPr>
                <a:lvl5pPr marL="20574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5pPr>
                <a:lvl6pPr marL="25146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6pPr>
                <a:lvl7pPr marL="29718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7pPr>
                <a:lvl8pPr marL="34290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8pPr>
                <a:lvl9pPr marL="38862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9pPr>
              </a:lstStyle>
              <a:p>
                <a:pPr eaLnBrk="1" latinLnBrk="1" hangingPunct="1">
                  <a:spcAft>
                    <a:spcPct val="0"/>
                  </a:spcAft>
                </a:pPr>
                <a:r>
                  <a:rPr lang="en-US" altLang="ko-KR" sz="1600" b="1">
                    <a:latin typeface="나눔고딕코딩" pitchFamily="49" charset="-127"/>
                    <a:ea typeface="나눔고딕코딩" pitchFamily="49" charset="-127"/>
                  </a:rPr>
                  <a:t>1</a:t>
                </a:r>
                <a:endParaRPr lang="ko-KR" altLang="en-US" sz="1600" b="1">
                  <a:latin typeface="나눔고딕코딩" pitchFamily="49" charset="-127"/>
                  <a:ea typeface="나눔고딕코딩" pitchFamily="49" charset="-127"/>
                </a:endParaRPr>
              </a:p>
            </p:txBody>
          </p:sp>
          <p:sp>
            <p:nvSpPr>
              <p:cNvPr id="29711" name="TextBox 16">
                <a:extLst>
                  <a:ext uri="{FF2B5EF4-FFF2-40B4-BE49-F238E27FC236}">
                    <a16:creationId xmlns:a16="http://schemas.microsoft.com/office/drawing/2014/main" id="{ED20190D-B1DA-54B9-4CA1-206488D8CC8C}"/>
                  </a:ext>
                </a:extLst>
              </p:cNvPr>
              <p:cNvSpPr txBox="1">
                <a:spLocks noChangeArrowheads="1"/>
              </p:cNvSpPr>
              <p:nvPr/>
            </p:nvSpPr>
            <p:spPr bwMode="auto">
              <a:xfrm>
                <a:off x="4942721" y="7003956"/>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563"/>
                  </a:spcAft>
                  <a:defRPr sz="900">
                    <a:solidFill>
                      <a:schemeClr val="tx1"/>
                    </a:solidFill>
                    <a:latin typeface="LG스마트체2.0 Regular" panose="020B0600000101010101" pitchFamily="50" charset="-127"/>
                    <a:ea typeface="LG스마트체2.0 Regular" panose="020B0600000101010101" pitchFamily="50" charset="-127"/>
                  </a:defRPr>
                </a:lvl1pPr>
                <a:lvl2pPr marL="742950" indent="-28575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2pPr>
                <a:lvl3pPr marL="11430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3pPr>
                <a:lvl4pPr marL="16002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4pPr>
                <a:lvl5pPr marL="20574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5pPr>
                <a:lvl6pPr marL="25146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6pPr>
                <a:lvl7pPr marL="29718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7pPr>
                <a:lvl8pPr marL="34290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8pPr>
                <a:lvl9pPr marL="38862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9pPr>
              </a:lstStyle>
              <a:p>
                <a:pPr eaLnBrk="1" latinLnBrk="1" hangingPunct="1">
                  <a:spcAft>
                    <a:spcPct val="0"/>
                  </a:spcAft>
                </a:pPr>
                <a:r>
                  <a:rPr lang="en-US" altLang="ko-KR" sz="1600" b="1">
                    <a:latin typeface="나눔고딕코딩" pitchFamily="49" charset="-127"/>
                    <a:ea typeface="나눔고딕코딩" pitchFamily="49" charset="-127"/>
                  </a:rPr>
                  <a:t>5</a:t>
                </a:r>
                <a:endParaRPr lang="ko-KR" altLang="en-US" sz="1600" b="1">
                  <a:latin typeface="나눔고딕코딩" pitchFamily="49" charset="-127"/>
                  <a:ea typeface="나눔고딕코딩" pitchFamily="49" charset="-127"/>
                </a:endParaRPr>
              </a:p>
            </p:txBody>
          </p:sp>
          <p:cxnSp>
            <p:nvCxnSpPr>
              <p:cNvPr id="23" name="직선 연결선 22">
                <a:extLst>
                  <a:ext uri="{FF2B5EF4-FFF2-40B4-BE49-F238E27FC236}">
                    <a16:creationId xmlns:a16="http://schemas.microsoft.com/office/drawing/2014/main" id="{7A71B0CD-F95E-3DB9-448A-2D3291202A5C}"/>
                  </a:ext>
                </a:extLst>
              </p:cNvPr>
              <p:cNvCxnSpPr/>
              <p:nvPr/>
            </p:nvCxnSpPr>
            <p:spPr>
              <a:xfrm>
                <a:off x="4826082" y="7342199"/>
                <a:ext cx="4857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713" name="TextBox 25">
                <a:extLst>
                  <a:ext uri="{FF2B5EF4-FFF2-40B4-BE49-F238E27FC236}">
                    <a16:creationId xmlns:a16="http://schemas.microsoft.com/office/drawing/2014/main" id="{8FD818AC-B528-C832-246E-426E4E411F80}"/>
                  </a:ext>
                </a:extLst>
              </p:cNvPr>
              <p:cNvSpPr txBox="1">
                <a:spLocks noChangeArrowheads="1"/>
              </p:cNvSpPr>
              <p:nvPr/>
            </p:nvSpPr>
            <p:spPr bwMode="auto">
              <a:xfrm>
                <a:off x="4942721" y="7302275"/>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563"/>
                  </a:spcAft>
                  <a:defRPr sz="900">
                    <a:solidFill>
                      <a:schemeClr val="tx1"/>
                    </a:solidFill>
                    <a:latin typeface="LG스마트체2.0 Regular" panose="020B0600000101010101" pitchFamily="50" charset="-127"/>
                    <a:ea typeface="LG스마트체2.0 Regular" panose="020B0600000101010101" pitchFamily="50" charset="-127"/>
                  </a:defRPr>
                </a:lvl1pPr>
                <a:lvl2pPr marL="742950" indent="-28575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2pPr>
                <a:lvl3pPr marL="11430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3pPr>
                <a:lvl4pPr marL="16002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4pPr>
                <a:lvl5pPr marL="20574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5pPr>
                <a:lvl6pPr marL="25146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6pPr>
                <a:lvl7pPr marL="29718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7pPr>
                <a:lvl8pPr marL="34290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8pPr>
                <a:lvl9pPr marL="38862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9pPr>
              </a:lstStyle>
              <a:p>
                <a:pPr eaLnBrk="1" latinLnBrk="1" hangingPunct="1">
                  <a:spcAft>
                    <a:spcPct val="0"/>
                  </a:spcAft>
                </a:pPr>
                <a:r>
                  <a:rPr lang="en-US" altLang="ko-KR" sz="1600" b="1">
                    <a:latin typeface="나눔고딕코딩" pitchFamily="49" charset="-127"/>
                    <a:ea typeface="나눔고딕코딩" pitchFamily="49" charset="-127"/>
                  </a:rPr>
                  <a:t>2</a:t>
                </a:r>
                <a:endParaRPr lang="ko-KR" altLang="en-US" sz="1600" b="1">
                  <a:latin typeface="나눔고딕코딩" pitchFamily="49" charset="-127"/>
                  <a:ea typeface="나눔고딕코딩" pitchFamily="49" charset="-127"/>
                </a:endParaRPr>
              </a:p>
            </p:txBody>
          </p:sp>
        </p:grpSp>
        <p:sp>
          <p:nvSpPr>
            <p:cNvPr id="13" name="TextBox 12">
              <a:extLst>
                <a:ext uri="{FF2B5EF4-FFF2-40B4-BE49-F238E27FC236}">
                  <a16:creationId xmlns:a16="http://schemas.microsoft.com/office/drawing/2014/main" id="{410BA1B8-97F0-2385-D383-A26A1864F1BE}"/>
                </a:ext>
              </a:extLst>
            </p:cNvPr>
            <p:cNvSpPr txBox="1"/>
            <p:nvPr/>
          </p:nvSpPr>
          <p:spPr>
            <a:xfrm>
              <a:off x="5549989" y="6490786"/>
              <a:ext cx="633418" cy="306572"/>
            </a:xfrm>
            <a:prstGeom prst="rect">
              <a:avLst/>
            </a:prstGeom>
            <a:noFill/>
          </p:spPr>
          <p:txBody>
            <a:bodyPr wrap="none">
              <a:spAutoFit/>
            </a:bodyPr>
            <a:lstStyle/>
            <a:p>
              <a:pPr eaLnBrk="1" latinLnBrk="1" hangingPunct="1">
                <a:defRPr/>
              </a:pPr>
              <a:r>
                <a:rPr lang="en-US" altLang="ko-KR" sz="1400" b="1">
                  <a:solidFill>
                    <a:schemeClr val="accent3">
                      <a:lumMod val="50000"/>
                    </a:schemeClr>
                  </a:solidFill>
                  <a:latin typeface="나눔고딕코딩" pitchFamily="49" charset="-127"/>
                  <a:ea typeface="나눔고딕코딩" pitchFamily="49" charset="-127"/>
                </a:rPr>
                <a:t>7 / 5</a:t>
              </a:r>
              <a:endParaRPr lang="ko-KR" altLang="en-US" sz="1400" b="1">
                <a:solidFill>
                  <a:schemeClr val="accent3">
                    <a:lumMod val="50000"/>
                  </a:schemeClr>
                </a:solidFill>
                <a:latin typeface="나눔고딕코딩" pitchFamily="49" charset="-127"/>
                <a:ea typeface="나눔고딕코딩" pitchFamily="49" charset="-127"/>
              </a:endParaRPr>
            </a:p>
          </p:txBody>
        </p:sp>
        <p:cxnSp>
          <p:nvCxnSpPr>
            <p:cNvPr id="27" name="직선 화살표 연결선 26">
              <a:extLst>
                <a:ext uri="{FF2B5EF4-FFF2-40B4-BE49-F238E27FC236}">
                  <a16:creationId xmlns:a16="http://schemas.microsoft.com/office/drawing/2014/main" id="{4D924334-E137-DE9B-251E-C767ED5E372F}"/>
                </a:ext>
              </a:extLst>
            </p:cNvPr>
            <p:cNvCxnSpPr>
              <a:stCxn id="13" idx="1"/>
              <a:endCxn id="29710" idx="3"/>
            </p:cNvCxnSpPr>
            <p:nvPr/>
          </p:nvCxnSpPr>
          <p:spPr>
            <a:xfrm flipH="1" flipV="1">
              <a:off x="5229311" y="6644865"/>
              <a:ext cx="320678" cy="0"/>
            </a:xfrm>
            <a:prstGeom prst="straightConnector1">
              <a:avLst/>
            </a:prstGeom>
            <a:ln w="25400">
              <a:solidFill>
                <a:srgbClr val="C5003D"/>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13D46EA-436C-4337-B45C-CE873CCD5FE0}"/>
                </a:ext>
              </a:extLst>
            </p:cNvPr>
            <p:cNvSpPr txBox="1"/>
            <p:nvPr/>
          </p:nvSpPr>
          <p:spPr>
            <a:xfrm>
              <a:off x="5549989" y="7318372"/>
              <a:ext cx="633418" cy="306573"/>
            </a:xfrm>
            <a:prstGeom prst="rect">
              <a:avLst/>
            </a:prstGeom>
            <a:noFill/>
          </p:spPr>
          <p:txBody>
            <a:bodyPr wrap="none">
              <a:spAutoFit/>
            </a:bodyPr>
            <a:lstStyle/>
            <a:p>
              <a:pPr eaLnBrk="1" latinLnBrk="1" hangingPunct="1">
                <a:defRPr/>
              </a:pPr>
              <a:r>
                <a:rPr lang="en-US" altLang="ko-KR" sz="1400" b="1">
                  <a:solidFill>
                    <a:schemeClr val="accent3">
                      <a:lumMod val="50000"/>
                    </a:schemeClr>
                  </a:solidFill>
                  <a:latin typeface="나눔고딕코딩" pitchFamily="49" charset="-127"/>
                  <a:ea typeface="나눔고딕코딩" pitchFamily="49" charset="-127"/>
                </a:rPr>
                <a:t>7 % 5</a:t>
              </a:r>
              <a:endParaRPr lang="ko-KR" altLang="en-US" sz="1400" b="1">
                <a:solidFill>
                  <a:schemeClr val="accent3">
                    <a:lumMod val="50000"/>
                  </a:schemeClr>
                </a:solidFill>
                <a:latin typeface="나눔고딕코딩" pitchFamily="49" charset="-127"/>
                <a:ea typeface="나눔고딕코딩" pitchFamily="49" charset="-127"/>
              </a:endParaRPr>
            </a:p>
          </p:txBody>
        </p:sp>
        <p:cxnSp>
          <p:nvCxnSpPr>
            <p:cNvPr id="34" name="직선 화살표 연결선 33">
              <a:extLst>
                <a:ext uri="{FF2B5EF4-FFF2-40B4-BE49-F238E27FC236}">
                  <a16:creationId xmlns:a16="http://schemas.microsoft.com/office/drawing/2014/main" id="{268EFF59-763E-81C1-056C-FFC993194980}"/>
                </a:ext>
              </a:extLst>
            </p:cNvPr>
            <p:cNvCxnSpPr>
              <a:stCxn id="33" idx="1"/>
              <a:endCxn id="29713" idx="3"/>
            </p:cNvCxnSpPr>
            <p:nvPr/>
          </p:nvCxnSpPr>
          <p:spPr>
            <a:xfrm flipH="1" flipV="1">
              <a:off x="5229311" y="7470864"/>
              <a:ext cx="320678" cy="0"/>
            </a:xfrm>
            <a:prstGeom prst="straightConnector1">
              <a:avLst/>
            </a:prstGeom>
            <a:ln w="25400">
              <a:solidFill>
                <a:srgbClr val="C5003D"/>
              </a:solidFill>
              <a:tailEnd type="stealth"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슬라이드 이미지 개체 틀 1">
            <a:extLst>
              <a:ext uri="{FF2B5EF4-FFF2-40B4-BE49-F238E27FC236}">
                <a16:creationId xmlns:a16="http://schemas.microsoft.com/office/drawing/2014/main" id="{3FC8F02C-3A71-E02C-217D-C0C11F2030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슬라이드 노트 개체 틀 2">
            <a:extLst>
              <a:ext uri="{FF2B5EF4-FFF2-40B4-BE49-F238E27FC236}">
                <a16:creationId xmlns:a16="http://schemas.microsoft.com/office/drawing/2014/main" id="{FDCC9848-53A1-34AC-24B6-EE4955C6D9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ko-KR" altLang="en-US"/>
          </a:p>
        </p:txBody>
      </p:sp>
      <p:sp>
        <p:nvSpPr>
          <p:cNvPr id="48132" name="슬라이드 번호 개체 틀 3">
            <a:extLst>
              <a:ext uri="{FF2B5EF4-FFF2-40B4-BE49-F238E27FC236}">
                <a16:creationId xmlns:a16="http://schemas.microsoft.com/office/drawing/2014/main" id="{F5AF0543-AC09-C108-C0B9-E638E63CAD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ts val="563"/>
              </a:spcAft>
              <a:defRPr sz="900">
                <a:solidFill>
                  <a:schemeClr val="tx1"/>
                </a:solidFill>
                <a:latin typeface="LG스마트체2.0 Regular" panose="020B0600000101010101" pitchFamily="50" charset="-127"/>
                <a:ea typeface="LG스마트체2.0 Regular" panose="020B0600000101010101" pitchFamily="50" charset="-127"/>
              </a:defRPr>
            </a:lvl1pPr>
            <a:lvl2pPr marL="742950" indent="-28575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2pPr>
            <a:lvl3pPr marL="11430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3pPr>
            <a:lvl4pPr marL="16002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4pPr>
            <a:lvl5pPr marL="2057400" indent="-228600">
              <a:spcAft>
                <a:spcPts val="563"/>
              </a:spcAft>
              <a:defRPr sz="900">
                <a:solidFill>
                  <a:schemeClr val="tx1"/>
                </a:solidFill>
                <a:latin typeface="LG스마트체2.0 Regular" panose="020B0600000101010101" pitchFamily="50" charset="-127"/>
                <a:ea typeface="LG스마트체2.0 Regular" panose="020B0600000101010101" pitchFamily="50" charset="-127"/>
              </a:defRPr>
            </a:lvl5pPr>
            <a:lvl6pPr marL="25146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6pPr>
            <a:lvl7pPr marL="29718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7pPr>
            <a:lvl8pPr marL="34290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8pPr>
            <a:lvl9pPr marL="3886200" indent="-228600" eaLnBrk="0" fontAlgn="base" hangingPunct="0">
              <a:spcBef>
                <a:spcPct val="0"/>
              </a:spcBef>
              <a:spcAft>
                <a:spcPts val="563"/>
              </a:spcAft>
              <a:defRPr sz="900">
                <a:solidFill>
                  <a:schemeClr val="tx1"/>
                </a:solidFill>
                <a:latin typeface="LG스마트체2.0 Regular" panose="020B0600000101010101" pitchFamily="50" charset="-127"/>
                <a:ea typeface="LG스마트체2.0 Regular" panose="020B0600000101010101" pitchFamily="50" charset="-127"/>
              </a:defRPr>
            </a:lvl9pPr>
          </a:lstStyle>
          <a:p>
            <a:pPr>
              <a:spcAft>
                <a:spcPct val="0"/>
              </a:spcAft>
            </a:pPr>
            <a:fld id="{8CD25BC0-7FB4-5D45-B037-0D2C1361497D}" type="slidenum">
              <a:rPr lang="ko-KR" altLang="en-US" sz="1000" smtClean="0">
                <a:latin typeface="나눔고딕코딩" pitchFamily="49" charset="-127"/>
                <a:ea typeface="나눔고딕코딩" pitchFamily="49" charset="-127"/>
              </a:rPr>
              <a:pPr>
                <a:spcAft>
                  <a:spcPct val="0"/>
                </a:spcAft>
              </a:pPr>
              <a:t>26</a:t>
            </a:fld>
            <a:endParaRPr lang="ko-KR" altLang="en-US" sz="1000">
              <a:latin typeface="나눔고딕코딩" pitchFamily="49" charset="-127"/>
              <a:ea typeface="나눔고딕코딩" pitchFamily="49" charset="-127"/>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슬라이드 이미지 개체 틀 1">
            <a:extLst>
              <a:ext uri="{FF2B5EF4-FFF2-40B4-BE49-F238E27FC236}">
                <a16:creationId xmlns:a16="http://schemas.microsoft.com/office/drawing/2014/main" id="{1DDC5378-48E8-DD80-82D6-70E9909703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슬라이드 노트 개체 틀 2">
            <a:extLst>
              <a:ext uri="{FF2B5EF4-FFF2-40B4-BE49-F238E27FC236}">
                <a16:creationId xmlns:a16="http://schemas.microsoft.com/office/drawing/2014/main" id="{EDC08F28-2F4D-A33B-0945-5E64A09428DE}"/>
              </a:ext>
            </a:extLst>
          </p:cNvPr>
          <p:cNvSpPr>
            <a:spLocks noGrp="1" noChangeArrowheads="1"/>
          </p:cNvSpPr>
          <p:nvPr>
            <p:ph type="body" idx="1"/>
          </p:nvPr>
        </p:nvSpPr>
        <p:spPr bwMode="auto">
          <a:xfrm>
            <a:off x="311150" y="5600700"/>
            <a:ext cx="6573838" cy="4133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ID" altLang="ko-KR"/>
              <a:t>Pada bagian sebelumnya, kita telah melihat cara menulis pernyataan kondisional sederhana menggunakan if, namun sulit untuk membuat kode untuk kondisi yang kompleks hanya dengan menggunakan if. Kode menjadi berantakan dan sulit untuk memikirkan cara menulisnya.</a:t>
            </a:r>
          </a:p>
          <a:p>
            <a:r>
              <a:rPr lang="en-ID" altLang="ko-KR"/>
              <a:t>Sebagai contoh, katakanlah Anda memiliki kondisi yang berbunyi, "Jika usia 19 tahun atau lebih, maka tampilkan pesan 'Silakan masuk'; jika tidak (jika kurang dari 19 tahun), tampilkan pesan 'Maaf'." Katakanlah Anda memiliki kondisi yang disebut "jika kondisi A, maka tampilkan AA, jika tidak, tampilkan BB". Jika Anda perlu menggunakan kondisi seperti ini, Anda tidak bisa hanya menggunakan pernyataan if. Dalam hal ini, Anda dapat menggunakan if ~ else.</a:t>
            </a:r>
          </a:p>
          <a:p>
            <a:r>
              <a:rPr lang="en-ID" altLang="ko-KR"/>
              <a:t>if (usia &gt;= 19) {</a:t>
            </a:r>
          </a:p>
          <a:p>
            <a:r>
              <a:rPr lang="en-ID" altLang="ko-KR"/>
              <a:t>    // Jika usia lebih dari 19 tahun, maka ~~!</a:t>
            </a:r>
          </a:p>
          <a:p>
            <a:r>
              <a:rPr lang="en-ID" altLang="ko-KR"/>
              <a:t>} else {</a:t>
            </a:r>
          </a:p>
          <a:p>
            <a:r>
              <a:rPr lang="en-ID" altLang="ko-KR"/>
              <a:t>    // jika usia tidak 19 atau lebih~~ (jika kurang dari 19~~)</a:t>
            </a:r>
          </a:p>
          <a:p>
            <a:r>
              <a:rPr lang="en-ID" altLang="ko-KR"/>
              <a:t>}</a:t>
            </a:r>
            <a:endParaRPr lang="en-US" altLang="ko-KR">
              <a:latin typeface="나눔고딕코딩" pitchFamily="49" charset="-127"/>
              <a:ea typeface="나눔고딕코딩" pitchFamily="49" charset="-127"/>
            </a:endParaRPr>
          </a:p>
        </p:txBody>
      </p:sp>
      <p:sp>
        <p:nvSpPr>
          <p:cNvPr id="60420" name="슬라이드 번호 개체 틀 3">
            <a:extLst>
              <a:ext uri="{FF2B5EF4-FFF2-40B4-BE49-F238E27FC236}">
                <a16:creationId xmlns:a16="http://schemas.microsoft.com/office/drawing/2014/main" id="{414FAB0D-534E-DB49-E325-AA2EEB45CE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581AC419-7EF7-9A40-B5A1-A61BE539F158}" type="slidenum">
              <a:rPr kumimoji="0" lang="ko-KR" altLang="en-US" smtClean="0">
                <a:latin typeface="나눔고딕코딩" pitchFamily="49" charset="-127"/>
                <a:ea typeface="나눔고딕코딩" pitchFamily="49" charset="-127"/>
              </a:rPr>
              <a:pPr/>
              <a:t>27</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슬라이드 이미지 개체 틀 1">
            <a:extLst>
              <a:ext uri="{FF2B5EF4-FFF2-40B4-BE49-F238E27FC236}">
                <a16:creationId xmlns:a16="http://schemas.microsoft.com/office/drawing/2014/main" id="{183CD3BA-E2F4-2F36-431E-56D7715363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슬라이드 노트 개체 틀 2">
            <a:extLst>
              <a:ext uri="{FF2B5EF4-FFF2-40B4-BE49-F238E27FC236}">
                <a16:creationId xmlns:a16="http://schemas.microsoft.com/office/drawing/2014/main" id="{A85A4021-55F4-AD62-3342-BBA9F27749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ko-KR" altLang="en-US"/>
          </a:p>
        </p:txBody>
      </p:sp>
      <p:sp>
        <p:nvSpPr>
          <p:cNvPr id="62468" name="슬라이드 번호 개체 틀 3">
            <a:extLst>
              <a:ext uri="{FF2B5EF4-FFF2-40B4-BE49-F238E27FC236}">
                <a16:creationId xmlns:a16="http://schemas.microsoft.com/office/drawing/2014/main" id="{9AD52795-091C-7C40-6FA7-25E615DB2E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93F5A9FE-57A7-5448-A650-63100E769848}" type="slidenum">
              <a:rPr kumimoji="0" lang="ko-KR" altLang="en-US" smtClean="0">
                <a:latin typeface="나눔고딕코딩" pitchFamily="49" charset="-127"/>
                <a:ea typeface="나눔고딕코딩" pitchFamily="49" charset="-127"/>
              </a:rPr>
              <a:pPr/>
              <a:t>28</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슬라이드 이미지 개체 틀 1">
            <a:extLst>
              <a:ext uri="{FF2B5EF4-FFF2-40B4-BE49-F238E27FC236}">
                <a16:creationId xmlns:a16="http://schemas.microsoft.com/office/drawing/2014/main" id="{337D78A6-83E7-6798-45C3-D72F571E85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슬라이드 노트 개체 틀 2">
            <a:extLst>
              <a:ext uri="{FF2B5EF4-FFF2-40B4-BE49-F238E27FC236}">
                <a16:creationId xmlns:a16="http://schemas.microsoft.com/office/drawing/2014/main" id="{814B0FC4-8CEA-49CB-9A42-4B3C2C789B10}"/>
              </a:ext>
            </a:extLst>
          </p:cNvPr>
          <p:cNvSpPr>
            <a:spLocks noGrp="1" noChangeArrowheads="1"/>
          </p:cNvSpPr>
          <p:nvPr>
            <p:ph type="body" idx="1"/>
          </p:nvPr>
        </p:nvSpPr>
        <p:spPr bwMode="auto">
          <a:xfrm>
            <a:off x="311150" y="5600700"/>
            <a:ext cx="6573838" cy="4133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ID" altLang="ko-KR"/>
              <a:t>Kita telah melihat cara menulis pernyataan bersyarat sederhana menggunakan if dan if ~ else.</a:t>
            </a:r>
          </a:p>
          <a:p>
            <a:r>
              <a:rPr lang="en-ID" altLang="ko-KR"/>
              <a:t>Tapi bagaimana dengan kondisi seperti ini: "Jika usia 19 tahun atau lebih, maka tampilkan pesan 'Anda adalah orang dewasa'; jika usia kurang dari 19 tahun tapi lebih dari 13 tahun, maka tampilkan pesan 'Anda adalah remaja'; jika tidak ada satu pun dari kedua kondisi tersebut yang benar, maka tampilkan pesan 'Anda adalah anak kecil'." Ini akan menjadi kode yang rumit untuk ditulis dengan menggunakan if ~ else. Dalam kasus ini, Anda dapat menggunakan if ~ else if ~ else.</a:t>
            </a:r>
          </a:p>
          <a:p>
            <a:r>
              <a:rPr lang="en-ID" altLang="ko-KR"/>
              <a:t>if (usia &gt;= 19) {</a:t>
            </a:r>
          </a:p>
          <a:p>
            <a:r>
              <a:rPr lang="en-ID" altLang="ko-KR"/>
              <a:t>    // Jika usia lebih dari 19 tahun, maka ~~!</a:t>
            </a:r>
          </a:p>
          <a:p>
            <a:r>
              <a:rPr lang="en-ID" altLang="ko-KR"/>
              <a:t>} else if ( umur &gt;= 13 ) {</a:t>
            </a:r>
          </a:p>
          <a:p>
            <a:r>
              <a:rPr lang="en-ID" altLang="ko-KR"/>
              <a:t>    // Jika umurnya bukan 19 tahun atau lebih, tetapi 13 tahun atau lebih~~ (jika di bawah 19 tahun dan di atas 13 tahun~~)</a:t>
            </a:r>
          </a:p>
          <a:p>
            <a:r>
              <a:rPr lang="en-ID" altLang="ko-KR"/>
              <a:t>} else {</a:t>
            </a:r>
          </a:p>
          <a:p>
            <a:r>
              <a:rPr lang="en-ID" altLang="ko-KR"/>
              <a:t>    // jika usia bukan 19 atau 13 atau lebih~~ (jika kurang dari 19 dan lebih dari 13)</a:t>
            </a:r>
          </a:p>
          <a:p>
            <a:r>
              <a:rPr lang="en-ID" altLang="ko-KR"/>
              <a:t>}</a:t>
            </a:r>
            <a:endParaRPr lang="ko-KR" altLang="en-US">
              <a:latin typeface="나눔고딕코딩" pitchFamily="49" charset="-127"/>
              <a:ea typeface="나눔고딕코딩" pitchFamily="49" charset="-127"/>
            </a:endParaRPr>
          </a:p>
        </p:txBody>
      </p:sp>
      <p:sp>
        <p:nvSpPr>
          <p:cNvPr id="74756" name="슬라이드 번호 개체 틀 3">
            <a:extLst>
              <a:ext uri="{FF2B5EF4-FFF2-40B4-BE49-F238E27FC236}">
                <a16:creationId xmlns:a16="http://schemas.microsoft.com/office/drawing/2014/main" id="{407436A2-9F1F-4C9D-4401-9B4DFBF0573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1F9324CD-B92B-3E46-8E88-5B6644EBB01B}" type="slidenum">
              <a:rPr kumimoji="0" lang="ko-KR" altLang="en-US" smtClean="0">
                <a:latin typeface="나눔고딕코딩" pitchFamily="49" charset="-127"/>
                <a:ea typeface="나눔고딕코딩" pitchFamily="49" charset="-127"/>
              </a:rPr>
              <a:pPr/>
              <a:t>29</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슬라이드 이미지 개체 틀 1">
            <a:extLst>
              <a:ext uri="{FF2B5EF4-FFF2-40B4-BE49-F238E27FC236}">
                <a16:creationId xmlns:a16="http://schemas.microsoft.com/office/drawing/2014/main" id="{018C94A5-95A9-A574-3E96-4D7B5E1221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슬라이드 노트 개체 틀 2">
            <a:extLst>
              <a:ext uri="{FF2B5EF4-FFF2-40B4-BE49-F238E27FC236}">
                <a16:creationId xmlns:a16="http://schemas.microsoft.com/office/drawing/2014/main" id="{F83EAEEE-1B08-B972-19FD-89D934F58D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ko-KR" altLang="en-US"/>
          </a:p>
        </p:txBody>
      </p:sp>
      <p:sp>
        <p:nvSpPr>
          <p:cNvPr id="93188" name="슬라이드 번호 개체 틀 3">
            <a:extLst>
              <a:ext uri="{FF2B5EF4-FFF2-40B4-BE49-F238E27FC236}">
                <a16:creationId xmlns:a16="http://schemas.microsoft.com/office/drawing/2014/main" id="{5886EC16-74EF-5393-32A1-DB576AA65D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6DBC7071-234A-C64F-BF64-2B669C138391}" type="slidenum">
              <a:rPr kumimoji="0" lang="ko-KR" altLang="en-US" smtClean="0">
                <a:latin typeface="나눔고딕코딩" pitchFamily="49" charset="-127"/>
                <a:ea typeface="나눔고딕코딩" pitchFamily="49" charset="-127"/>
              </a:rPr>
              <a:pPr/>
              <a:t>30</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슬라이드 이미지 개체 틀 1">
            <a:extLst>
              <a:ext uri="{FF2B5EF4-FFF2-40B4-BE49-F238E27FC236}">
                <a16:creationId xmlns:a16="http://schemas.microsoft.com/office/drawing/2014/main" id="{24A3B4F4-B4A4-D17D-01AD-F697B65284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슬라이드 노트 개체 틀 2">
            <a:extLst>
              <a:ext uri="{FF2B5EF4-FFF2-40B4-BE49-F238E27FC236}">
                <a16:creationId xmlns:a16="http://schemas.microsoft.com/office/drawing/2014/main" id="{979C8681-3281-EC82-955E-0E4F35DBCD7E}"/>
              </a:ext>
            </a:extLst>
          </p:cNvPr>
          <p:cNvSpPr>
            <a:spLocks noGrp="1" noChangeArrowheads="1"/>
          </p:cNvSpPr>
          <p:nvPr>
            <p:ph type="body" idx="1"/>
          </p:nvPr>
        </p:nvSpPr>
        <p:spPr bwMode="auto">
          <a:xfrm>
            <a:off x="311150" y="5600700"/>
            <a:ext cx="6573838"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ko-KR"/>
              <a:t>"Cetak". Jika Anda perlu mencetak string "println" sebanyak 100 kali, Anda harus menulis 100 baris kode: System.out.println("println");. Namun, untuk tugas yang berulang seperti ini, Anda dapat menggunakan perulangan seperti for untuk menyederhanakan kode Anda.</a:t>
            </a:r>
          </a:p>
          <a:p>
            <a:r>
              <a:rPr lang="en-US" altLang="ko-KR"/>
              <a:t>For memungkinkan Anda untuk mengulangi tindakan yang sama berulang kali, tetapi ada juga while, yang akan Anda pelajari nanti. Dalam kasus for, biasanya digunakan ketika Anda tahu persis berapa kali Anda ingin mengulang sesuatu.</a:t>
            </a:r>
          </a:p>
          <a:p>
            <a:r>
              <a:rPr lang="en-US" altLang="ko-KR"/>
              <a:t>Mari kita lihat bagaimana cara menulis pernyataan for. Pertama, tuliskan kata kunci for. Selanjutnya, Anda akan menulis tiga elemen dalam tanda kurung ( ). Setiap elemen dipisahkan dengan tanda titik koma (;). Yang pertama adalah nilai awal atau nilai awal. Ketika kita biasanya melakukan iterasi menggunakan pernyataan for, kita memiliki nilai indeks sehingga kita tahu berapa banyak iterasi yang kita lakukan. Elemen pertama dari pernyataan for adalah nilai awal atau nilai awal dari indeks ini. Pada elemen kedua, Anda akan menuliskan ekspresi kondisional yang akan mengulangi pernyataan for jika hasil dari ekspresi kondisionalnya bernilai benar. Setiap kali kita mengulang, kita akan mengecek kondisional ini, jadi jika benar, kita akan mengulang lagi, dan jika salah, kita akan keluar dari pernyataan for tanpa melakukan perulangan lagi. Terakhir, pada elemen ketiga, kita menulis ekspresi kenaikan. Ekspresi kenaikan atau penurunan ini bertanggung jawab untuk menaikkan atau menurunkan nilai indeks yang dideklarasikan di elemen pertama sebanyak satu. Sering kali, Anda akan menggunakan tanda ++ untuk menaikkan nilai indeks sebanyak satu, sehingga Anda dapat mengetahui berapa kali pernyataan for diulang.</a:t>
            </a:r>
          </a:p>
          <a:p>
            <a:r>
              <a:rPr lang="en-US" altLang="ko-KR"/>
              <a:t>Jika demikian, Anda dapat menggunakan pernyataan for untuk "mencetaknya". Mari kita mencetak string "inx" sebanyak 100 kali.</a:t>
            </a:r>
          </a:p>
          <a:p>
            <a:r>
              <a:rPr lang="en-US" altLang="ko-KR"/>
              <a:t>for ( int inx = 1; inx &lt;= 100; inx++ ) {</a:t>
            </a:r>
          </a:p>
          <a:p>
            <a:r>
              <a:rPr lang="en-US" altLang="ko-KR"/>
              <a:t>    System.out.println("Cetak.");</a:t>
            </a:r>
          </a:p>
          <a:p>
            <a:r>
              <a:rPr lang="en-US" altLang="ko-KR"/>
              <a:t>}</a:t>
            </a:r>
          </a:p>
          <a:p>
            <a:r>
              <a:rPr lang="en-US" altLang="ko-KR"/>
              <a:t>Elemen pertama, int inx = 1, mendeklarasikan variabel inx untuk digunakan sebagai indeks, dengan nilai awal 1. Elemen kedua, sebuah ekspresi bersyarat, dituliskan agar kita dapat terus melakukan iterasi hingga nilai indeks ini mencapai 100 atau kurang. Elemen terakhir memungkinkan kita untuk menambah nilai indeks sebesar satu setiap kali perulangan dijalankan.</a:t>
            </a:r>
          </a:p>
          <a:p>
            <a:r>
              <a:rPr lang="en-US" altLang="ko-KR"/>
              <a:t>Ketika kita menjalankan kode di atas, pertama-tama kita mengganti 1 untuk variabel int inx dan memeriksa kondisinya. Karena inx kurang dari atau sama dengan 100, kita dapat melihat bahwa { } Jalankan kode di dalam tanda kurung. Setelah mengeksekusi isi perulangan, kita menambahkan 1 ke inx menggunakan ekspresi inkremental. Nilai inx kemudian menjadi 2. Sebelum melakukan perulangan lagi, periksa ekspresi kondisionalnya. Karena inx adalah 2, maka nilainya kurang dari atau sama dengan 100. Sekali lagi, lakukan kode dalam tanda kurung { } Lakukan kode di dalam tanda kurung.</a:t>
            </a:r>
            <a:endParaRPr lang="ko-KR" altLang="en-US"/>
          </a:p>
        </p:txBody>
      </p:sp>
      <p:sp>
        <p:nvSpPr>
          <p:cNvPr id="108548" name="슬라이드 번호 개체 틀 3">
            <a:extLst>
              <a:ext uri="{FF2B5EF4-FFF2-40B4-BE49-F238E27FC236}">
                <a16:creationId xmlns:a16="http://schemas.microsoft.com/office/drawing/2014/main" id="{7727E969-B932-0C70-3994-3B436947521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18C3B190-8460-804F-8493-B5D6D666C36E}" type="slidenum">
              <a:rPr kumimoji="0" lang="ko-KR" altLang="en-US" smtClean="0">
                <a:latin typeface="나눔고딕코딩" pitchFamily="49" charset="-127"/>
                <a:ea typeface="나눔고딕코딩" pitchFamily="49" charset="-127"/>
              </a:rPr>
              <a:pPr/>
              <a:t>31</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슬라이드 이미지 개체 틀 1">
            <a:extLst>
              <a:ext uri="{FF2B5EF4-FFF2-40B4-BE49-F238E27FC236}">
                <a16:creationId xmlns:a16="http://schemas.microsoft.com/office/drawing/2014/main" id="{EF79981D-FCE7-F9C7-24DE-287CA7CD72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슬라이드 노트 개체 틀 2">
            <a:extLst>
              <a:ext uri="{FF2B5EF4-FFF2-40B4-BE49-F238E27FC236}">
                <a16:creationId xmlns:a16="http://schemas.microsoft.com/office/drawing/2014/main" id="{A35E18F3-5676-6DDF-4015-007B364E69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ID" altLang="ko-KR"/>
              <a:t>Contoh ini akan sedikit lebih sulit.</a:t>
            </a:r>
          </a:p>
          <a:p>
            <a:r>
              <a:rPr lang="en-ID" altLang="ko-KR"/>
              <a:t>Untuk memberi Anda sedikit petunjuk, baris pertama (dengan nilai indeks 1) hanya mencetak satu simbol "*".</a:t>
            </a:r>
          </a:p>
          <a:p>
            <a:r>
              <a:rPr lang="en-ID" altLang="ko-KR"/>
              <a:t>Baris kedua (bila indeksnya 2) mencetak simbol "*" yang diulang dua kali.</a:t>
            </a:r>
          </a:p>
          <a:p>
            <a:r>
              <a:rPr lang="en-ID" altLang="ko-KR"/>
              <a:t>Baris ketiga (apabila nilai indeksnya 3) mencetak simbol "*" yang diulang sebanyak tiga kali.</a:t>
            </a:r>
          </a:p>
          <a:p>
            <a:r>
              <a:rPr lang="en-ID" altLang="ko-KR"/>
              <a:t>...</a:t>
            </a:r>
            <a:endParaRPr lang="ko-KR" altLang="en-US"/>
          </a:p>
        </p:txBody>
      </p:sp>
      <p:sp>
        <p:nvSpPr>
          <p:cNvPr id="131076" name="슬라이드 번호 개체 틀 3">
            <a:extLst>
              <a:ext uri="{FF2B5EF4-FFF2-40B4-BE49-F238E27FC236}">
                <a16:creationId xmlns:a16="http://schemas.microsoft.com/office/drawing/2014/main" id="{C9DF7C14-3406-412F-106C-1C0A0CA735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575A1FF2-05C5-6547-8A13-1AE12C638A7E}" type="slidenum">
              <a:rPr kumimoji="0" lang="ko-KR" altLang="en-US" smtClean="0">
                <a:latin typeface="나눔고딕코딩" pitchFamily="49" charset="-127"/>
                <a:ea typeface="나눔고딕코딩" pitchFamily="49" charset="-127"/>
              </a:rPr>
              <a:pPr/>
              <a:t>32</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슬라이드 이미지 개체 틀 1">
            <a:extLst>
              <a:ext uri="{FF2B5EF4-FFF2-40B4-BE49-F238E27FC236}">
                <a16:creationId xmlns:a16="http://schemas.microsoft.com/office/drawing/2014/main" id="{A484BE06-1D39-8C2E-BB57-434A6B64E2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슬라이드 노트 개체 틀 2">
            <a:extLst>
              <a:ext uri="{FF2B5EF4-FFF2-40B4-BE49-F238E27FC236}">
                <a16:creationId xmlns:a16="http://schemas.microsoft.com/office/drawing/2014/main" id="{50889B5E-D380-EC7B-8264-E56B35889F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ID" altLang="ko-KR"/>
              <a:t>Sebelumnya, kita telah belajar tentang perulangan for, yang memungkinkan Anda mengulangi tindakan yang sama berulang kali. Kali ini, mari kita lihat while. Dalam kasus for, Anda tahu persis berapa kali Anda ingin mengulangi tindakan. Namun demikian, while digunakan apabila Anda tidak tahu persis berapa kali harus mengulang.</a:t>
            </a:r>
          </a:p>
          <a:p>
            <a:r>
              <a:rPr lang="en-ID" altLang="ko-KR"/>
              <a:t>Mari kita lihat cara menulis pernyataan while. Pertama, tuliskan kata kunci while. Kemudian, tuliskan ekspresi kondisional di dalam tanda kurung ( ). Selama kondisinya benar, perulangannya akan terus dieksekusi, dan ketika kondisinya menjadi salah, pernyataan while akan keluar.</a:t>
            </a:r>
            <a:endParaRPr lang="ko-KR" altLang="en-US"/>
          </a:p>
        </p:txBody>
      </p:sp>
      <p:sp>
        <p:nvSpPr>
          <p:cNvPr id="149508" name="슬라이드 번호 개체 틀 3">
            <a:extLst>
              <a:ext uri="{FF2B5EF4-FFF2-40B4-BE49-F238E27FC236}">
                <a16:creationId xmlns:a16="http://schemas.microsoft.com/office/drawing/2014/main" id="{34AFBCE5-000C-5901-F7D0-4E55C8F9358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CDE1EA02-C826-F342-8241-C30359EDC875}" type="slidenum">
              <a:rPr kumimoji="0" lang="ko-KR" altLang="en-US" smtClean="0">
                <a:latin typeface="나눔고딕코딩" pitchFamily="49" charset="-127"/>
                <a:ea typeface="나눔고딕코딩" pitchFamily="49" charset="-127"/>
              </a:rPr>
              <a:pPr/>
              <a:t>33</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슬라이드 이미지 개체 틀 1">
            <a:extLst>
              <a:ext uri="{FF2B5EF4-FFF2-40B4-BE49-F238E27FC236}">
                <a16:creationId xmlns:a16="http://schemas.microsoft.com/office/drawing/2014/main" id="{7B268502-C5F1-3BB2-17D8-42329E11F1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슬라이드 노트 개체 틀 2">
            <a:extLst>
              <a:ext uri="{FF2B5EF4-FFF2-40B4-BE49-F238E27FC236}">
                <a16:creationId xmlns:a16="http://schemas.microsoft.com/office/drawing/2014/main" id="{0818547B-F553-F358-A793-2142B5365A59}"/>
              </a:ext>
            </a:extLst>
          </p:cNvPr>
          <p:cNvSpPr>
            <a:spLocks noGrp="1"/>
          </p:cNvSpPr>
          <p:nvPr>
            <p:ph type="body" idx="1"/>
          </p:nvPr>
        </p:nvSpPr>
        <p:spPr bwMode="auto">
          <a:xfrm>
            <a:off x="311150" y="5600700"/>
            <a:ext cx="6573838" cy="4121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ko-KR"/>
              <a:t>Mari kita lakukan penjumlahan mulai dari 1 dan menambah angka dengan 1. Kita ingin berhenti menambahkan ketika hasilnya lebih besar dari 10. Bagaimana kita dapat mengimplementasikan ini?</a:t>
            </a:r>
          </a:p>
          <a:p>
            <a:r>
              <a:rPr lang="en-US" altLang="ko-KR"/>
              <a:t>Kita perlu mengulang-ulang nilai sambil menambahnya dengan 1. Karena kita melakukan perulangan, kita ingin menggunakan pernyataan for. Tapi ada masalah. Berapa kali kita perlu mengulangnya? Haruskah saya hanya menambahkan 1 sampai 10?</a:t>
            </a:r>
          </a:p>
          <a:p>
            <a:r>
              <a:rPr lang="en-US" altLang="ko-KR"/>
              <a:t>Haruskah saya menambahkan 1 sampai 20?</a:t>
            </a:r>
          </a:p>
          <a:p>
            <a:r>
              <a:rPr lang="en-US" altLang="ko-KR"/>
              <a:t>Jika Anda tidak mengetahui jumlah iterasi, Anda dapat menggunakan pernyataan while.</a:t>
            </a:r>
          </a:p>
          <a:p>
            <a:r>
              <a:rPr lang="en-US" altLang="ko-KR"/>
              <a:t>Deklarasikan sebuah variabel bernama sum untuk mendapatkan jumlah, dan sebuah variabel integer untuk menambah 1 dari 1.</a:t>
            </a:r>
          </a:p>
          <a:p>
            <a:r>
              <a:rPr lang="en-ID" altLang="ko-KR"/>
              <a:t>Kita harus terus mengulang selama jumlahnya kurang dari 10, jadi kita menulis jumlah bersyarat &lt; 10 di bagian kondisional dari pernyataan while. Kemudian, di dalam perulangan, kita menggunakan pernyataan sum += index; untuk mendapatkan hasil penjumlahannya. Terakhir, kita perlu menambah nilai indeks sebesar 1 untuk setiap iterasi, jadi kita menambahkan logika indeks ++.</a:t>
            </a:r>
            <a:endParaRPr lang="en-US" altLang="ko-KR"/>
          </a:p>
          <a:p>
            <a:r>
              <a:rPr lang="en-ID" altLang="ko-KR"/>
              <a:t>Bagaimana pernyataan while ini dieksekusi?</a:t>
            </a:r>
            <a:endParaRPr lang="en-US" altLang="ko-KR"/>
          </a:p>
          <a:p>
            <a:endParaRPr lang="en-US" altLang="ko-KR"/>
          </a:p>
          <a:p>
            <a:r>
              <a:rPr lang="en-US" altLang="ko-KR"/>
              <a:t>Mulai iterasi dengan jumlah = 0 dan indeks = 1.</a:t>
            </a:r>
          </a:p>
          <a:p>
            <a:r>
              <a:rPr lang="en-US" altLang="ko-KR"/>
              <a:t>Periksa apakah jumlah kurang dari 10. Karena 0 &lt; 10 adalah benar, perulangan akan dieksekusi.</a:t>
            </a:r>
          </a:p>
          <a:p>
            <a:r>
              <a:rPr lang="en-US" altLang="ko-KR"/>
              <a:t>Lakukan operasi 0 + 1 pada variabel jumlah dan simpan hasilnya, 1. Kemudian, setelah mencetak 1 : 1, kita menaikkan nilai indeks menjadi 2 dengan menggunakan operasi kenaikan.</a:t>
            </a:r>
          </a:p>
          <a:p>
            <a:r>
              <a:rPr lang="en-US" altLang="ko-KR"/>
              <a:t>Setelah kita menjalankan perulangan satu kali, kita perlu memeriksa kondisinya lagi. Apakah jumlah kurang dari 10? 1 &lt; 10 adalah benar, sehingga perulangan dijalankan.</a:t>
            </a:r>
          </a:p>
          <a:p>
            <a:r>
              <a:rPr lang="en-US" altLang="ko-KR"/>
              <a:t>Lakukan operasi 1 + 2 pada variabel penjumlahan dan simpan hasilnya, 3. Kemudian, setelah mencetak 2 : 3, kita menaikkan nilai indeks menjadi 3 menggunakan operasi kenaikan.</a:t>
            </a:r>
          </a:p>
          <a:p>
            <a:r>
              <a:rPr lang="en-US" altLang="ko-KR"/>
              <a:t>Sekarang kita telah menjalankan iterasi lain, kita periksa pernyataan kondisionalnya. Apakah jumlah kurang dari 10? 3 &lt; 10 adalah benar, sehingga perulangan dijalankan.</a:t>
            </a:r>
          </a:p>
          <a:p>
            <a:r>
              <a:rPr lang="en-US" altLang="ko-KR"/>
              <a:t>...</a:t>
            </a:r>
          </a:p>
          <a:p>
            <a:r>
              <a:rPr lang="en-US" altLang="ko-KR"/>
              <a:t>Lakukan operasi 6 + 4 pada variabel penjumlahan dan simpan hasilnya, 10. Setelah mencetak 4 : 10, kita menaikkan nilai indeks menjadi 5 menggunakan operasi kenaikan.</a:t>
            </a:r>
          </a:p>
          <a:p>
            <a:r>
              <a:rPr lang="en-US" altLang="ko-KR"/>
              <a:t>Sekarang kita telah menjalankan iterasi lain, kita memeriksa pernyataan kondisional. Apakah jumlah kurang dari 10? 10 &lt; 10 bernilai salah, jadi kita keluar dari perulangan.</a:t>
            </a:r>
          </a:p>
        </p:txBody>
      </p:sp>
      <p:sp>
        <p:nvSpPr>
          <p:cNvPr id="151556" name="슬라이드 번호 개체 틀 3">
            <a:extLst>
              <a:ext uri="{FF2B5EF4-FFF2-40B4-BE49-F238E27FC236}">
                <a16:creationId xmlns:a16="http://schemas.microsoft.com/office/drawing/2014/main" id="{9C12F591-9561-D61D-65E0-8CA5D93264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5A852D89-44C7-E841-A175-B26A57E19F09}" type="slidenum">
              <a:rPr kumimoji="0" lang="ko-KR" altLang="en-US" smtClean="0">
                <a:latin typeface="나눔고딕코딩" pitchFamily="49" charset="-127"/>
                <a:ea typeface="나눔고딕코딩" pitchFamily="49" charset="-127"/>
              </a:rPr>
              <a:pPr/>
              <a:t>34</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슬라이드 이미지 개체 틀 1">
            <a:extLst>
              <a:ext uri="{FF2B5EF4-FFF2-40B4-BE49-F238E27FC236}">
                <a16:creationId xmlns:a16="http://schemas.microsoft.com/office/drawing/2014/main" id="{030AD095-6633-10E0-2EF6-616CECF8A01B}"/>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2515" name="슬라이드 노트 개체 틀 2">
            <a:extLst>
              <a:ext uri="{FF2B5EF4-FFF2-40B4-BE49-F238E27FC236}">
                <a16:creationId xmlns:a16="http://schemas.microsoft.com/office/drawing/2014/main" id="{3CFBE2BE-310C-8A5A-ADF9-EE47C76AF4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ko-KR" altLang="en-US"/>
          </a:p>
        </p:txBody>
      </p:sp>
      <p:sp>
        <p:nvSpPr>
          <p:cNvPr id="192516" name="슬라이드 번호 개체 틀 3">
            <a:extLst>
              <a:ext uri="{FF2B5EF4-FFF2-40B4-BE49-F238E27FC236}">
                <a16:creationId xmlns:a16="http://schemas.microsoft.com/office/drawing/2014/main" id="{DFD88186-4A40-220E-2004-DE28D3F055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fld id="{DC5CCF7C-53BA-5A46-8871-B7DDFC1CFFC0}" type="slidenum">
              <a:rPr kumimoji="0" lang="ko-KR" altLang="en-US" smtClean="0">
                <a:latin typeface="나눔고딕코딩" pitchFamily="49" charset="-127"/>
                <a:ea typeface="나눔고딕코딩" pitchFamily="49" charset="-127"/>
              </a:rPr>
              <a:pPr/>
              <a:t>35</a:t>
            </a:fld>
            <a:endParaRPr kumimoji="0" lang="ko-KR" altLang="en-US">
              <a:latin typeface="나눔고딕코딩" pitchFamily="49" charset="-127"/>
              <a:ea typeface="나눔고딕코딩" pitchFamily="49" charset="-127"/>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a:spLocks noGrp="1" noRot="1" noChangeAspect="1"/>
          </p:cNvSpPr>
          <p:nvPr>
            <p:ph type="sldImg" idx="2"/>
          </p:nvPr>
        </p:nvSpPr>
        <p:spPr>
          <a:xfrm>
            <a:off x="320675" y="442912"/>
            <a:ext cx="6554787"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3" name="Google Shape;153;p7: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154" name="Google Shape;154;p7: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36</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01" name="Google Shape;201;p10: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SzPts val="1800"/>
              <a:buNone/>
            </a:pPr>
            <a:r>
              <a:rPr lang="en-US"/>
              <a:t>Cara mendeklarasikan dan membuat array secara bersamaan adalah seperti di atas.</a:t>
            </a:r>
            <a:endParaRPr/>
          </a:p>
          <a:p>
            <a:pPr marL="0" lvl="0" indent="0" algn="l" rtl="0">
              <a:spcBef>
                <a:spcPts val="0"/>
              </a:spcBef>
              <a:spcAft>
                <a:spcPts val="0"/>
              </a:spcAft>
              <a:buSzPts val="1800"/>
              <a:buNone/>
            </a:pPr>
            <a:r>
              <a:rPr lang="en-US"/>
              <a:t>Satu hal yang perlu diperhatikan saat ini adalah jumlah ruang penyimpanan tidak dapat ditulis dalam [ ] bagian deklarasi array. Jumlah ruang penyimpanan sebaiknya digunakan hanya pada bagian pembuatan array di sebelah kanan tanda =.</a:t>
            </a:r>
            <a:endParaRPr/>
          </a:p>
          <a:p>
            <a:pPr marL="0" lvl="0" indent="0" algn="l" rtl="0">
              <a:spcBef>
                <a:spcPts val="0"/>
              </a:spcBef>
              <a:spcAft>
                <a:spcPts val="0"/>
              </a:spcAft>
              <a:buSzPts val="1800"/>
              <a:buNone/>
            </a:pPr>
            <a:r>
              <a:rPr lang="en-US"/>
              <a:t>contoh) int[6] lottoNumbers = int new[]; (X)</a:t>
            </a:r>
            <a:endParaRPr/>
          </a:p>
          <a:p>
            <a:pPr marL="0" lvl="0" indent="0" algn="l" rtl="0">
              <a:spcBef>
                <a:spcPts val="0"/>
              </a:spcBef>
              <a:spcAft>
                <a:spcPts val="0"/>
              </a:spcAft>
              <a:buSzPts val="1800"/>
              <a:buNone/>
            </a:pPr>
            <a:r>
              <a:rPr lang="en-US"/>
              <a:t>     int[] lottoNumbers = int new[6]; (O)</a:t>
            </a:r>
            <a:endParaRPr/>
          </a:p>
          <a:p>
            <a:pPr marL="0" lvl="0" indent="0" algn="l" rtl="0">
              <a:spcBef>
                <a:spcPts val="0"/>
              </a:spcBef>
              <a:spcAft>
                <a:spcPts val="0"/>
              </a:spcAft>
              <a:buSzPts val="1800"/>
              <a:buNone/>
            </a:pPr>
            <a:r>
              <a:rPr lang="en-US"/>
              <a:t>Saat kita menghitung angka 1, 2, 3, 4,… Seperti ini, dimulai dari 1. Namun seringkali, komputer menggunakan 0, 1, 2, 3, … penghitungan dimulai dari 0. Dalam sebuah array, setiap spasi dibagi dengan nomor urut, yang juga dimulai dari 0.</a:t>
            </a:r>
            <a:endParaRPr/>
          </a:p>
          <a:p>
            <a:pPr marL="0" lvl="0" indent="0" algn="l" rtl="0">
              <a:spcBef>
                <a:spcPts val="0"/>
              </a:spcBef>
              <a:spcAft>
                <a:spcPts val="0"/>
              </a:spcAft>
              <a:buSzPts val="1800"/>
              <a:buNone/>
            </a:pPr>
            <a:r>
              <a:rPr lang="en-US"/>
              <a:t>Pertimbangkan array lottoNumbers di atas sebagai contoh. Array ini, dideklarasikan sebagai int[] lottoNumbers = new int[6], memiliki ruang untuk menyimpan total 6 data int. Spasi ini diberi nomor urut dari 0 sampai 5, dan nomor ini disebut indeks. Dengan kata lain, spasi pertama pada variabel susunan nomor togel mempunyai nomor indeks 0, dan spasi terakhir mempunyai nomor indeks 5. Sangat mudah untuk bingung jika memikirkan cara orang menghitung, jadi berhati-hatilah.</a:t>
            </a:r>
            <a:endParaRPr/>
          </a:p>
        </p:txBody>
      </p:sp>
      <p:sp>
        <p:nvSpPr>
          <p:cNvPr id="202" name="Google Shape;202;p10: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37</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1:notes"/>
          <p:cNvSpPr>
            <a:spLocks noGrp="1" noRot="1" noChangeAspect="1"/>
          </p:cNvSpPr>
          <p:nvPr>
            <p:ph type="sldImg" idx="2"/>
          </p:nvPr>
        </p:nvSpPr>
        <p:spPr>
          <a:xfrm>
            <a:off x="320675" y="442913"/>
            <a:ext cx="6554788" cy="49164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34" name="Google Shape;234;p11:notes"/>
          <p:cNvSpPr txBox="1">
            <a:spLocks noGrp="1"/>
          </p:cNvSpPr>
          <p:nvPr>
            <p:ph type="body" idx="1"/>
          </p:nvPr>
        </p:nvSpPr>
        <p:spPr>
          <a:xfrm>
            <a:off x="311150" y="5600700"/>
            <a:ext cx="6573837" cy="4029075"/>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SzPts val="1800"/>
              <a:buNone/>
            </a:pPr>
            <a:r>
              <a:rPr lang="en-US"/>
              <a:t>Bagaimana cara mencetak nilai untuk memeriksa nilai yang disimpan dalam array? Anda harus menggunakan System.out.println() yang artinya keluaran standar, dan elemen yang harus ditempatkan dalam tanda kurung adalah nama variabel [nomor indeks]. Dengan kata lain, jika Anda ingin memeriksa data pertama dalam array lottoNumbers, cetak lottoNumbers[0].</a:t>
            </a:r>
            <a:endParaRPr/>
          </a:p>
          <a:p>
            <a:pPr marL="0" lvl="0" indent="0" algn="l" rtl="0">
              <a:spcBef>
                <a:spcPts val="0"/>
              </a:spcBef>
              <a:spcAft>
                <a:spcPts val="0"/>
              </a:spcAft>
              <a:buSzPts val="1800"/>
              <a:buNone/>
            </a:pPr>
            <a:r>
              <a:rPr lang="en-US"/>
              <a:t>misal) System.out.println( lottoNumbers[0] );</a:t>
            </a:r>
            <a:endParaRPr/>
          </a:p>
          <a:p>
            <a:pPr marL="0" lvl="0" indent="0" algn="l" rtl="0">
              <a:spcBef>
                <a:spcPts val="0"/>
              </a:spcBef>
              <a:spcAft>
                <a:spcPts val="0"/>
              </a:spcAft>
              <a:buSzPts val="1800"/>
              <a:buNone/>
            </a:pPr>
            <a:r>
              <a:rPr lang="en-US"/>
              <a:t>Apa yang terjadi jika Anda hanya menulis nama variabel dari variabel array dalam tanda kurung dan mengeksekusi System.out.println() seperti variabel tipe data dasar? Karena array juga merupakan objek, nilai alamat referensi yang dapat digunakan untuk menemukan array adalah outputnya.</a:t>
            </a:r>
            <a:endParaRPr/>
          </a:p>
          <a:p>
            <a:pPr marL="0" lvl="0" indent="0" algn="l" rtl="0">
              <a:spcBef>
                <a:spcPts val="0"/>
              </a:spcBef>
              <a:spcAft>
                <a:spcPts val="0"/>
              </a:spcAft>
              <a:buSzPts val="1800"/>
              <a:buNone/>
            </a:pPr>
            <a:r>
              <a:rPr lang="en-US"/>
              <a:t>misal) System.out.println( lottoNumbers ); -&gt; Hasil:</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Jangan lupa ketika ingin mencetak nilai suatu array harus menggunakan nomor indeks.</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Nomor indeks array dimulai dari 0 dan dilanjutkan dengan angka satu kurang dari jumlah ruang penyimpanan. Apa yang terjadi jika Anda menggunakan nomor indeks di luar nomor tersebut? Array lottoNumbers di atas hanya memiliki nomor indeks dari 0 hingga 5. Untuk mengakses nomor 6, kita akan menulis dan menjalankan kode yang disebut System.out.println( lottoNumbers[6]).</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Seperti yang ditunjukkan di atas, terjadi kesalahan yang disebut ArrayIndexOutOfBoundsException. Kesalahan ini berarti ada upaya yang dilakukan untuk mengakses rentang di luar indeks array. Dengan cara ini, jumlah spasi yang awalnya dibuat dalam array diatur, dan nomor indeks ditetapkan sesuai dengan nomor tersebut. Berhati-hatilah juga karena kesalahan akan terjadi jika Anda mencoba mengakses di luar nomor indeks.</a:t>
            </a:r>
            <a:endParaRPr/>
          </a:p>
        </p:txBody>
      </p:sp>
      <p:sp>
        <p:nvSpPr>
          <p:cNvPr id="235" name="Google Shape;235;p11:notes"/>
          <p:cNvSpPr txBox="1"/>
          <p:nvPr/>
        </p:nvSpPr>
        <p:spPr>
          <a:xfrm>
            <a:off x="3140075" y="9852025"/>
            <a:ext cx="784225" cy="352425"/>
          </a:xfrm>
          <a:prstGeom prst="rect">
            <a:avLst/>
          </a:prstGeom>
          <a:noFill/>
          <a:ln>
            <a:noFill/>
          </a:ln>
        </p:spPr>
        <p:txBody>
          <a:bodyPr spcFirstLastPara="1" wrap="square" lIns="99050" tIns="49525" rIns="99050" bIns="49525"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US" sz="1000" b="0" i="0" u="none">
                <a:solidFill>
                  <a:srgbClr val="000000"/>
                </a:solidFill>
                <a:latin typeface="Arial"/>
                <a:ea typeface="Arial"/>
                <a:cs typeface="Arial"/>
                <a:sym typeface="Arial"/>
              </a:rPr>
              <a:t>38</a:t>
            </a:fld>
            <a:endParaRPr/>
          </a:p>
        </p:txBody>
      </p:sp>
      <p:pic>
        <p:nvPicPr>
          <p:cNvPr id="236" name="Google Shape;236;p11:notes"/>
          <p:cNvPicPr preferRelativeResize="0"/>
          <p:nvPr/>
        </p:nvPicPr>
        <p:blipFill rotWithShape="1">
          <a:blip r:embed="rId3">
            <a:alphaModFix/>
          </a:blip>
          <a:srcRect/>
          <a:stretch/>
        </p:blipFill>
        <p:spPr>
          <a:xfrm>
            <a:off x="2481262" y="8321675"/>
            <a:ext cx="3530600" cy="515937"/>
          </a:xfrm>
          <a:prstGeom prst="rect">
            <a:avLst/>
          </a:prstGeom>
          <a:noFill/>
          <a:ln w="12700" cap="flat" cmpd="sng">
            <a:solidFill>
              <a:srgbClr val="000000"/>
            </a:solidFill>
            <a:prstDash val="solid"/>
            <a:miter lim="800000"/>
            <a:headEnd type="none" w="sm" len="sm"/>
            <a:tailEnd type="none" w="sm" len="sm"/>
          </a:ln>
        </p:spPr>
      </p:pic>
      <p:pic>
        <p:nvPicPr>
          <p:cNvPr id="237" name="Google Shape;237;p11:notes"/>
          <p:cNvPicPr preferRelativeResize="0"/>
          <p:nvPr/>
        </p:nvPicPr>
        <p:blipFill rotWithShape="1">
          <a:blip r:embed="rId4">
            <a:alphaModFix/>
          </a:blip>
          <a:srcRect/>
          <a:stretch/>
        </p:blipFill>
        <p:spPr>
          <a:xfrm>
            <a:off x="3924300" y="6858000"/>
            <a:ext cx="1155700" cy="504825"/>
          </a:xfrm>
          <a:prstGeom prst="rect">
            <a:avLst/>
          </a:prstGeom>
          <a:noFill/>
          <a:ln w="12700" cap="flat" cmpd="sng">
            <a:solidFill>
              <a:srgbClr val="000000"/>
            </a:solidFill>
            <a:prstDash val="solid"/>
            <a:miter lim="800000"/>
            <a:headEnd type="none" w="sm" len="sm"/>
            <a:tailEnd type="none" w="sm" len="sm"/>
          </a:ln>
        </p:spPr>
      </p:pic>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제목 슬라이드">
  <p:cSld name="1_제목 슬라이드">
    <p:spTree>
      <p:nvGrpSpPr>
        <p:cNvPr id="1"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제목 슬라이드">
  <p:cSld name="2_제목 슬라이드">
    <p:spTree>
      <p:nvGrpSpPr>
        <p:cNvPr id="1" name="Shape 2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제목 슬라이드">
  <p:cSld name="제목 슬라이드">
    <p:spTree>
      <p:nvGrpSpPr>
        <p:cNvPr id="1" name="Shape 3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제목 슬라이드">
  <p:cSld name="제목 슬라이드">
    <p:spTree>
      <p:nvGrpSpPr>
        <p:cNvPr id="1" name="Shape 3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720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sp>
        <p:nvSpPr>
          <p:cNvPr id="2" name="제목 5">
            <a:extLst>
              <a:ext uri="{FF2B5EF4-FFF2-40B4-BE49-F238E27FC236}">
                <a16:creationId xmlns:a16="http://schemas.microsoft.com/office/drawing/2014/main" id="{60ABA928-D2C0-B452-9E87-8D6224C9EC1A}"/>
              </a:ext>
            </a:extLst>
          </p:cNvPr>
          <p:cNvSpPr>
            <a:spLocks/>
          </p:cNvSpPr>
          <p:nvPr userDrawn="1"/>
        </p:nvSpPr>
        <p:spPr bwMode="auto">
          <a:xfrm>
            <a:off x="441325" y="49213"/>
            <a:ext cx="4168775" cy="571500"/>
          </a:xfrm>
          <a:prstGeom prst="rect">
            <a:avLst/>
          </a:prstGeom>
          <a:noFill/>
          <a:ln>
            <a:noFill/>
          </a:ln>
        </p:spPr>
        <p:txBody>
          <a:bodyPr lIns="86200" tIns="43100" rIns="86200" bIns="43100" anchor="ctr"/>
          <a:lstStyle>
            <a:lvl1pPr indent="84138" defTabSz="922338" eaLnBrk="0" hangingPunct="0">
              <a:defRPr kumimoji="1">
                <a:solidFill>
                  <a:schemeClr val="tx1"/>
                </a:solidFill>
                <a:latin typeface="굴림" panose="020B0600000101010101" pitchFamily="50" charset="-127"/>
                <a:ea typeface="굴림" panose="020B0600000101010101" pitchFamily="50" charset="-127"/>
              </a:defRPr>
            </a:lvl1pPr>
            <a:lvl2pPr marL="742950" indent="-285750" defTabSz="922338" eaLnBrk="0" hangingPunct="0">
              <a:defRPr kumimoji="1">
                <a:solidFill>
                  <a:schemeClr val="tx1"/>
                </a:solidFill>
                <a:latin typeface="굴림" panose="020B0600000101010101" pitchFamily="50" charset="-127"/>
                <a:ea typeface="굴림" panose="020B0600000101010101" pitchFamily="50" charset="-127"/>
              </a:defRPr>
            </a:lvl2pPr>
            <a:lvl3pPr marL="1143000" indent="-228600" defTabSz="922338" eaLnBrk="0" hangingPunct="0">
              <a:defRPr kumimoji="1">
                <a:solidFill>
                  <a:schemeClr val="tx1"/>
                </a:solidFill>
                <a:latin typeface="굴림" panose="020B0600000101010101" pitchFamily="50" charset="-127"/>
                <a:ea typeface="굴림" panose="020B0600000101010101" pitchFamily="50" charset="-127"/>
              </a:defRPr>
            </a:lvl3pPr>
            <a:lvl4pPr marL="1600200" indent="-228600" defTabSz="922338" eaLnBrk="0" hangingPunct="0">
              <a:defRPr kumimoji="1">
                <a:solidFill>
                  <a:schemeClr val="tx1"/>
                </a:solidFill>
                <a:latin typeface="굴림" panose="020B0600000101010101" pitchFamily="50" charset="-127"/>
                <a:ea typeface="굴림" panose="020B0600000101010101" pitchFamily="50" charset="-127"/>
              </a:defRPr>
            </a:lvl4pPr>
            <a:lvl5pPr marL="2057400" indent="-228600" defTabSz="922338" eaLnBrk="0" hangingPunct="0">
              <a:defRPr kumimoji="1">
                <a:solidFill>
                  <a:schemeClr val="tx1"/>
                </a:solidFill>
                <a:latin typeface="굴림" panose="020B0600000101010101" pitchFamily="50" charset="-127"/>
                <a:ea typeface="굴림" panose="020B0600000101010101" pitchFamily="50"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r>
              <a:rPr kumimoji="0" lang="en-US" altLang="ko-KR" sz="2300" b="1" err="1">
                <a:solidFill>
                  <a:schemeClr val="bg1"/>
                </a:solidFill>
                <a:latin typeface="LG스마트체2.0 Regular" panose="020B0600000101010101" pitchFamily="50" charset="-127"/>
                <a:ea typeface="LG스마트체2.0 Regular" panose="020B0600000101010101" pitchFamily="50" charset="-127"/>
              </a:rPr>
              <a:t>Ikuti</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 Hello World!!</a:t>
            </a:r>
          </a:p>
        </p:txBody>
      </p:sp>
      <p:pic>
        <p:nvPicPr>
          <p:cNvPr id="3" name="Picture 11" descr="http://icons.iconarchive.com/icons/milosz-wlazlo/boomy/48/documents-or-copy-icon.png">
            <a:extLst>
              <a:ext uri="{FF2B5EF4-FFF2-40B4-BE49-F238E27FC236}">
                <a16:creationId xmlns:a16="http://schemas.microsoft.com/office/drawing/2014/main" id="{5610499F-F0F4-B409-A874-0FA15FBAD3B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3825" y="1063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3327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제목 슬라이드">
  <p:cSld name="제목 슬라이드">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686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
        <p:nvSpPr>
          <p:cNvPr id="2" name="제목 5">
            <a:extLst>
              <a:ext uri="{FF2B5EF4-FFF2-40B4-BE49-F238E27FC236}">
                <a16:creationId xmlns:a16="http://schemas.microsoft.com/office/drawing/2014/main" id="{42646AA8-755B-8F47-5E07-6D40E9B694E9}"/>
              </a:ext>
            </a:extLst>
          </p:cNvPr>
          <p:cNvSpPr>
            <a:spLocks/>
          </p:cNvSpPr>
          <p:nvPr userDrawn="1"/>
        </p:nvSpPr>
        <p:spPr bwMode="auto">
          <a:xfrm>
            <a:off x="441325" y="49213"/>
            <a:ext cx="5872163" cy="571500"/>
          </a:xfrm>
          <a:prstGeom prst="rect">
            <a:avLst/>
          </a:prstGeom>
          <a:noFill/>
          <a:ln>
            <a:noFill/>
          </a:ln>
        </p:spPr>
        <p:txBody>
          <a:bodyPr lIns="86200" tIns="43100" rIns="86200" bIns="43100" anchor="ctr"/>
          <a:lstStyle>
            <a:lvl1pPr indent="84138" defTabSz="922338" eaLnBrk="0" hangingPunct="0">
              <a:defRPr kumimoji="1">
                <a:solidFill>
                  <a:schemeClr val="tx1"/>
                </a:solidFill>
                <a:latin typeface="굴림" panose="020B0600000101010101" pitchFamily="50" charset="-127"/>
                <a:ea typeface="굴림" panose="020B0600000101010101" pitchFamily="50" charset="-127"/>
              </a:defRPr>
            </a:lvl1pPr>
            <a:lvl2pPr marL="742950" indent="-285750" defTabSz="922338" eaLnBrk="0" hangingPunct="0">
              <a:defRPr kumimoji="1">
                <a:solidFill>
                  <a:schemeClr val="tx1"/>
                </a:solidFill>
                <a:latin typeface="굴림" panose="020B0600000101010101" pitchFamily="50" charset="-127"/>
                <a:ea typeface="굴림" panose="020B0600000101010101" pitchFamily="50" charset="-127"/>
              </a:defRPr>
            </a:lvl2pPr>
            <a:lvl3pPr marL="1143000" indent="-228600" defTabSz="922338" eaLnBrk="0" hangingPunct="0">
              <a:defRPr kumimoji="1">
                <a:solidFill>
                  <a:schemeClr val="tx1"/>
                </a:solidFill>
                <a:latin typeface="굴림" panose="020B0600000101010101" pitchFamily="50" charset="-127"/>
                <a:ea typeface="굴림" panose="020B0600000101010101" pitchFamily="50" charset="-127"/>
              </a:defRPr>
            </a:lvl3pPr>
            <a:lvl4pPr marL="1600200" indent="-228600" defTabSz="922338" eaLnBrk="0" hangingPunct="0">
              <a:defRPr kumimoji="1">
                <a:solidFill>
                  <a:schemeClr val="tx1"/>
                </a:solidFill>
                <a:latin typeface="굴림" panose="020B0600000101010101" pitchFamily="50" charset="-127"/>
                <a:ea typeface="굴림" panose="020B0600000101010101" pitchFamily="50" charset="-127"/>
              </a:defRPr>
            </a:lvl4pPr>
            <a:lvl5pPr marL="2057400" indent="-228600" defTabSz="922338" eaLnBrk="0" hangingPunct="0">
              <a:defRPr kumimoji="1">
                <a:solidFill>
                  <a:schemeClr val="tx1"/>
                </a:solidFill>
                <a:latin typeface="굴림" panose="020B0600000101010101" pitchFamily="50" charset="-127"/>
                <a:ea typeface="굴림" panose="020B0600000101010101" pitchFamily="50"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r>
              <a:rPr kumimoji="0" lang="en-US" altLang="ko-KR" sz="2300" b="1" err="1">
                <a:solidFill>
                  <a:schemeClr val="bg1"/>
                </a:solidFill>
                <a:latin typeface="LG스마트체2.0 Regular" panose="020B0600000101010101" pitchFamily="50" charset="-127"/>
                <a:ea typeface="LG스마트체2.0 Regular" panose="020B0600000101010101" pitchFamily="50" charset="-127"/>
              </a:rPr>
              <a:t>Ikuti</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 </a:t>
            </a:r>
            <a:r>
              <a:rPr kumimoji="0" lang="en-ID" altLang="ko-KR" sz="2300" b="1" err="1">
                <a:solidFill>
                  <a:schemeClr val="bg1"/>
                </a:solidFill>
                <a:latin typeface="LG스마트체2.0 Regular" panose="020B0600000101010101" pitchFamily="50" charset="-127"/>
                <a:ea typeface="LG스마트체2.0 Regular" panose="020B0600000101010101" pitchFamily="50" charset="-127"/>
              </a:rPr>
              <a:t>kalkulator</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 </a:t>
            </a:r>
            <a:r>
              <a:rPr kumimoji="0" lang="en-ID" altLang="ko-KR" sz="2300" b="1" err="1">
                <a:solidFill>
                  <a:schemeClr val="bg1"/>
                </a:solidFill>
                <a:latin typeface="LG스마트체2.0 Regular" panose="020B0600000101010101" pitchFamily="50" charset="-127"/>
                <a:ea typeface="LG스마트체2.0 Regular" panose="020B0600000101010101" pitchFamily="50" charset="-127"/>
              </a:rPr>
              <a:t>aritmatika</a:t>
            </a:r>
            <a:endParaRPr kumimoji="0" lang="en-US" altLang="ko-KR" sz="2300" b="1">
              <a:solidFill>
                <a:schemeClr val="bg1"/>
              </a:solidFill>
              <a:latin typeface="LG스마트체2.0 Regular" panose="020B0600000101010101" pitchFamily="50" charset="-127"/>
              <a:ea typeface="LG스마트체2.0 Regular" panose="020B0600000101010101" pitchFamily="50" charset="-127"/>
            </a:endParaRPr>
          </a:p>
        </p:txBody>
      </p:sp>
      <p:pic>
        <p:nvPicPr>
          <p:cNvPr id="3" name="Picture 11" descr="http://icons.iconarchive.com/icons/milosz-wlazlo/boomy/48/documents-or-copy-icon.png">
            <a:extLst>
              <a:ext uri="{FF2B5EF4-FFF2-40B4-BE49-F238E27FC236}">
                <a16:creationId xmlns:a16="http://schemas.microsoft.com/office/drawing/2014/main" id="{E0122E0A-DB9F-BD8D-384C-2DCFF49D2FA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3825" y="1063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0542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제목 슬라이드">
    <p:spTree>
      <p:nvGrpSpPr>
        <p:cNvPr id="1" name=""/>
        <p:cNvGrpSpPr/>
        <p:nvPr/>
      </p:nvGrpSpPr>
      <p:grpSpPr>
        <a:xfrm>
          <a:off x="0" y="0"/>
          <a:ext cx="0" cy="0"/>
          <a:chOff x="0" y="0"/>
          <a:chExt cx="0" cy="0"/>
        </a:xfrm>
      </p:grpSpPr>
      <p:sp>
        <p:nvSpPr>
          <p:cNvPr id="2" name="제목 5">
            <a:extLst>
              <a:ext uri="{FF2B5EF4-FFF2-40B4-BE49-F238E27FC236}">
                <a16:creationId xmlns:a16="http://schemas.microsoft.com/office/drawing/2014/main" id="{631D69E1-DAB7-41AF-714A-154C7D13FAA6}"/>
              </a:ext>
            </a:extLst>
          </p:cNvPr>
          <p:cNvSpPr>
            <a:spLocks/>
          </p:cNvSpPr>
          <p:nvPr userDrawn="1"/>
        </p:nvSpPr>
        <p:spPr bwMode="auto">
          <a:xfrm>
            <a:off x="441325" y="49213"/>
            <a:ext cx="3481388" cy="571500"/>
          </a:xfrm>
          <a:prstGeom prst="rect">
            <a:avLst/>
          </a:prstGeom>
          <a:noFill/>
          <a:ln>
            <a:noFill/>
          </a:ln>
        </p:spPr>
        <p:txBody>
          <a:bodyPr lIns="86200" tIns="43100" rIns="86200" bIns="43100" anchor="ctr"/>
          <a:lstStyle>
            <a:lvl1pPr indent="84138" defTabSz="922338" eaLnBrk="0" hangingPunct="0">
              <a:defRPr kumimoji="1">
                <a:solidFill>
                  <a:schemeClr val="tx1"/>
                </a:solidFill>
                <a:latin typeface="굴림" panose="020B0600000101010101" pitchFamily="50" charset="-127"/>
                <a:ea typeface="굴림" panose="020B0600000101010101" pitchFamily="50" charset="-127"/>
              </a:defRPr>
            </a:lvl1pPr>
            <a:lvl2pPr marL="742950" indent="-285750" defTabSz="922338" eaLnBrk="0" hangingPunct="0">
              <a:defRPr kumimoji="1">
                <a:solidFill>
                  <a:schemeClr val="tx1"/>
                </a:solidFill>
                <a:latin typeface="굴림" panose="020B0600000101010101" pitchFamily="50" charset="-127"/>
                <a:ea typeface="굴림" panose="020B0600000101010101" pitchFamily="50" charset="-127"/>
              </a:defRPr>
            </a:lvl2pPr>
            <a:lvl3pPr marL="1143000" indent="-228600" defTabSz="922338" eaLnBrk="0" hangingPunct="0">
              <a:defRPr kumimoji="1">
                <a:solidFill>
                  <a:schemeClr val="tx1"/>
                </a:solidFill>
                <a:latin typeface="굴림" panose="020B0600000101010101" pitchFamily="50" charset="-127"/>
                <a:ea typeface="굴림" panose="020B0600000101010101" pitchFamily="50" charset="-127"/>
              </a:defRPr>
            </a:lvl3pPr>
            <a:lvl4pPr marL="1600200" indent="-228600" defTabSz="922338" eaLnBrk="0" hangingPunct="0">
              <a:defRPr kumimoji="1">
                <a:solidFill>
                  <a:schemeClr val="tx1"/>
                </a:solidFill>
                <a:latin typeface="굴림" panose="020B0600000101010101" pitchFamily="50" charset="-127"/>
                <a:ea typeface="굴림" panose="020B0600000101010101" pitchFamily="50" charset="-127"/>
              </a:defRPr>
            </a:lvl4pPr>
            <a:lvl5pPr marL="2057400" indent="-228600" defTabSz="922338" eaLnBrk="0" hangingPunct="0">
              <a:defRPr kumimoji="1">
                <a:solidFill>
                  <a:schemeClr val="tx1"/>
                </a:solidFill>
                <a:latin typeface="굴림" panose="020B0600000101010101" pitchFamily="50" charset="-127"/>
                <a:ea typeface="굴림" panose="020B0600000101010101" pitchFamily="50"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r>
              <a:rPr kumimoji="0" lang="en-US" altLang="ko-KR" sz="2300" b="1" err="1">
                <a:solidFill>
                  <a:schemeClr val="bg1"/>
                </a:solidFill>
                <a:latin typeface="LG스마트체2.0 Regular" panose="020B0600000101010101" pitchFamily="50" charset="-127"/>
                <a:ea typeface="LG스마트체2.0 Regular" panose="020B0600000101010101" pitchFamily="50" charset="-127"/>
              </a:rPr>
              <a:t>Ikuti</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 </a:t>
            </a:r>
            <a:r>
              <a:rPr kumimoji="0" lang="en-ID" altLang="ko-KR" sz="2300" b="1" err="1">
                <a:solidFill>
                  <a:schemeClr val="bg1"/>
                </a:solidFill>
                <a:latin typeface="LG스마트체2.0 Regular" panose="020B0600000101010101" pitchFamily="50" charset="-127"/>
                <a:ea typeface="LG스마트체2.0 Regular" panose="020B0600000101010101" pitchFamily="50" charset="-127"/>
              </a:rPr>
              <a:t>Cetak</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 </a:t>
            </a:r>
            <a:r>
              <a:rPr kumimoji="0" lang="en-ID" altLang="ko-KR" sz="2300" b="1" err="1">
                <a:solidFill>
                  <a:schemeClr val="bg1"/>
                </a:solidFill>
                <a:latin typeface="LG스마트체2.0 Regular" panose="020B0600000101010101" pitchFamily="50" charset="-127"/>
                <a:ea typeface="LG스마트체2.0 Regular" panose="020B0600000101010101" pitchFamily="50" charset="-127"/>
              </a:rPr>
              <a:t>bintang</a:t>
            </a:r>
            <a:endParaRPr kumimoji="0" lang="en-US" altLang="ko-KR" sz="2300" b="1">
              <a:solidFill>
                <a:schemeClr val="bg1"/>
              </a:solidFill>
              <a:latin typeface="LG스마트체2.0 Regular" panose="020B0600000101010101" pitchFamily="50" charset="-127"/>
              <a:ea typeface="LG스마트체2.0 Regular" panose="020B0600000101010101" pitchFamily="50" charset="-127"/>
            </a:endParaRPr>
          </a:p>
        </p:txBody>
      </p:sp>
      <p:pic>
        <p:nvPicPr>
          <p:cNvPr id="3" name="Picture 11" descr="http://icons.iconarchive.com/icons/milosz-wlazlo/boomy/48/documents-or-copy-icon.png">
            <a:extLst>
              <a:ext uri="{FF2B5EF4-FFF2-40B4-BE49-F238E27FC236}">
                <a16:creationId xmlns:a16="http://schemas.microsoft.com/office/drawing/2014/main" id="{293B80DA-191B-2BDD-F154-CAE0F11DACB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3825" y="1063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753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제목 슬라이드">
  <p:cSld name="제목 슬라이드">
    <p:spTree>
      <p:nvGrpSpPr>
        <p:cNvPr id="1" name="Shape 5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제목 슬라이드">
  <p:cSld name="2_제목 슬라이드">
    <p:spTree>
      <p:nvGrpSpPr>
        <p:cNvPr id="1" name="Shape 56"/>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제목 슬라이드">
  <p:cSld name="2_제목 슬라이드">
    <p:spTree>
      <p:nvGrpSpPr>
        <p:cNvPr id="1" name="Shape 2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제목 슬라이드">
  <p:cSld name="제목 슬라이드">
    <p:spTree>
      <p:nvGrpSpPr>
        <p:cNvPr id="1" name="Shape 74"/>
        <p:cNvGrpSpPr/>
        <p:nvPr/>
      </p:nvGrpSpPr>
      <p:grpSpPr>
        <a:xfrm>
          <a:off x="0" y="0"/>
          <a:ext cx="0" cy="0"/>
          <a:chOff x="0" y="0"/>
          <a:chExt cx="0" cy="0"/>
        </a:xfrm>
      </p:grpSpPr>
    </p:spTree>
    <p:extLst>
      <p:ext uri="{BB962C8B-B14F-4D97-AF65-F5344CB8AC3E}">
        <p14:creationId xmlns:p14="http://schemas.microsoft.com/office/powerpoint/2010/main" val="14514414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heme" Target="../theme/theme6.xml"/><Relationship Id="rId4" Type="http://schemas.openxmlformats.org/officeDocument/2006/relationships/slideLayout" Target="../slideLayouts/slideLayout10.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7.xml"/><Relationship Id="rId1" Type="http://schemas.openxmlformats.org/officeDocument/2006/relationships/slideLayout" Target="../slideLayouts/slideLayout11.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8.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Shape 10"/>
        <p:cNvGrpSpPr/>
        <p:nvPr/>
      </p:nvGrpSpPr>
      <p:grpSpPr>
        <a:xfrm>
          <a:off x="0" y="0"/>
          <a:ext cx="0" cy="0"/>
          <a:chOff x="0" y="0"/>
          <a:chExt cx="0" cy="0"/>
        </a:xfrm>
      </p:grpSpPr>
      <p:sp>
        <p:nvSpPr>
          <p:cNvPr id="11" name="Google Shape;11;p10"/>
          <p:cNvSpPr txBox="1"/>
          <p:nvPr/>
        </p:nvSpPr>
        <p:spPr>
          <a:xfrm>
            <a:off x="-3175" y="0"/>
            <a:ext cx="1233487" cy="6858000"/>
          </a:xfrm>
          <a:prstGeom prst="rect">
            <a:avLst/>
          </a:prstGeom>
          <a:solidFill>
            <a:srgbClr val="404040"/>
          </a:solidFill>
          <a:ln>
            <a:noFill/>
          </a:ln>
        </p:spPr>
        <p:txBody>
          <a:bodyPr spcFirstLastPara="1" wrap="square" lIns="86450" tIns="43225" rIns="86450" bIns="432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cxnSp>
        <p:nvCxnSpPr>
          <p:cNvPr id="12" name="Google Shape;12;p10"/>
          <p:cNvCxnSpPr/>
          <p:nvPr/>
        </p:nvCxnSpPr>
        <p:spPr>
          <a:xfrm>
            <a:off x="0" y="1466850"/>
            <a:ext cx="1231900" cy="0"/>
          </a:xfrm>
          <a:prstGeom prst="straightConnector1">
            <a:avLst/>
          </a:prstGeom>
          <a:noFill/>
          <a:ln w="38100" cap="flat" cmpd="sng">
            <a:solidFill>
              <a:schemeClr val="lt1"/>
            </a:solidFill>
            <a:prstDash val="solid"/>
            <a:miter lim="800000"/>
            <a:headEnd type="none" w="med" len="med"/>
            <a:tailEnd type="none" w="med" len="med"/>
          </a:ln>
        </p:spPr>
      </p:cxnSp>
      <p:cxnSp>
        <p:nvCxnSpPr>
          <p:cNvPr id="13" name="Google Shape;13;p10"/>
          <p:cNvCxnSpPr/>
          <p:nvPr/>
        </p:nvCxnSpPr>
        <p:spPr>
          <a:xfrm>
            <a:off x="1271587" y="1466850"/>
            <a:ext cx="3959225" cy="0"/>
          </a:xfrm>
          <a:prstGeom prst="straightConnector1">
            <a:avLst/>
          </a:prstGeom>
          <a:noFill/>
          <a:ln w="38100" cap="flat" cmpd="sng">
            <a:solidFill>
              <a:srgbClr val="C5003D"/>
            </a:solidFill>
            <a:prstDash val="solid"/>
            <a:miter lim="800000"/>
            <a:headEnd type="none" w="med" len="med"/>
            <a:tailEnd type="none" w="med" len="med"/>
          </a:ln>
        </p:spPr>
      </p:cxnSp>
      <p:cxnSp>
        <p:nvCxnSpPr>
          <p:cNvPr id="14" name="Google Shape;14;p10"/>
          <p:cNvCxnSpPr/>
          <p:nvPr/>
        </p:nvCxnSpPr>
        <p:spPr>
          <a:xfrm>
            <a:off x="1271587" y="1549400"/>
            <a:ext cx="4319587" cy="0"/>
          </a:xfrm>
          <a:prstGeom prst="straightConnector1">
            <a:avLst/>
          </a:prstGeom>
          <a:noFill/>
          <a:ln w="38100" cap="flat" cmpd="sng">
            <a:solidFill>
              <a:srgbClr val="404040"/>
            </a:solidFill>
            <a:prstDash val="solid"/>
            <a:miter lim="800000"/>
            <a:headEnd type="none" w="med" len="med"/>
            <a:tailEnd type="none" w="med" len="med"/>
          </a:ln>
        </p:spPr>
      </p:cxnSp>
      <p:sp>
        <p:nvSpPr>
          <p:cNvPr id="15" name="Google Shape;15;p10"/>
          <p:cNvSpPr txBox="1"/>
          <p:nvPr/>
        </p:nvSpPr>
        <p:spPr>
          <a:xfrm>
            <a:off x="5103812" y="6373812"/>
            <a:ext cx="3952875" cy="346075"/>
          </a:xfrm>
          <a:prstGeom prst="rect">
            <a:avLst/>
          </a:prstGeom>
          <a:noFill/>
          <a:ln>
            <a:noFill/>
          </a:ln>
        </p:spPr>
        <p:txBody>
          <a:bodyPr spcFirstLastPara="1" wrap="square" lIns="170175" tIns="43225" rIns="86450" bIns="43225" anchor="ctr" anchorCtr="0">
            <a:noAutofit/>
          </a:bodyPr>
          <a:lstStyle/>
          <a:p>
            <a:pPr marL="0" marR="0" lvl="0" indent="0" algn="r" rtl="0">
              <a:lnSpc>
                <a:spcPct val="100000"/>
              </a:lnSpc>
              <a:spcBef>
                <a:spcPts val="0"/>
              </a:spcBef>
              <a:spcAft>
                <a:spcPts val="0"/>
              </a:spcAft>
              <a:buClr>
                <a:srgbClr val="404040"/>
              </a:buClr>
              <a:buSzPts val="1900"/>
              <a:buFont typeface="Arial"/>
              <a:buNone/>
            </a:pPr>
            <a:r>
              <a:rPr lang="en-US" sz="1900" b="1" i="0" u="none">
                <a:solidFill>
                  <a:srgbClr val="404040"/>
                </a:solidFill>
                <a:latin typeface="Arial"/>
                <a:ea typeface="Arial"/>
                <a:cs typeface="Arial"/>
                <a:sym typeface="Arial"/>
              </a:rPr>
              <a:t>Java Programming</a:t>
            </a:r>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Shape 22"/>
        <p:cNvGrpSpPr/>
        <p:nvPr/>
      </p:nvGrpSpPr>
      <p:grpSpPr>
        <a:xfrm>
          <a:off x="0" y="0"/>
          <a:ext cx="0" cy="0"/>
          <a:chOff x="0" y="0"/>
          <a:chExt cx="0" cy="0"/>
        </a:xfrm>
      </p:grpSpPr>
      <p:sp>
        <p:nvSpPr>
          <p:cNvPr id="23" name="Google Shape;23;p14"/>
          <p:cNvSpPr txBox="1"/>
          <p:nvPr/>
        </p:nvSpPr>
        <p:spPr>
          <a:xfrm>
            <a:off x="-3175" y="0"/>
            <a:ext cx="1233487" cy="6858000"/>
          </a:xfrm>
          <a:prstGeom prst="rect">
            <a:avLst/>
          </a:prstGeom>
          <a:solidFill>
            <a:srgbClr val="404040"/>
          </a:solidFill>
          <a:ln>
            <a:noFill/>
          </a:ln>
        </p:spPr>
        <p:txBody>
          <a:bodyPr spcFirstLastPara="1" wrap="square" lIns="86450" tIns="43225" rIns="86450" bIns="432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cxnSp>
        <p:nvCxnSpPr>
          <p:cNvPr id="24" name="Google Shape;24;p14"/>
          <p:cNvCxnSpPr/>
          <p:nvPr/>
        </p:nvCxnSpPr>
        <p:spPr>
          <a:xfrm>
            <a:off x="0" y="1466850"/>
            <a:ext cx="1231900" cy="0"/>
          </a:xfrm>
          <a:prstGeom prst="straightConnector1">
            <a:avLst/>
          </a:prstGeom>
          <a:noFill/>
          <a:ln w="38100" cap="flat" cmpd="sng">
            <a:solidFill>
              <a:schemeClr val="lt1"/>
            </a:solidFill>
            <a:prstDash val="solid"/>
            <a:miter lim="800000"/>
            <a:headEnd type="none" w="med" len="med"/>
            <a:tailEnd type="none" w="med" len="med"/>
          </a:ln>
        </p:spPr>
      </p:cxnSp>
      <p:cxnSp>
        <p:nvCxnSpPr>
          <p:cNvPr id="25" name="Google Shape;25;p14"/>
          <p:cNvCxnSpPr/>
          <p:nvPr/>
        </p:nvCxnSpPr>
        <p:spPr>
          <a:xfrm>
            <a:off x="1271587" y="1466850"/>
            <a:ext cx="3322637" cy="0"/>
          </a:xfrm>
          <a:prstGeom prst="straightConnector1">
            <a:avLst/>
          </a:prstGeom>
          <a:noFill/>
          <a:ln w="38100" cap="flat" cmpd="sng">
            <a:solidFill>
              <a:srgbClr val="404040"/>
            </a:solidFill>
            <a:prstDash val="solid"/>
            <a:miter lim="800000"/>
            <a:headEnd type="none" w="med" len="med"/>
            <a:tailEnd type="none" w="med" len="med"/>
          </a:ln>
        </p:spPr>
      </p:cxnSp>
      <p:sp>
        <p:nvSpPr>
          <p:cNvPr id="26" name="Google Shape;26;p14"/>
          <p:cNvSpPr txBox="1"/>
          <p:nvPr/>
        </p:nvSpPr>
        <p:spPr>
          <a:xfrm>
            <a:off x="5103812" y="6373812"/>
            <a:ext cx="3952875" cy="346075"/>
          </a:xfrm>
          <a:prstGeom prst="rect">
            <a:avLst/>
          </a:prstGeom>
          <a:noFill/>
          <a:ln>
            <a:noFill/>
          </a:ln>
        </p:spPr>
        <p:txBody>
          <a:bodyPr spcFirstLastPara="1" wrap="square" lIns="170175" tIns="43225" rIns="86450" bIns="43225" anchor="ctr" anchorCtr="0">
            <a:noAutofit/>
          </a:bodyPr>
          <a:lstStyle/>
          <a:p>
            <a:pPr marL="0" marR="0" lvl="0" indent="0" algn="r" rtl="0">
              <a:lnSpc>
                <a:spcPct val="100000"/>
              </a:lnSpc>
              <a:spcBef>
                <a:spcPts val="0"/>
              </a:spcBef>
              <a:spcAft>
                <a:spcPts val="0"/>
              </a:spcAft>
              <a:buClr>
                <a:srgbClr val="404040"/>
              </a:buClr>
              <a:buSzPts val="1900"/>
              <a:buFont typeface="Arial"/>
              <a:buNone/>
            </a:pPr>
            <a:r>
              <a:rPr lang="en-US" sz="1900" b="1" i="0" u="none">
                <a:solidFill>
                  <a:srgbClr val="404040"/>
                </a:solidFill>
                <a:latin typeface="Arial"/>
                <a:ea typeface="Arial"/>
                <a:cs typeface="Arial"/>
                <a:sym typeface="Arial"/>
              </a:rPr>
              <a:t>Ch 1. Computer Science</a:t>
            </a:r>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Shape 28"/>
        <p:cNvGrpSpPr/>
        <p:nvPr/>
      </p:nvGrpSpPr>
      <p:grpSpPr>
        <a:xfrm>
          <a:off x="0" y="0"/>
          <a:ext cx="0" cy="0"/>
          <a:chOff x="0" y="0"/>
          <a:chExt cx="0" cy="0"/>
        </a:xfrm>
      </p:grpSpPr>
      <p:sp>
        <p:nvSpPr>
          <p:cNvPr id="29" name="Google Shape;29;p16"/>
          <p:cNvSpPr txBox="1"/>
          <p:nvPr/>
        </p:nvSpPr>
        <p:spPr>
          <a:xfrm>
            <a:off x="0" y="0"/>
            <a:ext cx="9144000" cy="620712"/>
          </a:xfrm>
          <a:prstGeom prst="rect">
            <a:avLst/>
          </a:prstGeom>
          <a:solidFill>
            <a:srgbClr val="404040"/>
          </a:solidFill>
          <a:ln>
            <a:noFill/>
          </a:ln>
        </p:spPr>
        <p:txBody>
          <a:bodyPr spcFirstLastPara="1" wrap="square" lIns="86450" tIns="43225" rIns="216000" bIns="43225" anchor="ctr" anchorCtr="0">
            <a:noAutofit/>
          </a:bodyPr>
          <a:lstStyle/>
          <a:p>
            <a:pPr marL="0" marR="0" lvl="0" indent="0" algn="r" rtl="0">
              <a:lnSpc>
                <a:spcPct val="100000"/>
              </a:lnSpc>
              <a:spcBef>
                <a:spcPts val="0"/>
              </a:spcBef>
              <a:spcAft>
                <a:spcPts val="0"/>
              </a:spcAft>
              <a:buClr>
                <a:srgbClr val="FFFFFF"/>
              </a:buClr>
              <a:buSzPts val="1500"/>
              <a:buFont typeface="Arial"/>
              <a:buNone/>
            </a:pPr>
            <a:r>
              <a:rPr lang="en-US" sz="1500" b="1" i="0" u="none">
                <a:solidFill>
                  <a:srgbClr val="FFFFFF"/>
                </a:solidFill>
                <a:latin typeface="Arial"/>
                <a:ea typeface="Arial"/>
                <a:cs typeface="Arial"/>
                <a:sym typeface="Arial"/>
              </a:rPr>
              <a:t>1.1</a:t>
            </a:r>
            <a:r>
              <a:rPr lang="en-US" sz="1800" b="1" i="0" u="none">
                <a:solidFill>
                  <a:srgbClr val="FFFFFF"/>
                </a:solidFill>
                <a:latin typeface="Arial"/>
                <a:ea typeface="Arial"/>
                <a:cs typeface="Arial"/>
                <a:sym typeface="Arial"/>
              </a:rPr>
              <a:t> </a:t>
            </a:r>
            <a:r>
              <a:rPr lang="en-US" sz="1900" b="1" i="0" u="none">
                <a:solidFill>
                  <a:srgbClr val="FFFFFF"/>
                </a:solidFill>
                <a:latin typeface="Arial"/>
                <a:ea typeface="Arial"/>
                <a:cs typeface="Arial"/>
                <a:sym typeface="Arial"/>
              </a:rPr>
              <a:t>Programing adalah?</a:t>
            </a:r>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Shape 31"/>
        <p:cNvGrpSpPr/>
        <p:nvPr/>
      </p:nvGrpSpPr>
      <p:grpSpPr>
        <a:xfrm>
          <a:off x="0" y="0"/>
          <a:ext cx="0" cy="0"/>
          <a:chOff x="0" y="0"/>
          <a:chExt cx="0" cy="0"/>
        </a:xfrm>
      </p:grpSpPr>
      <p:sp>
        <p:nvSpPr>
          <p:cNvPr id="32" name="Google Shape;32;p18"/>
          <p:cNvSpPr txBox="1"/>
          <p:nvPr/>
        </p:nvSpPr>
        <p:spPr>
          <a:xfrm>
            <a:off x="0" y="0"/>
            <a:ext cx="9144000" cy="620712"/>
          </a:xfrm>
          <a:prstGeom prst="rect">
            <a:avLst/>
          </a:prstGeom>
          <a:solidFill>
            <a:srgbClr val="404040"/>
          </a:solidFill>
          <a:ln>
            <a:noFill/>
          </a:ln>
        </p:spPr>
        <p:txBody>
          <a:bodyPr spcFirstLastPara="1" wrap="square" lIns="86450" tIns="43225" rIns="216000" bIns="43225" anchor="ctr" anchorCtr="0">
            <a:noAutofit/>
          </a:bodyPr>
          <a:lstStyle/>
          <a:p>
            <a:pPr marL="0" marR="0" lvl="0" indent="0" algn="r" rtl="0">
              <a:lnSpc>
                <a:spcPct val="100000"/>
              </a:lnSpc>
              <a:spcBef>
                <a:spcPts val="0"/>
              </a:spcBef>
              <a:spcAft>
                <a:spcPts val="0"/>
              </a:spcAft>
              <a:buClr>
                <a:srgbClr val="FFFFFF"/>
              </a:buClr>
              <a:buSzPts val="1500"/>
              <a:buFont typeface="Arial"/>
              <a:buNone/>
            </a:pPr>
            <a:r>
              <a:rPr lang="en-US" sz="1500" b="1" i="0" u="none">
                <a:solidFill>
                  <a:srgbClr val="FFFFFF"/>
                </a:solidFill>
                <a:latin typeface="Arial"/>
                <a:ea typeface="Arial"/>
                <a:cs typeface="Arial"/>
                <a:sym typeface="Arial"/>
              </a:rPr>
              <a:t>1.2</a:t>
            </a:r>
            <a:r>
              <a:rPr lang="en-US" sz="1800" b="1" i="0" u="none">
                <a:solidFill>
                  <a:srgbClr val="FFFFFF"/>
                </a:solidFill>
                <a:latin typeface="Arial"/>
                <a:ea typeface="Arial"/>
                <a:cs typeface="Arial"/>
                <a:sym typeface="Arial"/>
              </a:rPr>
              <a:t> </a:t>
            </a:r>
            <a:r>
              <a:rPr lang="en-US" sz="1900" b="1" i="0" u="none">
                <a:solidFill>
                  <a:srgbClr val="FFFFFF"/>
                </a:solidFill>
                <a:latin typeface="Arial"/>
                <a:ea typeface="Arial"/>
                <a:cs typeface="Arial"/>
                <a:sym typeface="Arial"/>
              </a:rPr>
              <a:t>Istilah-istilah yang</a:t>
            </a:r>
            <a:endParaRPr/>
          </a:p>
          <a:p>
            <a:pPr marL="0" marR="0" lvl="0" indent="0" algn="r" rtl="0">
              <a:lnSpc>
                <a:spcPct val="100000"/>
              </a:lnSpc>
              <a:spcBef>
                <a:spcPts val="0"/>
              </a:spcBef>
              <a:spcAft>
                <a:spcPts val="0"/>
              </a:spcAft>
              <a:buClr>
                <a:srgbClr val="FFFFFF"/>
              </a:buClr>
              <a:buSzPts val="1900"/>
              <a:buFont typeface="Arial"/>
              <a:buNone/>
            </a:pPr>
            <a:r>
              <a:rPr lang="en-US" sz="1900" b="1" i="0" u="none">
                <a:solidFill>
                  <a:srgbClr val="FFFFFF"/>
                </a:solidFill>
                <a:latin typeface="Arial"/>
                <a:ea typeface="Arial"/>
                <a:cs typeface="Arial"/>
                <a:sym typeface="Arial"/>
              </a:rPr>
              <a:t>perlu Anda ketahui</a:t>
            </a:r>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srcRect/>
          <a:stretch>
            <a:fillRect/>
          </a:stretch>
        </a:blip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691F4323-5B4F-0E6A-50A5-A6B36F085B5F}"/>
              </a:ext>
            </a:extLst>
          </p:cNvPr>
          <p:cNvSpPr/>
          <p:nvPr userDrawn="1"/>
        </p:nvSpPr>
        <p:spPr>
          <a:xfrm>
            <a:off x="0" y="0"/>
            <a:ext cx="9144000" cy="62071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457" tIns="43228" rIns="216000" bIns="43228" anchor="ctr"/>
          <a:lstStyle/>
          <a:p>
            <a:pPr algn="r" eaLnBrk="1" latinLnBrk="1" hangingPunct="1">
              <a:defRPr/>
            </a:pPr>
            <a:r>
              <a:rPr lang="en-US" altLang="ko-KR" sz="1500" b="1">
                <a:latin typeface="LG스마트체2.0 Regular" panose="020B0600000101010101" pitchFamily="50" charset="-127"/>
                <a:ea typeface="LG스마트체2.0 Regular" panose="020B0600000101010101" pitchFamily="50" charset="-127"/>
              </a:rPr>
              <a:t>2.1</a:t>
            </a:r>
            <a:r>
              <a:rPr lang="en-US" altLang="ko-KR" b="1">
                <a:latin typeface="LG스마트체2.0 Regular" panose="020B0600000101010101" pitchFamily="50" charset="-127"/>
                <a:ea typeface="LG스마트체2.0 Regular" panose="020B0600000101010101" pitchFamily="50" charset="-127"/>
              </a:rPr>
              <a:t> </a:t>
            </a:r>
            <a:r>
              <a:rPr lang="en-US" altLang="ko-KR" b="1" err="1">
                <a:latin typeface="LG스마트체2.0 Regular" panose="020B0600000101010101" pitchFamily="50" charset="-127"/>
                <a:ea typeface="LG스마트체2.0 Regular" panose="020B0600000101010101" pitchFamily="50" charset="-127"/>
              </a:rPr>
              <a:t>Pengenalan</a:t>
            </a:r>
            <a:endParaRPr lang="en-US" altLang="ko-KR" b="1">
              <a:latin typeface="LG스마트체2.0 Regular" panose="020B0600000101010101" pitchFamily="50" charset="-127"/>
              <a:ea typeface="LG스마트체2.0 Regular" panose="020B0600000101010101" pitchFamily="50" charset="-127"/>
            </a:endParaRPr>
          </a:p>
          <a:p>
            <a:pPr algn="r" eaLnBrk="1" latinLnBrk="1" hangingPunct="1">
              <a:defRPr/>
            </a:pPr>
            <a:r>
              <a:rPr lang="en-US" altLang="ko-KR" b="1">
                <a:latin typeface="LG스마트체2.0 Regular" panose="020B0600000101010101" pitchFamily="50" charset="-127"/>
                <a:ea typeface="LG스마트체2.0 Regular" panose="020B0600000101010101" pitchFamily="50" charset="-127"/>
              </a:rPr>
              <a:t>Bahasa Java</a:t>
            </a:r>
            <a:endParaRPr lang="ko-KR" altLang="en-US" sz="1900" b="1">
              <a:latin typeface="LG스마트체2.0 Regular" panose="020B0600000101010101" pitchFamily="50" charset="-127"/>
              <a:ea typeface="LG스마트체2.0 Regular" panose="020B0600000101010101" pitchFamily="50" charset="-127"/>
            </a:endParaRPr>
          </a:p>
        </p:txBody>
      </p:sp>
    </p:spTree>
  </p:cSld>
  <p:clrMap bg1="lt1" tx1="dk1" bg2="lt2" tx2="dk2" accent1="accent1" accent2="accent2" accent3="accent3" accent4="accent4" accent5="accent5" accent6="accent6" hlink="hlink" folHlink="folHlink"/>
  <p:sldLayoutIdLst>
    <p:sldLayoutId id="2147484215" r:id="rId1"/>
    <p:sldLayoutId id="2147484216" r:id="rId2"/>
  </p:sldLayoutIdLst>
  <p:txStyles>
    <p:titleStyle>
      <a:lvl1pPr algn="ctr" rtl="0" eaLnBrk="0" fontAlgn="base" latinLnBrk="1" hangingPunct="0">
        <a:spcBef>
          <a:spcPct val="0"/>
        </a:spcBef>
        <a:spcAft>
          <a:spcPct val="0"/>
        </a:spcAft>
        <a:defRPr sz="4200" kern="1200">
          <a:solidFill>
            <a:schemeClr val="tx1"/>
          </a:solidFill>
          <a:latin typeface="+mj-lt"/>
          <a:ea typeface="+mj-ea"/>
          <a:cs typeface="+mj-cs"/>
        </a:defRPr>
      </a:lvl1pPr>
      <a:lvl2pPr algn="ctr" rtl="0" eaLnBrk="0" fontAlgn="base" latinLnBrk="1" hangingPunct="0">
        <a:spcBef>
          <a:spcPct val="0"/>
        </a:spcBef>
        <a:spcAft>
          <a:spcPct val="0"/>
        </a:spcAft>
        <a:defRPr sz="42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2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2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200">
          <a:solidFill>
            <a:schemeClr val="tx1"/>
          </a:solidFill>
          <a:latin typeface="맑은 고딕" pitchFamily="50" charset="-127"/>
          <a:ea typeface="맑은 고딕" pitchFamily="50" charset="-127"/>
        </a:defRPr>
      </a:lvl5pPr>
      <a:lvl6pPr marL="432283" algn="ctr" rtl="0" fontAlgn="base" latinLnBrk="1">
        <a:spcBef>
          <a:spcPct val="0"/>
        </a:spcBef>
        <a:spcAft>
          <a:spcPct val="0"/>
        </a:spcAft>
        <a:defRPr sz="4200">
          <a:solidFill>
            <a:schemeClr val="tx1"/>
          </a:solidFill>
          <a:latin typeface="맑은 고딕" pitchFamily="50" charset="-127"/>
          <a:ea typeface="맑은 고딕" pitchFamily="50" charset="-127"/>
        </a:defRPr>
      </a:lvl6pPr>
      <a:lvl7pPr marL="864565" algn="ctr" rtl="0" fontAlgn="base" latinLnBrk="1">
        <a:spcBef>
          <a:spcPct val="0"/>
        </a:spcBef>
        <a:spcAft>
          <a:spcPct val="0"/>
        </a:spcAft>
        <a:defRPr sz="4200">
          <a:solidFill>
            <a:schemeClr val="tx1"/>
          </a:solidFill>
          <a:latin typeface="맑은 고딕" pitchFamily="50" charset="-127"/>
          <a:ea typeface="맑은 고딕" pitchFamily="50" charset="-127"/>
        </a:defRPr>
      </a:lvl7pPr>
      <a:lvl8pPr marL="1296848" algn="ctr" rtl="0" fontAlgn="base" latinLnBrk="1">
        <a:spcBef>
          <a:spcPct val="0"/>
        </a:spcBef>
        <a:spcAft>
          <a:spcPct val="0"/>
        </a:spcAft>
        <a:defRPr sz="4200">
          <a:solidFill>
            <a:schemeClr val="tx1"/>
          </a:solidFill>
          <a:latin typeface="맑은 고딕" pitchFamily="50" charset="-127"/>
          <a:ea typeface="맑은 고딕" pitchFamily="50" charset="-127"/>
        </a:defRPr>
      </a:lvl8pPr>
      <a:lvl9pPr marL="1729130" algn="ctr" rtl="0" fontAlgn="base" latinLnBrk="1">
        <a:spcBef>
          <a:spcPct val="0"/>
        </a:spcBef>
        <a:spcAft>
          <a:spcPct val="0"/>
        </a:spcAft>
        <a:defRPr sz="4200">
          <a:solidFill>
            <a:schemeClr val="tx1"/>
          </a:solidFill>
          <a:latin typeface="맑은 고딕" pitchFamily="50" charset="-127"/>
          <a:ea typeface="맑은 고딕" pitchFamily="50" charset="-127"/>
        </a:defRPr>
      </a:lvl9pPr>
    </p:titleStyle>
    <p:bodyStyle>
      <a:lvl1pPr marL="323850" indent="-323850" algn="l" rtl="0" eaLnBrk="0" fontAlgn="base" latinLnBrk="1" hangingPunct="0">
        <a:spcBef>
          <a:spcPct val="20000"/>
        </a:spcBef>
        <a:spcAft>
          <a:spcPct val="0"/>
        </a:spcAft>
        <a:buFont typeface="Arial" panose="020B0604020202020204" pitchFamily="34" charset="0"/>
        <a:buChar char="•"/>
        <a:defRPr sz="3000" kern="1200">
          <a:solidFill>
            <a:schemeClr val="tx1"/>
          </a:solidFill>
          <a:latin typeface="+mn-lt"/>
          <a:ea typeface="+mn-ea"/>
          <a:cs typeface="+mn-cs"/>
        </a:defRPr>
      </a:lvl1pPr>
      <a:lvl2pPr marL="701675" indent="-269875" algn="l" rtl="0" eaLnBrk="0" fontAlgn="base" latinLnBrk="1" hangingPunct="0">
        <a:spcBef>
          <a:spcPct val="20000"/>
        </a:spcBef>
        <a:spcAft>
          <a:spcPct val="0"/>
        </a:spcAft>
        <a:buFont typeface="Arial" panose="020B0604020202020204" pitchFamily="34" charset="0"/>
        <a:buChar char="–"/>
        <a:defRPr sz="2600" kern="1200">
          <a:solidFill>
            <a:schemeClr val="tx1"/>
          </a:solidFill>
          <a:latin typeface="+mn-lt"/>
          <a:ea typeface="+mn-ea"/>
          <a:cs typeface="+mn-cs"/>
        </a:defRPr>
      </a:lvl2pPr>
      <a:lvl3pPr marL="1079500" indent="-215900" algn="l" rtl="0" eaLnBrk="0" fontAlgn="base" latinLnBrk="1"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defRPr>
      </a:lvl3pPr>
      <a:lvl4pPr marL="1512888" indent="-215900" algn="l" rtl="0" eaLnBrk="0" fontAlgn="base" latinLnBrk="1" hangingPunct="0">
        <a:spcBef>
          <a:spcPct val="20000"/>
        </a:spcBef>
        <a:spcAft>
          <a:spcPct val="0"/>
        </a:spcAft>
        <a:buFont typeface="Arial" panose="020B0604020202020204" pitchFamily="34" charset="0"/>
        <a:buChar char="–"/>
        <a:defRPr sz="1900" kern="1200">
          <a:solidFill>
            <a:schemeClr val="tx1"/>
          </a:solidFill>
          <a:latin typeface="+mn-lt"/>
          <a:ea typeface="+mn-ea"/>
          <a:cs typeface="+mn-cs"/>
        </a:defRPr>
      </a:lvl4pPr>
      <a:lvl5pPr marL="1944688" indent="-215900" algn="l" rtl="0" eaLnBrk="0" fontAlgn="base" latinLnBrk="1" hangingPunct="0">
        <a:spcBef>
          <a:spcPct val="20000"/>
        </a:spcBef>
        <a:spcAft>
          <a:spcPct val="0"/>
        </a:spcAft>
        <a:buFont typeface="Arial" panose="020B0604020202020204" pitchFamily="34" charset="0"/>
        <a:buChar char="»"/>
        <a:defRPr sz="1900" kern="1200">
          <a:solidFill>
            <a:schemeClr val="tx1"/>
          </a:solidFill>
          <a:latin typeface="+mn-lt"/>
          <a:ea typeface="+mn-ea"/>
          <a:cs typeface="+mn-cs"/>
        </a:defRPr>
      </a:lvl5pPr>
      <a:lvl6pPr marL="2377554" indent="-216141" algn="l" defTabSz="864565" rtl="0" eaLnBrk="1" latinLnBrk="1" hangingPunct="1">
        <a:spcBef>
          <a:spcPct val="20000"/>
        </a:spcBef>
        <a:buFont typeface="Arial" pitchFamily="34" charset="0"/>
        <a:buChar char="•"/>
        <a:defRPr sz="1900" kern="1200">
          <a:solidFill>
            <a:schemeClr val="tx1"/>
          </a:solidFill>
          <a:latin typeface="+mn-lt"/>
          <a:ea typeface="+mn-ea"/>
          <a:cs typeface="+mn-cs"/>
        </a:defRPr>
      </a:lvl6pPr>
      <a:lvl7pPr marL="2809837" indent="-216141" algn="l" defTabSz="864565" rtl="0" eaLnBrk="1" latinLnBrk="1" hangingPunct="1">
        <a:spcBef>
          <a:spcPct val="20000"/>
        </a:spcBef>
        <a:buFont typeface="Arial" pitchFamily="34" charset="0"/>
        <a:buChar char="•"/>
        <a:defRPr sz="1900" kern="1200">
          <a:solidFill>
            <a:schemeClr val="tx1"/>
          </a:solidFill>
          <a:latin typeface="+mn-lt"/>
          <a:ea typeface="+mn-ea"/>
          <a:cs typeface="+mn-cs"/>
        </a:defRPr>
      </a:lvl7pPr>
      <a:lvl8pPr marL="3242120" indent="-216141" algn="l" defTabSz="864565" rtl="0" eaLnBrk="1" latinLnBrk="1" hangingPunct="1">
        <a:spcBef>
          <a:spcPct val="20000"/>
        </a:spcBef>
        <a:buFont typeface="Arial" pitchFamily="34" charset="0"/>
        <a:buChar char="•"/>
        <a:defRPr sz="1900" kern="1200">
          <a:solidFill>
            <a:schemeClr val="tx1"/>
          </a:solidFill>
          <a:latin typeface="+mn-lt"/>
          <a:ea typeface="+mn-ea"/>
          <a:cs typeface="+mn-cs"/>
        </a:defRPr>
      </a:lvl8pPr>
      <a:lvl9pPr marL="3674402" indent="-216141" algn="l" defTabSz="864565" rtl="0" eaLnBrk="1" latinLnBrk="1"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ko-KR"/>
      </a:defPPr>
      <a:lvl1pPr marL="0" algn="l" defTabSz="864565" rtl="0" eaLnBrk="1" latinLnBrk="1" hangingPunct="1">
        <a:defRPr sz="1700" kern="1200">
          <a:solidFill>
            <a:schemeClr val="tx1"/>
          </a:solidFill>
          <a:latin typeface="+mn-lt"/>
          <a:ea typeface="+mn-ea"/>
          <a:cs typeface="+mn-cs"/>
        </a:defRPr>
      </a:lvl1pPr>
      <a:lvl2pPr marL="432283" algn="l" defTabSz="864565" rtl="0" eaLnBrk="1" latinLnBrk="1" hangingPunct="1">
        <a:defRPr sz="1700" kern="1200">
          <a:solidFill>
            <a:schemeClr val="tx1"/>
          </a:solidFill>
          <a:latin typeface="+mn-lt"/>
          <a:ea typeface="+mn-ea"/>
          <a:cs typeface="+mn-cs"/>
        </a:defRPr>
      </a:lvl2pPr>
      <a:lvl3pPr marL="864565" algn="l" defTabSz="864565" rtl="0" eaLnBrk="1" latinLnBrk="1" hangingPunct="1">
        <a:defRPr sz="1700" kern="1200">
          <a:solidFill>
            <a:schemeClr val="tx1"/>
          </a:solidFill>
          <a:latin typeface="+mn-lt"/>
          <a:ea typeface="+mn-ea"/>
          <a:cs typeface="+mn-cs"/>
        </a:defRPr>
      </a:lvl3pPr>
      <a:lvl4pPr marL="1296848" algn="l" defTabSz="864565" rtl="0" eaLnBrk="1" latinLnBrk="1" hangingPunct="1">
        <a:defRPr sz="1700" kern="1200">
          <a:solidFill>
            <a:schemeClr val="tx1"/>
          </a:solidFill>
          <a:latin typeface="+mn-lt"/>
          <a:ea typeface="+mn-ea"/>
          <a:cs typeface="+mn-cs"/>
        </a:defRPr>
      </a:lvl4pPr>
      <a:lvl5pPr marL="1729130" algn="l" defTabSz="864565" rtl="0" eaLnBrk="1" latinLnBrk="1" hangingPunct="1">
        <a:defRPr sz="1700" kern="1200">
          <a:solidFill>
            <a:schemeClr val="tx1"/>
          </a:solidFill>
          <a:latin typeface="+mn-lt"/>
          <a:ea typeface="+mn-ea"/>
          <a:cs typeface="+mn-cs"/>
        </a:defRPr>
      </a:lvl5pPr>
      <a:lvl6pPr marL="2161413" algn="l" defTabSz="864565" rtl="0" eaLnBrk="1" latinLnBrk="1" hangingPunct="1">
        <a:defRPr sz="1700" kern="1200">
          <a:solidFill>
            <a:schemeClr val="tx1"/>
          </a:solidFill>
          <a:latin typeface="+mn-lt"/>
          <a:ea typeface="+mn-ea"/>
          <a:cs typeface="+mn-cs"/>
        </a:defRPr>
      </a:lvl6pPr>
      <a:lvl7pPr marL="2593696" algn="l" defTabSz="864565" rtl="0" eaLnBrk="1" latinLnBrk="1" hangingPunct="1">
        <a:defRPr sz="1700" kern="1200">
          <a:solidFill>
            <a:schemeClr val="tx1"/>
          </a:solidFill>
          <a:latin typeface="+mn-lt"/>
          <a:ea typeface="+mn-ea"/>
          <a:cs typeface="+mn-cs"/>
        </a:defRPr>
      </a:lvl7pPr>
      <a:lvl8pPr marL="3025978" algn="l" defTabSz="864565" rtl="0" eaLnBrk="1" latinLnBrk="1" hangingPunct="1">
        <a:defRPr sz="1700" kern="1200">
          <a:solidFill>
            <a:schemeClr val="tx1"/>
          </a:solidFill>
          <a:latin typeface="+mn-lt"/>
          <a:ea typeface="+mn-ea"/>
          <a:cs typeface="+mn-cs"/>
        </a:defRPr>
      </a:lvl8pPr>
      <a:lvl9pPr marL="3458261" algn="l" defTabSz="864565" rtl="0" eaLnBrk="1" latinLnBrk="1" hangingPunct="1">
        <a:defRPr sz="17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Shape 27"/>
        <p:cNvGrpSpPr/>
        <p:nvPr/>
      </p:nvGrpSpPr>
      <p:grpSpPr>
        <a:xfrm>
          <a:off x="0" y="0"/>
          <a:ext cx="0" cy="0"/>
          <a:chOff x="0" y="0"/>
          <a:chExt cx="0" cy="0"/>
        </a:xfrm>
      </p:grpSpPr>
      <p:sp>
        <p:nvSpPr>
          <p:cNvPr id="28" name="Google Shape;28;p71"/>
          <p:cNvSpPr txBox="1"/>
          <p:nvPr/>
        </p:nvSpPr>
        <p:spPr>
          <a:xfrm>
            <a:off x="0" y="0"/>
            <a:ext cx="9144000" cy="620712"/>
          </a:xfrm>
          <a:prstGeom prst="rect">
            <a:avLst/>
          </a:prstGeom>
          <a:solidFill>
            <a:srgbClr val="404040"/>
          </a:solidFill>
          <a:ln>
            <a:noFill/>
          </a:ln>
        </p:spPr>
        <p:txBody>
          <a:bodyPr spcFirstLastPara="1" wrap="square" lIns="86450" tIns="43225" rIns="216000" bIns="43225" anchor="ctr" anchorCtr="0">
            <a:noAutofit/>
          </a:bodyPr>
          <a:lstStyle/>
          <a:p>
            <a:pPr marL="0" marR="0" lvl="0" indent="0" algn="r" rtl="0">
              <a:lnSpc>
                <a:spcPct val="100000"/>
              </a:lnSpc>
              <a:spcBef>
                <a:spcPts val="0"/>
              </a:spcBef>
              <a:spcAft>
                <a:spcPts val="0"/>
              </a:spcAft>
              <a:buClr>
                <a:srgbClr val="FFFFFF"/>
              </a:buClr>
              <a:buSzPts val="1500"/>
              <a:buFont typeface="Arial"/>
              <a:buNone/>
            </a:pPr>
            <a:r>
              <a:rPr lang="en-US" sz="1500" b="1" i="0" u="none" strike="noStrike" cap="none">
                <a:solidFill>
                  <a:srgbClr val="FFFFFF"/>
                </a:solidFill>
                <a:latin typeface="Arial"/>
                <a:ea typeface="Arial"/>
                <a:cs typeface="Arial"/>
                <a:sym typeface="Arial"/>
              </a:rPr>
              <a:t>3.1</a:t>
            </a:r>
            <a:r>
              <a:rPr lang="en-US" sz="1800" b="1" i="0" u="none" strike="noStrike" cap="none">
                <a:solidFill>
                  <a:srgbClr val="FFFFFF"/>
                </a:solidFill>
                <a:latin typeface="Arial"/>
                <a:ea typeface="Arial"/>
                <a:cs typeface="Arial"/>
                <a:sym typeface="Arial"/>
              </a:rPr>
              <a:t> </a:t>
            </a:r>
            <a:r>
              <a:rPr lang="en-US" sz="1900" b="1" i="0" u="none" strike="noStrike" cap="none">
                <a:solidFill>
                  <a:srgbClr val="FFFFFF"/>
                </a:solidFill>
                <a:latin typeface="Arial"/>
                <a:ea typeface="Arial"/>
                <a:cs typeface="Arial"/>
                <a:sym typeface="Arial"/>
              </a:rPr>
              <a:t>Variabel adalah?</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4218" r:id="rId1"/>
    <p:sldLayoutId id="2147484222" r:id="rId2"/>
    <p:sldLayoutId id="2147484223" r:id="rId3"/>
    <p:sldLayoutId id="214748422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Shape 49"/>
        <p:cNvGrpSpPr/>
        <p:nvPr/>
      </p:nvGrpSpPr>
      <p:grpSpPr>
        <a:xfrm>
          <a:off x="0" y="0"/>
          <a:ext cx="0" cy="0"/>
          <a:chOff x="0" y="0"/>
          <a:chExt cx="0" cy="0"/>
        </a:xfrm>
      </p:grpSpPr>
      <p:sp>
        <p:nvSpPr>
          <p:cNvPr id="50" name="Google Shape;50;p81"/>
          <p:cNvSpPr txBox="1"/>
          <p:nvPr/>
        </p:nvSpPr>
        <p:spPr>
          <a:xfrm>
            <a:off x="0" y="0"/>
            <a:ext cx="9144000" cy="620712"/>
          </a:xfrm>
          <a:prstGeom prst="rect">
            <a:avLst/>
          </a:prstGeom>
          <a:solidFill>
            <a:srgbClr val="404040"/>
          </a:solidFill>
          <a:ln>
            <a:noFill/>
          </a:ln>
        </p:spPr>
        <p:txBody>
          <a:bodyPr spcFirstLastPara="1" wrap="square" lIns="86450" tIns="43225" rIns="216000" bIns="43225" anchor="ctr" anchorCtr="0">
            <a:noAutofit/>
          </a:bodyPr>
          <a:lstStyle/>
          <a:p>
            <a:pPr marL="0" marR="0" lvl="0" indent="0" algn="r" rtl="0">
              <a:lnSpc>
                <a:spcPct val="100000"/>
              </a:lnSpc>
              <a:spcBef>
                <a:spcPts val="0"/>
              </a:spcBef>
              <a:spcAft>
                <a:spcPts val="0"/>
              </a:spcAft>
              <a:buClr>
                <a:srgbClr val="FFFFFF"/>
              </a:buClr>
              <a:buSzPts val="1500"/>
              <a:buFont typeface="Arial"/>
              <a:buNone/>
            </a:pPr>
            <a:r>
              <a:rPr lang="en-US" sz="1500" b="1" i="0" u="none" strike="noStrike" cap="none">
                <a:solidFill>
                  <a:srgbClr val="FFFFFF"/>
                </a:solidFill>
                <a:latin typeface="Arial"/>
                <a:ea typeface="Arial"/>
                <a:cs typeface="Arial"/>
                <a:sym typeface="Arial"/>
              </a:rPr>
              <a:t>3.2</a:t>
            </a:r>
            <a:r>
              <a:rPr lang="en-US" sz="1800" b="1" i="0" u="none" strike="noStrike" cap="none">
                <a:solidFill>
                  <a:srgbClr val="FFFFFF"/>
                </a:solidFill>
                <a:latin typeface="Arial"/>
                <a:ea typeface="Arial"/>
                <a:cs typeface="Arial"/>
                <a:sym typeface="Arial"/>
              </a:rPr>
              <a:t> </a:t>
            </a:r>
            <a:r>
              <a:rPr lang="en-US" sz="1900" b="1" i="0" u="none" strike="noStrike" cap="none">
                <a:solidFill>
                  <a:srgbClr val="FFFFFF"/>
                </a:solidFill>
                <a:latin typeface="Arial"/>
                <a:ea typeface="Arial"/>
                <a:cs typeface="Arial"/>
                <a:sym typeface="Arial"/>
              </a:rPr>
              <a:t>Variabel tipe</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FFFFFF"/>
              </a:buClr>
              <a:buSzPts val="1900"/>
              <a:buFont typeface="Arial"/>
              <a:buNone/>
            </a:pPr>
            <a:r>
              <a:rPr lang="en-US" sz="1900" b="1" i="0" u="none" strike="noStrike" cap="none">
                <a:solidFill>
                  <a:srgbClr val="FFFFFF"/>
                </a:solidFill>
                <a:latin typeface="Arial"/>
                <a:ea typeface="Arial"/>
                <a:cs typeface="Arial"/>
                <a:sym typeface="Arial"/>
              </a:rPr>
              <a:t>Data dasar</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Shape 52"/>
        <p:cNvGrpSpPr/>
        <p:nvPr/>
      </p:nvGrpSpPr>
      <p:grpSpPr>
        <a:xfrm>
          <a:off x="0" y="0"/>
          <a:ext cx="0" cy="0"/>
          <a:chOff x="0" y="0"/>
          <a:chExt cx="0" cy="0"/>
        </a:xfrm>
      </p:grpSpPr>
      <p:sp>
        <p:nvSpPr>
          <p:cNvPr id="53" name="Google Shape;53;p83"/>
          <p:cNvSpPr txBox="1"/>
          <p:nvPr/>
        </p:nvSpPr>
        <p:spPr>
          <a:xfrm>
            <a:off x="0" y="0"/>
            <a:ext cx="9144000" cy="620712"/>
          </a:xfrm>
          <a:prstGeom prst="rect">
            <a:avLst/>
          </a:prstGeom>
          <a:solidFill>
            <a:srgbClr val="404040"/>
          </a:solidFill>
          <a:ln>
            <a:noFill/>
          </a:ln>
        </p:spPr>
        <p:txBody>
          <a:bodyPr spcFirstLastPara="1" wrap="square" lIns="86450" tIns="43225" rIns="216000" bIns="43225" anchor="ctr" anchorCtr="0">
            <a:noAutofit/>
          </a:bodyPr>
          <a:lstStyle/>
          <a:p>
            <a:pPr marL="0" marR="0" lvl="0" indent="0" algn="r" rtl="0">
              <a:lnSpc>
                <a:spcPct val="100000"/>
              </a:lnSpc>
              <a:spcBef>
                <a:spcPts val="0"/>
              </a:spcBef>
              <a:spcAft>
                <a:spcPts val="0"/>
              </a:spcAft>
              <a:buClr>
                <a:srgbClr val="FFFFFF"/>
              </a:buClr>
              <a:buSzPts val="1500"/>
              <a:buFont typeface="Arial"/>
              <a:buNone/>
            </a:pPr>
            <a:r>
              <a:rPr lang="en-US" sz="1500" b="1" i="0" u="none" strike="noStrike" cap="none">
                <a:solidFill>
                  <a:srgbClr val="FFFFFF"/>
                </a:solidFill>
                <a:latin typeface="Arial"/>
                <a:ea typeface="Arial"/>
                <a:cs typeface="Arial"/>
                <a:sym typeface="Arial"/>
              </a:rPr>
              <a:t>3.2</a:t>
            </a:r>
            <a:r>
              <a:rPr lang="en-US" sz="1800" b="1" i="0" u="none" strike="noStrike" cap="none">
                <a:solidFill>
                  <a:srgbClr val="FFFFFF"/>
                </a:solidFill>
                <a:latin typeface="Arial"/>
                <a:ea typeface="Arial"/>
                <a:cs typeface="Arial"/>
                <a:sym typeface="Arial"/>
              </a:rPr>
              <a:t> </a:t>
            </a:r>
            <a:r>
              <a:rPr lang="en-US" sz="1900" b="1" i="0" u="none" strike="noStrike" cap="none">
                <a:solidFill>
                  <a:srgbClr val="FFFFFF"/>
                </a:solidFill>
                <a:latin typeface="Arial"/>
                <a:ea typeface="Arial"/>
                <a:cs typeface="Arial"/>
                <a:sym typeface="Arial"/>
              </a:rPr>
              <a:t>Variabel tipe</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FFFFFF"/>
              </a:buClr>
              <a:buSzPts val="1900"/>
              <a:buFont typeface="Arial"/>
              <a:buNone/>
            </a:pPr>
            <a:r>
              <a:rPr lang="en-US" sz="1900" b="1" i="0" u="none" strike="noStrike" cap="none">
                <a:solidFill>
                  <a:srgbClr val="FFFFFF"/>
                </a:solidFill>
                <a:latin typeface="Arial"/>
                <a:ea typeface="Arial"/>
                <a:cs typeface="Arial"/>
                <a:sym typeface="Arial"/>
              </a:rPr>
              <a:t>Data dasar</a:t>
            </a:r>
            <a:endParaRPr sz="1400" b="0" i="0" u="none" strike="noStrike" cap="none">
              <a:solidFill>
                <a:srgbClr val="000000"/>
              </a:solidFill>
              <a:latin typeface="Arial"/>
              <a:ea typeface="Arial"/>
              <a:cs typeface="Arial"/>
              <a:sym typeface="Arial"/>
            </a:endParaRPr>
          </a:p>
        </p:txBody>
      </p:sp>
      <p:sp>
        <p:nvSpPr>
          <p:cNvPr id="54" name="Google Shape;54;p83"/>
          <p:cNvSpPr txBox="1"/>
          <p:nvPr/>
        </p:nvSpPr>
        <p:spPr>
          <a:xfrm>
            <a:off x="441325" y="49212"/>
            <a:ext cx="5872162"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300"/>
              <a:buFont typeface="Arial"/>
              <a:buNone/>
            </a:pPr>
            <a:r>
              <a:rPr lang="en-US" sz="2300" b="1" i="0" u="none" strike="noStrike" cap="none">
                <a:solidFill>
                  <a:schemeClr val="lt1"/>
                </a:solidFill>
                <a:latin typeface="Arial"/>
                <a:ea typeface="Arial"/>
                <a:cs typeface="Arial"/>
                <a:sym typeface="Arial"/>
              </a:rPr>
              <a:t>[Ikuti] Cetak data statistik</a:t>
            </a:r>
            <a:endParaRPr sz="1400" b="0" i="0" u="none" strike="noStrike" cap="none">
              <a:solidFill>
                <a:srgbClr val="000000"/>
              </a:solidFill>
              <a:latin typeface="Arial"/>
              <a:ea typeface="Arial"/>
              <a:cs typeface="Arial"/>
              <a:sym typeface="Arial"/>
            </a:endParaRPr>
          </a:p>
        </p:txBody>
      </p:sp>
      <p:pic>
        <p:nvPicPr>
          <p:cNvPr id="55" name="Google Shape;55;p83" descr="http://icons.iconarchive.com/icons/milosz-wlazlo/boomy/48/documents-or-copy-icon.png"/>
          <p:cNvPicPr preferRelativeResize="0"/>
          <p:nvPr/>
        </p:nvPicPr>
        <p:blipFill rotWithShape="1">
          <a:blip r:embed="rId4">
            <a:alphaModFix/>
          </a:blip>
          <a:srcRect/>
          <a:stretch/>
        </p:blipFill>
        <p:spPr>
          <a:xfrm>
            <a:off x="123825" y="106362"/>
            <a:ext cx="457200" cy="4572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1">
          <a:blip r:embed="rId4"/>
          <a:srcRect/>
          <a:stretch>
            <a:fillRect/>
          </a:stretch>
        </a:blipFill>
        <a:effectLst/>
      </p:bgPr>
    </p:bg>
    <p:spTree>
      <p:nvGrpSpPr>
        <p:cNvPr id="1" name="Shape 21"/>
        <p:cNvGrpSpPr/>
        <p:nvPr/>
      </p:nvGrpSpPr>
      <p:grpSpPr>
        <a:xfrm>
          <a:off x="0" y="0"/>
          <a:ext cx="0" cy="0"/>
          <a:chOff x="0" y="0"/>
          <a:chExt cx="0" cy="0"/>
        </a:xfrm>
      </p:grpSpPr>
      <p:sp>
        <p:nvSpPr>
          <p:cNvPr id="22" name="Google Shape;22;p69"/>
          <p:cNvSpPr txBox="1"/>
          <p:nvPr/>
        </p:nvSpPr>
        <p:spPr>
          <a:xfrm>
            <a:off x="-3175" y="0"/>
            <a:ext cx="1233487" cy="6858000"/>
          </a:xfrm>
          <a:prstGeom prst="rect">
            <a:avLst/>
          </a:prstGeom>
          <a:solidFill>
            <a:srgbClr val="404040"/>
          </a:solidFill>
          <a:ln>
            <a:noFill/>
          </a:ln>
        </p:spPr>
        <p:txBody>
          <a:bodyPr spcFirstLastPara="1" wrap="square" lIns="86450" tIns="43225" rIns="86450" bIns="432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ulim"/>
              <a:ea typeface="Gulim"/>
              <a:cs typeface="Gulim"/>
              <a:sym typeface="Gulim"/>
            </a:endParaRPr>
          </a:p>
        </p:txBody>
      </p:sp>
      <p:cxnSp>
        <p:nvCxnSpPr>
          <p:cNvPr id="23" name="Google Shape;23;p69"/>
          <p:cNvCxnSpPr/>
          <p:nvPr/>
        </p:nvCxnSpPr>
        <p:spPr>
          <a:xfrm>
            <a:off x="0" y="1466850"/>
            <a:ext cx="1231900" cy="0"/>
          </a:xfrm>
          <a:prstGeom prst="straightConnector1">
            <a:avLst/>
          </a:prstGeom>
          <a:noFill/>
          <a:ln w="38100" cap="flat" cmpd="sng">
            <a:solidFill>
              <a:schemeClr val="lt1"/>
            </a:solidFill>
            <a:prstDash val="solid"/>
            <a:miter lim="800000"/>
            <a:headEnd type="none" w="sm" len="sm"/>
            <a:tailEnd type="none" w="sm" len="sm"/>
          </a:ln>
        </p:spPr>
      </p:cxnSp>
      <p:cxnSp>
        <p:nvCxnSpPr>
          <p:cNvPr id="24" name="Google Shape;24;p69"/>
          <p:cNvCxnSpPr/>
          <p:nvPr/>
        </p:nvCxnSpPr>
        <p:spPr>
          <a:xfrm>
            <a:off x="1271587" y="1466850"/>
            <a:ext cx="3322637" cy="0"/>
          </a:xfrm>
          <a:prstGeom prst="straightConnector1">
            <a:avLst/>
          </a:prstGeom>
          <a:noFill/>
          <a:ln w="38100" cap="flat" cmpd="sng">
            <a:solidFill>
              <a:srgbClr val="404040"/>
            </a:solidFill>
            <a:prstDash val="solid"/>
            <a:miter lim="800000"/>
            <a:headEnd type="none" w="sm" len="sm"/>
            <a:tailEnd type="none" w="sm" len="sm"/>
          </a:ln>
        </p:spPr>
      </p:cxnSp>
      <p:sp>
        <p:nvSpPr>
          <p:cNvPr id="25" name="Google Shape;25;p69"/>
          <p:cNvSpPr txBox="1"/>
          <p:nvPr/>
        </p:nvSpPr>
        <p:spPr>
          <a:xfrm>
            <a:off x="5103812" y="6373812"/>
            <a:ext cx="3952875" cy="346075"/>
          </a:xfrm>
          <a:prstGeom prst="rect">
            <a:avLst/>
          </a:prstGeom>
          <a:noFill/>
          <a:ln>
            <a:noFill/>
          </a:ln>
        </p:spPr>
        <p:txBody>
          <a:bodyPr spcFirstLastPara="1" wrap="square" lIns="170175" tIns="43225" rIns="86450" bIns="43225" anchor="ctr" anchorCtr="0">
            <a:noAutofit/>
          </a:bodyPr>
          <a:lstStyle/>
          <a:p>
            <a:pPr marL="0" marR="0" lvl="0" indent="0" algn="r" rtl="0">
              <a:lnSpc>
                <a:spcPct val="100000"/>
              </a:lnSpc>
              <a:spcBef>
                <a:spcPts val="0"/>
              </a:spcBef>
              <a:spcAft>
                <a:spcPts val="0"/>
              </a:spcAft>
              <a:buClr>
                <a:srgbClr val="404040"/>
              </a:buClr>
              <a:buSzPts val="1900"/>
              <a:buFont typeface="Arial"/>
              <a:buNone/>
            </a:pPr>
            <a:r>
              <a:rPr lang="en-US" sz="1900" b="1" i="0" u="none" strike="noStrike" cap="none">
                <a:solidFill>
                  <a:srgbClr val="404040"/>
                </a:solidFill>
                <a:latin typeface="Arial"/>
                <a:ea typeface="Arial"/>
                <a:cs typeface="Arial"/>
                <a:sym typeface="Arial"/>
              </a:rPr>
              <a:t>Ch 3. Variable</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4220" r:id="rId1"/>
    <p:sldLayoutId id="214748422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285875" y="803275"/>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cs typeface="Arial"/>
              </a:rPr>
              <a:t>Introduction</a:t>
            </a:r>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44" name="Google Shape;44;p1"/>
          <p:cNvSpPr txBox="1"/>
          <p:nvPr/>
        </p:nvSpPr>
        <p:spPr>
          <a:xfrm>
            <a:off x="1393825" y="2135187"/>
            <a:ext cx="5689600" cy="3093154"/>
          </a:xfrm>
          <a:prstGeom prst="rect">
            <a:avLst/>
          </a:prstGeom>
          <a:noFill/>
          <a:ln>
            <a:noFill/>
          </a:ln>
        </p:spPr>
        <p:txBody>
          <a:bodyPr spcFirstLastPara="1" wrap="square" lIns="0" tIns="0" rIns="0" bIns="0" anchor="t" anchorCtr="0">
            <a:spAutoFit/>
          </a:bodyPr>
          <a:lstStyle/>
          <a:p>
            <a:r>
              <a:rPr lang="en-US" sz="2100" i="1">
                <a:solidFill>
                  <a:srgbClr val="404040"/>
                </a:solidFill>
                <a:ea typeface="+mn-lt"/>
                <a:cs typeface="+mn-lt"/>
                <a:sym typeface="Arial"/>
              </a:rPr>
              <a:t>Object Oriented Programming Basics – 3 SKS</a:t>
            </a:r>
            <a:endParaRPr lang="id-ID" i="1">
              <a:cs typeface="Arial"/>
            </a:endParaRPr>
          </a:p>
          <a:p>
            <a:r>
              <a:rPr lang="en-US" sz="1600" i="1">
                <a:solidFill>
                  <a:schemeClr val="bg1">
                    <a:lumMod val="65000"/>
                  </a:schemeClr>
                </a:solidFill>
                <a:cs typeface="Arial"/>
              </a:rPr>
              <a:t>Dasar Pemrograman </a:t>
            </a:r>
            <a:r>
              <a:rPr lang="en-US" sz="1600" i="1" err="1">
                <a:solidFill>
                  <a:schemeClr val="bg1">
                    <a:lumMod val="65000"/>
                  </a:schemeClr>
                </a:solidFill>
                <a:cs typeface="Arial"/>
              </a:rPr>
              <a:t>Berorientasi</a:t>
            </a:r>
            <a:r>
              <a:rPr lang="en-US" sz="1600" i="1">
                <a:solidFill>
                  <a:schemeClr val="bg1">
                    <a:lumMod val="65000"/>
                  </a:schemeClr>
                </a:solidFill>
                <a:cs typeface="Arial"/>
              </a:rPr>
              <a:t> </a:t>
            </a:r>
            <a:r>
              <a:rPr lang="en-US" sz="1600" i="1" err="1">
                <a:solidFill>
                  <a:schemeClr val="bg1">
                    <a:lumMod val="65000"/>
                  </a:schemeClr>
                </a:solidFill>
                <a:cs typeface="Arial"/>
              </a:rPr>
              <a:t>Objek</a:t>
            </a:r>
            <a:r>
              <a:rPr lang="en-US" sz="1600" i="1">
                <a:solidFill>
                  <a:schemeClr val="bg1">
                    <a:lumMod val="65000"/>
                  </a:schemeClr>
                </a:solidFill>
                <a:cs typeface="Arial"/>
              </a:rPr>
              <a:t> (DPBO)</a:t>
            </a:r>
          </a:p>
          <a:p>
            <a:endParaRPr lang="en-US" sz="1600" i="1">
              <a:solidFill>
                <a:schemeClr val="bg1">
                  <a:lumMod val="65000"/>
                </a:schemeClr>
              </a:solidFill>
              <a:cs typeface="Arial"/>
            </a:endParaRPr>
          </a:p>
          <a:p>
            <a:r>
              <a:rPr lang="en-US" sz="1600">
                <a:solidFill>
                  <a:srgbClr val="000000"/>
                </a:solidFill>
                <a:latin typeface="Verdana"/>
                <a:ea typeface="Verdana"/>
                <a:cs typeface="Arial"/>
              </a:rPr>
              <a:t>&lt;</a:t>
            </a:r>
            <a:r>
              <a:rPr lang="en-US" sz="1600" err="1">
                <a:solidFill>
                  <a:srgbClr val="000000"/>
                </a:solidFill>
                <a:latin typeface="Verdana"/>
                <a:ea typeface="Verdana"/>
                <a:cs typeface="Arial"/>
              </a:rPr>
              <a:t>kode</a:t>
            </a:r>
            <a:r>
              <a:rPr lang="en-US" sz="1600">
                <a:solidFill>
                  <a:srgbClr val="000000"/>
                </a:solidFill>
                <a:latin typeface="Verdana"/>
                <a:ea typeface="Verdana"/>
                <a:cs typeface="Arial"/>
              </a:rPr>
              <a:t> </a:t>
            </a:r>
            <a:r>
              <a:rPr lang="en-US" sz="1600" err="1">
                <a:solidFill>
                  <a:srgbClr val="000000"/>
                </a:solidFill>
                <a:latin typeface="Verdana"/>
                <a:ea typeface="Verdana"/>
                <a:cs typeface="Arial"/>
              </a:rPr>
              <a:t>dosen</a:t>
            </a:r>
            <a:r>
              <a:rPr lang="en-US" sz="1600">
                <a:solidFill>
                  <a:srgbClr val="000000"/>
                </a:solidFill>
                <a:latin typeface="Verdana"/>
                <a:ea typeface="Verdana"/>
                <a:cs typeface="Arial"/>
              </a:rPr>
              <a:t>&gt; &lt;</a:t>
            </a:r>
            <a:r>
              <a:rPr lang="en-US" sz="1600" err="1">
                <a:solidFill>
                  <a:srgbClr val="000000"/>
                </a:solidFill>
                <a:latin typeface="Verdana"/>
                <a:ea typeface="Verdana"/>
                <a:cs typeface="Arial"/>
              </a:rPr>
              <a:t>kelas</a:t>
            </a:r>
            <a:r>
              <a:rPr lang="en-US" sz="1600">
                <a:solidFill>
                  <a:srgbClr val="000000"/>
                </a:solidFill>
                <a:latin typeface="Verdana"/>
                <a:ea typeface="Verdana"/>
                <a:cs typeface="Arial"/>
              </a:rPr>
              <a:t>&gt;</a:t>
            </a:r>
            <a:br>
              <a:rPr lang="en-US" sz="1600">
                <a:solidFill>
                  <a:srgbClr val="000000"/>
                </a:solidFill>
                <a:latin typeface="Verdana"/>
                <a:ea typeface="Verdana"/>
                <a:cs typeface="Arial"/>
              </a:rPr>
            </a:br>
            <a:r>
              <a:rPr lang="en-US" sz="1600">
                <a:solidFill>
                  <a:srgbClr val="000000"/>
                </a:solidFill>
                <a:latin typeface="Verdana"/>
                <a:ea typeface="Verdana"/>
                <a:cs typeface="Arial"/>
              </a:rPr>
              <a:t> </a:t>
            </a:r>
          </a:p>
          <a:p>
            <a:br>
              <a:rPr lang="en-US" sz="1600">
                <a:solidFill>
                  <a:srgbClr val="000000"/>
                </a:solidFill>
                <a:latin typeface="Verdana"/>
                <a:ea typeface="Verdana"/>
                <a:cs typeface="Arial"/>
              </a:rPr>
            </a:br>
            <a:endParaRPr lang="en-US" sz="1600">
              <a:solidFill>
                <a:srgbClr val="000000"/>
              </a:solidFill>
              <a:latin typeface="Verdana"/>
              <a:ea typeface="Verdana"/>
              <a:cs typeface="Arial"/>
            </a:endParaRPr>
          </a:p>
          <a:p>
            <a:endParaRPr lang="en-US" sz="2100" b="1" i="1">
              <a:solidFill>
                <a:srgbClr val="404040"/>
              </a:solidFill>
              <a:cs typeface="Arial"/>
            </a:endParaRPr>
          </a:p>
          <a:p>
            <a:endParaRPr lang="en-US" sz="2100" b="1" i="1">
              <a:solidFill>
                <a:srgbClr val="404040"/>
              </a:solidFill>
              <a:cs typeface="Arial"/>
            </a:endParaRPr>
          </a:p>
          <a:p>
            <a:endParaRPr lang="en-US" sz="2100" b="1" i="1">
              <a:solidFill>
                <a:srgbClr val="404040"/>
              </a:solidFill>
              <a:cs typeface="Arial"/>
            </a:endParaRPr>
          </a:p>
          <a:p>
            <a:endParaRPr lang="en-US" sz="2100" b="1" i="1">
              <a:solidFill>
                <a:srgbClr val="404040"/>
              </a:solidFill>
              <a:cs typeface="Arial"/>
            </a:endParaRPr>
          </a:p>
        </p:txBody>
      </p:sp>
      <p:sp>
        <p:nvSpPr>
          <p:cNvPr id="2" name="Google Shape;44;p1">
            <a:extLst>
              <a:ext uri="{FF2B5EF4-FFF2-40B4-BE49-F238E27FC236}">
                <a16:creationId xmlns:a16="http://schemas.microsoft.com/office/drawing/2014/main" id="{76696491-E593-4995-7DEC-63007FA901E2}"/>
              </a:ext>
            </a:extLst>
          </p:cNvPr>
          <p:cNvSpPr txBox="1"/>
          <p:nvPr/>
        </p:nvSpPr>
        <p:spPr>
          <a:xfrm>
            <a:off x="1393824" y="3886478"/>
            <a:ext cx="5689600" cy="323165"/>
          </a:xfrm>
          <a:prstGeom prst="rect">
            <a:avLst/>
          </a:prstGeom>
          <a:noFill/>
          <a:ln>
            <a:noFill/>
          </a:ln>
        </p:spPr>
        <p:txBody>
          <a:bodyPr spcFirstLastPara="1" wrap="square" lIns="0" tIns="0" rIns="0" bIns="0" anchor="t" anchorCtr="0">
            <a:spAutoFit/>
          </a:bodyPr>
          <a:lstStyle/>
          <a:p>
            <a:r>
              <a:rPr lang="en-US" sz="2100" i="1">
                <a:solidFill>
                  <a:srgbClr val="404040"/>
                </a:solidFill>
                <a:ea typeface="+mn-lt"/>
                <a:cs typeface="+mn-lt"/>
                <a:sym typeface="Arial"/>
              </a:rPr>
              <a:t>First Meet – Introduction Course</a:t>
            </a:r>
          </a:p>
        </p:txBody>
      </p:sp>
    </p:spTree>
    <p:extLst>
      <p:ext uri="{BB962C8B-B14F-4D97-AF65-F5344CB8AC3E}">
        <p14:creationId xmlns:p14="http://schemas.microsoft.com/office/powerpoint/2010/main" val="3916281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285875" y="803275"/>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cs typeface="Arial"/>
              </a:rPr>
              <a:t>Todays Agenda </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4" name="Google Shape;41;p1">
            <a:extLst>
              <a:ext uri="{FF2B5EF4-FFF2-40B4-BE49-F238E27FC236}">
                <a16:creationId xmlns:a16="http://schemas.microsoft.com/office/drawing/2014/main" id="{94F36D50-806A-6DD4-03C1-5AC31F69DA29}"/>
              </a:ext>
            </a:extLst>
          </p:cNvPr>
          <p:cNvSpPr txBox="1"/>
          <p:nvPr/>
        </p:nvSpPr>
        <p:spPr>
          <a:xfrm>
            <a:off x="714375" y="2135187"/>
            <a:ext cx="517525" cy="140551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2100"/>
              <a:buFont typeface="Arial"/>
              <a:buNone/>
            </a:pPr>
            <a:r>
              <a:rPr lang="en-US" sz="2100" b="1" i="0" u="none">
                <a:solidFill>
                  <a:schemeClr val="lt1"/>
                </a:solidFill>
                <a:latin typeface="Arial"/>
                <a:ea typeface="Arial"/>
                <a:cs typeface="Arial"/>
                <a:sym typeface="Arial"/>
              </a:rPr>
              <a:t>1.1</a:t>
            </a:r>
            <a:endParaRPr>
              <a:solidFill>
                <a:schemeClr val="lt1"/>
              </a:solidFill>
            </a:endParaRPr>
          </a:p>
          <a:p>
            <a:pPr marL="0" marR="0" lvl="0" indent="0" algn="l" rtl="0">
              <a:lnSpc>
                <a:spcPct val="100000"/>
              </a:lnSpc>
              <a:spcBef>
                <a:spcPts val="1700"/>
              </a:spcBef>
              <a:spcAft>
                <a:spcPts val="0"/>
              </a:spcAft>
              <a:buClr>
                <a:schemeClr val="lt1"/>
              </a:buClr>
              <a:buSzPts val="2100"/>
              <a:buFont typeface="Arial"/>
              <a:buNone/>
            </a:pPr>
            <a:r>
              <a:rPr lang="en-US" sz="2100" b="1" i="0" u="none">
                <a:solidFill>
                  <a:schemeClr val="lt1"/>
                </a:solidFill>
                <a:latin typeface="Arial"/>
                <a:ea typeface="Arial"/>
                <a:cs typeface="Arial"/>
                <a:sym typeface="Arial"/>
              </a:rPr>
              <a:t>1.2</a:t>
            </a:r>
            <a:endParaRPr lang="en-US" sz="2100" b="1" i="0" u="none">
              <a:solidFill>
                <a:schemeClr val="lt1"/>
              </a:solidFill>
              <a:latin typeface="Arial"/>
              <a:ea typeface="Arial"/>
              <a:cs typeface="Arial"/>
            </a:endParaRPr>
          </a:p>
          <a:p>
            <a:pPr>
              <a:spcBef>
                <a:spcPts val="1700"/>
              </a:spcBef>
              <a:buSzPts val="2100"/>
            </a:pPr>
            <a:r>
              <a:rPr lang="en-US" sz="2100" b="1">
                <a:solidFill>
                  <a:schemeClr val="lt1"/>
                </a:solidFill>
                <a:cs typeface="Arial"/>
              </a:rPr>
              <a:t>1.3</a:t>
            </a:r>
          </a:p>
        </p:txBody>
      </p:sp>
      <p:sp>
        <p:nvSpPr>
          <p:cNvPr id="6" name="Google Shape;44;p1">
            <a:extLst>
              <a:ext uri="{FF2B5EF4-FFF2-40B4-BE49-F238E27FC236}">
                <a16:creationId xmlns:a16="http://schemas.microsoft.com/office/drawing/2014/main" id="{2355A0CD-6804-78C3-A37C-C9EEB7BEAD67}"/>
              </a:ext>
            </a:extLst>
          </p:cNvPr>
          <p:cNvSpPr txBox="1"/>
          <p:nvPr/>
        </p:nvSpPr>
        <p:spPr>
          <a:xfrm>
            <a:off x="1393825" y="2135187"/>
            <a:ext cx="5689600" cy="1405513"/>
          </a:xfrm>
          <a:prstGeom prst="rect">
            <a:avLst/>
          </a:prstGeom>
          <a:noFill/>
          <a:ln>
            <a:noFill/>
          </a:ln>
        </p:spPr>
        <p:txBody>
          <a:bodyPr spcFirstLastPara="1" wrap="square" lIns="0" tIns="0" rIns="0" bIns="0" anchor="t" anchorCtr="0">
            <a:spAutoFit/>
          </a:bodyPr>
          <a:lstStyle/>
          <a:p>
            <a:pPr>
              <a:buClr>
                <a:srgbClr val="404040"/>
              </a:buClr>
              <a:buSzPts val="2100"/>
            </a:pPr>
            <a:r>
              <a:rPr lang="en-US" sz="2100" b="1">
                <a:solidFill>
                  <a:srgbClr val="404040"/>
                </a:solidFill>
                <a:latin typeface="Arial"/>
                <a:cs typeface="Arial"/>
                <a:sym typeface="Arial"/>
              </a:rPr>
              <a:t>Course Introduction</a:t>
            </a:r>
            <a:endParaRPr lang="en-US" sz="2100" b="1">
              <a:solidFill>
                <a:srgbClr val="404040"/>
              </a:solidFill>
              <a:cs typeface="Arial"/>
            </a:endParaRPr>
          </a:p>
          <a:p>
            <a:pPr marL="0" marR="0" lvl="0" indent="0" algn="l" rtl="0">
              <a:lnSpc>
                <a:spcPct val="100000"/>
              </a:lnSpc>
              <a:spcBef>
                <a:spcPts val="1700"/>
              </a:spcBef>
              <a:spcAft>
                <a:spcPts val="0"/>
              </a:spcAft>
              <a:buClr>
                <a:srgbClr val="404040"/>
              </a:buClr>
              <a:buSzPts val="2100"/>
              <a:buFont typeface="Arial"/>
              <a:buNone/>
            </a:pPr>
            <a:r>
              <a:rPr lang="en-US" sz="2100" b="1">
                <a:solidFill>
                  <a:srgbClr val="404040"/>
                </a:solidFill>
                <a:latin typeface="Arial"/>
                <a:cs typeface="Arial"/>
                <a:sym typeface="Arial"/>
              </a:rPr>
              <a:t>Course</a:t>
            </a:r>
          </a:p>
          <a:p>
            <a:pPr>
              <a:spcBef>
                <a:spcPts val="1700"/>
              </a:spcBef>
              <a:buSzPts val="2100"/>
            </a:pPr>
            <a:r>
              <a:rPr lang="en-US" sz="2100" b="1">
                <a:solidFill>
                  <a:srgbClr val="404040"/>
                </a:solidFill>
                <a:cs typeface="Arial"/>
              </a:rPr>
              <a:t>Review Programming</a:t>
            </a:r>
          </a:p>
        </p:txBody>
      </p:sp>
    </p:spTree>
    <p:extLst>
      <p:ext uri="{BB962C8B-B14F-4D97-AF65-F5344CB8AC3E}">
        <p14:creationId xmlns:p14="http://schemas.microsoft.com/office/powerpoint/2010/main" val="1108401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285875" y="803275"/>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cs typeface="Arial"/>
              </a:rPr>
              <a:t>Course Introduction</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6" name="Google Shape;44;p1">
            <a:extLst>
              <a:ext uri="{FF2B5EF4-FFF2-40B4-BE49-F238E27FC236}">
                <a16:creationId xmlns:a16="http://schemas.microsoft.com/office/drawing/2014/main" id="{2355A0CD-6804-78C3-A37C-C9EEB7BEAD67}"/>
              </a:ext>
            </a:extLst>
          </p:cNvPr>
          <p:cNvSpPr txBox="1"/>
          <p:nvPr/>
        </p:nvSpPr>
        <p:spPr>
          <a:xfrm>
            <a:off x="1393825" y="2135187"/>
            <a:ext cx="6852222" cy="5065489"/>
          </a:xfrm>
          <a:prstGeom prst="rect">
            <a:avLst/>
          </a:prstGeom>
          <a:noFill/>
          <a:ln>
            <a:noFill/>
          </a:ln>
        </p:spPr>
        <p:txBody>
          <a:bodyPr spcFirstLastPara="1" wrap="square" lIns="0" tIns="0" rIns="0" bIns="0" anchor="t" anchorCtr="0">
            <a:spAutoFit/>
          </a:bodyPr>
          <a:lstStyle/>
          <a:p>
            <a:pPr>
              <a:buClr>
                <a:srgbClr val="404040"/>
              </a:buClr>
              <a:buSzPts val="2100"/>
            </a:pPr>
            <a:r>
              <a:rPr lang="en-US" sz="2100" b="1">
                <a:solidFill>
                  <a:srgbClr val="404040"/>
                </a:solidFill>
                <a:latin typeface="Arial"/>
                <a:cs typeface="Arial"/>
                <a:sym typeface="Arial"/>
              </a:rPr>
              <a:t>Course Name  : </a:t>
            </a:r>
            <a:r>
              <a:rPr lang="en-US" sz="2100" i="1">
                <a:solidFill>
                  <a:srgbClr val="404040"/>
                </a:solidFill>
                <a:latin typeface="Arial"/>
                <a:cs typeface="Arial"/>
                <a:sym typeface="Arial"/>
              </a:rPr>
              <a:t>Object Oriented Programming Basic</a:t>
            </a:r>
            <a:endParaRPr lang="en-US" sz="2100" i="1">
              <a:solidFill>
                <a:srgbClr val="404040"/>
              </a:solidFill>
              <a:cs typeface="Arial"/>
            </a:endParaRPr>
          </a:p>
          <a:p>
            <a:pPr>
              <a:buSzPts val="2100"/>
            </a:pPr>
            <a:r>
              <a:rPr lang="en-US" sz="2100" b="1">
                <a:solidFill>
                  <a:srgbClr val="404040"/>
                </a:solidFill>
                <a:cs typeface="Arial"/>
              </a:rPr>
              <a:t>Code        : </a:t>
            </a:r>
            <a:r>
              <a:rPr lang="en-US" sz="2100">
                <a:solidFill>
                  <a:srgbClr val="404040"/>
                </a:solidFill>
                <a:ea typeface="+mn-lt"/>
                <a:cs typeface="+mn-lt"/>
              </a:rPr>
              <a:t>CCK1IAB3</a:t>
            </a:r>
          </a:p>
          <a:p>
            <a:pPr>
              <a:buSzPts val="2100"/>
            </a:pPr>
            <a:r>
              <a:rPr lang="en-US" sz="2100" b="1">
                <a:solidFill>
                  <a:srgbClr val="404040"/>
                </a:solidFill>
                <a:cs typeface="Arial"/>
              </a:rPr>
              <a:t>Credit  </a:t>
            </a:r>
            <a:r>
              <a:rPr lang="en-US" sz="2100" b="1" i="1">
                <a:solidFill>
                  <a:srgbClr val="404040"/>
                </a:solidFill>
                <a:cs typeface="Arial"/>
              </a:rPr>
              <a:t>     </a:t>
            </a:r>
            <a:r>
              <a:rPr lang="en-US" sz="2100" i="1">
                <a:solidFill>
                  <a:srgbClr val="404040"/>
                </a:solidFill>
                <a:cs typeface="Arial"/>
              </a:rPr>
              <a:t>: 3</a:t>
            </a:r>
            <a:r>
              <a:rPr lang="en-US" sz="2100">
                <a:solidFill>
                  <a:srgbClr val="404040"/>
                </a:solidFill>
                <a:cs typeface="Arial"/>
              </a:rPr>
              <a:t> SKS (2 Theory – 1 Practicum)</a:t>
            </a:r>
          </a:p>
          <a:p>
            <a:pPr>
              <a:buSzPts val="2100"/>
            </a:pPr>
            <a:endParaRPr lang="en-US" sz="2100">
              <a:solidFill>
                <a:srgbClr val="404040"/>
              </a:solidFill>
              <a:cs typeface="Arial"/>
            </a:endParaRPr>
          </a:p>
          <a:p>
            <a:pPr>
              <a:buSzPts val="2100"/>
            </a:pPr>
            <a:r>
              <a:rPr lang="en-US" sz="2100">
                <a:solidFill>
                  <a:srgbClr val="404040"/>
                </a:solidFill>
                <a:cs typeface="Arial"/>
              </a:rPr>
              <a:t>16 Weeks of each </a:t>
            </a:r>
          </a:p>
          <a:p>
            <a:pPr>
              <a:buSzPts val="2100"/>
            </a:pPr>
            <a:r>
              <a:rPr lang="en-US" sz="2100">
                <a:solidFill>
                  <a:srgbClr val="404040"/>
                </a:solidFill>
                <a:ea typeface="+mn-lt"/>
                <a:cs typeface="+mn-lt"/>
              </a:rPr>
              <a:t>2 Credit : </a:t>
            </a:r>
          </a:p>
          <a:p>
            <a:pPr marL="342900" indent="-342900">
              <a:buSzPts val="2100"/>
              <a:buFont typeface="Calibri"/>
              <a:buChar char="-"/>
            </a:pPr>
            <a:r>
              <a:rPr lang="en-US" sz="2100">
                <a:solidFill>
                  <a:srgbClr val="404040"/>
                </a:solidFill>
                <a:ea typeface="+mn-lt"/>
                <a:cs typeface="+mn-lt"/>
              </a:rPr>
              <a:t>2 x 50' class </a:t>
            </a:r>
            <a:endParaRPr lang="en-US" sz="2100">
              <a:solidFill>
                <a:srgbClr val="404040"/>
              </a:solidFill>
              <a:ea typeface="Verdana"/>
              <a:cs typeface="Arial"/>
            </a:endParaRPr>
          </a:p>
          <a:p>
            <a:pPr marL="342900" indent="-342900">
              <a:buSzPts val="2100"/>
              <a:buFont typeface="Calibri"/>
              <a:buChar char="-"/>
            </a:pPr>
            <a:r>
              <a:rPr lang="en-US" sz="2100">
                <a:solidFill>
                  <a:srgbClr val="404040"/>
                </a:solidFill>
                <a:ea typeface="Verdana"/>
                <a:cs typeface="Arial"/>
              </a:rPr>
              <a:t>2 x 60' structured tasks</a:t>
            </a:r>
          </a:p>
          <a:p>
            <a:pPr marL="342900" indent="-342900">
              <a:buSzPts val="2100"/>
              <a:buFont typeface="Calibri"/>
              <a:buChar char="-"/>
            </a:pPr>
            <a:r>
              <a:rPr lang="en-US" sz="2100">
                <a:solidFill>
                  <a:srgbClr val="404040"/>
                </a:solidFill>
                <a:ea typeface="Verdana"/>
                <a:cs typeface="Arial"/>
              </a:rPr>
              <a:t>2 x 60' Self Study</a:t>
            </a:r>
            <a:r>
              <a:rPr lang="en-US" sz="2100">
                <a:solidFill>
                  <a:srgbClr val="404040"/>
                </a:solidFill>
                <a:ea typeface="Verdana"/>
                <a:cs typeface="+mn-lt"/>
              </a:rPr>
              <a:t> </a:t>
            </a:r>
            <a:endParaRPr lang="en-US" sz="2100">
              <a:solidFill>
                <a:srgbClr val="404040"/>
              </a:solidFill>
              <a:ea typeface="Verdana"/>
              <a:cs typeface="Arial"/>
            </a:endParaRPr>
          </a:p>
          <a:p>
            <a:pPr>
              <a:buSzPts val="2100"/>
            </a:pPr>
            <a:endParaRPr lang="en-US" sz="2100">
              <a:solidFill>
                <a:srgbClr val="404040"/>
              </a:solidFill>
              <a:ea typeface="Verdana"/>
              <a:cs typeface="+mn-lt"/>
            </a:endParaRPr>
          </a:p>
          <a:p>
            <a:pPr>
              <a:buSzPts val="2100"/>
            </a:pPr>
            <a:r>
              <a:rPr lang="en-US" sz="2100">
                <a:solidFill>
                  <a:srgbClr val="404040"/>
                </a:solidFill>
                <a:ea typeface="Verdana"/>
                <a:cs typeface="+mn-lt"/>
              </a:rPr>
              <a:t>1 Credit : </a:t>
            </a:r>
          </a:p>
          <a:p>
            <a:pPr marL="342900" indent="-342900">
              <a:buSzPts val="2100"/>
              <a:buFont typeface="Calibri"/>
              <a:buChar char="-"/>
            </a:pPr>
            <a:r>
              <a:rPr lang="en-US" sz="2100">
                <a:solidFill>
                  <a:srgbClr val="404040"/>
                </a:solidFill>
                <a:ea typeface="Verdana"/>
                <a:cs typeface="+mn-lt"/>
              </a:rPr>
              <a:t>2 x 50' Practicum in Lab</a:t>
            </a:r>
          </a:p>
          <a:p>
            <a:pPr marL="342900" indent="-342900">
              <a:buSzPts val="2100"/>
              <a:buFont typeface="Calibri"/>
              <a:buChar char="-"/>
            </a:pPr>
            <a:r>
              <a:rPr lang="en-US" sz="2100">
                <a:solidFill>
                  <a:srgbClr val="404040"/>
                </a:solidFill>
                <a:ea typeface="Verdana"/>
                <a:cs typeface="Arial"/>
              </a:rPr>
              <a:t>1 x 70' Self Study </a:t>
            </a:r>
          </a:p>
          <a:p>
            <a:pPr>
              <a:buSzPts val="2100"/>
            </a:pPr>
            <a:endParaRPr lang="en-US" sz="2100" i="1">
              <a:solidFill>
                <a:srgbClr val="404040"/>
              </a:solidFill>
              <a:cs typeface="Arial"/>
            </a:endParaRPr>
          </a:p>
          <a:p>
            <a:pPr>
              <a:spcBef>
                <a:spcPts val="1700"/>
              </a:spcBef>
              <a:buSzPts val="2100"/>
              <a:buFont typeface="Arial"/>
            </a:pPr>
            <a:endParaRPr lang="en-US" sz="2100" b="1">
              <a:solidFill>
                <a:srgbClr val="404040"/>
              </a:solidFill>
              <a:cs typeface="Arial"/>
            </a:endParaRPr>
          </a:p>
        </p:txBody>
      </p:sp>
      <p:sp>
        <p:nvSpPr>
          <p:cNvPr id="2" name="Kotak Teks 1">
            <a:extLst>
              <a:ext uri="{FF2B5EF4-FFF2-40B4-BE49-F238E27FC236}">
                <a16:creationId xmlns:a16="http://schemas.microsoft.com/office/drawing/2014/main" id="{CD2F78AB-C421-57E2-E4FD-058A4C5B193E}"/>
              </a:ext>
            </a:extLst>
          </p:cNvPr>
          <p:cNvSpPr txBox="1"/>
          <p:nvPr/>
        </p:nvSpPr>
        <p:spPr>
          <a:xfrm>
            <a:off x="5589417" y="3430962"/>
            <a:ext cx="3405453"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00">
                <a:solidFill>
                  <a:srgbClr val="FF0000"/>
                </a:solidFill>
                <a:ea typeface="+mn-lt"/>
                <a:cs typeface="+mn-lt"/>
              </a:rPr>
              <a:t>1 credit</a:t>
            </a:r>
            <a:r>
              <a:rPr lang="en-US" sz="2100">
                <a:solidFill>
                  <a:srgbClr val="404040"/>
                </a:solidFill>
                <a:ea typeface="+mn-lt"/>
                <a:cs typeface="+mn-lt"/>
              </a:rPr>
              <a:t> is equivalent to </a:t>
            </a:r>
            <a:r>
              <a:rPr lang="en-US" sz="2100">
                <a:solidFill>
                  <a:srgbClr val="FF0000"/>
                </a:solidFill>
                <a:ea typeface="+mn-lt"/>
                <a:cs typeface="+mn-lt"/>
              </a:rPr>
              <a:t>170 minutes</a:t>
            </a:r>
            <a:r>
              <a:rPr lang="en-US" sz="2100">
                <a:solidFill>
                  <a:srgbClr val="404040"/>
                </a:solidFill>
                <a:ea typeface="+mn-lt"/>
                <a:cs typeface="+mn-lt"/>
              </a:rPr>
              <a:t>, so 3 credit units is equivalent to </a:t>
            </a:r>
            <a:r>
              <a:rPr lang="en-US" sz="2100">
                <a:solidFill>
                  <a:srgbClr val="FF0000"/>
                </a:solidFill>
                <a:ea typeface="+mn-lt"/>
                <a:cs typeface="+mn-lt"/>
              </a:rPr>
              <a:t>510 minutes</a:t>
            </a:r>
            <a:r>
              <a:rPr lang="en-US" sz="2100">
                <a:solidFill>
                  <a:srgbClr val="404040"/>
                </a:solidFill>
                <a:ea typeface="+mn-lt"/>
                <a:cs typeface="+mn-lt"/>
              </a:rPr>
              <a:t> or</a:t>
            </a:r>
            <a:r>
              <a:rPr lang="en-US" sz="2100">
                <a:solidFill>
                  <a:srgbClr val="FF0000"/>
                </a:solidFill>
                <a:ea typeface="+mn-lt"/>
                <a:cs typeface="+mn-lt"/>
              </a:rPr>
              <a:t> 8.5 hours</a:t>
            </a:r>
            <a:r>
              <a:rPr lang="en-US" sz="2100">
                <a:solidFill>
                  <a:srgbClr val="404040"/>
                </a:solidFill>
                <a:ea typeface="+mn-lt"/>
                <a:cs typeface="+mn-lt"/>
              </a:rPr>
              <a:t> per week.</a:t>
            </a:r>
            <a:endParaRPr lang="id-ID"/>
          </a:p>
        </p:txBody>
      </p:sp>
      <p:sp>
        <p:nvSpPr>
          <p:cNvPr id="5" name="Kotak Teks 4">
            <a:extLst>
              <a:ext uri="{FF2B5EF4-FFF2-40B4-BE49-F238E27FC236}">
                <a16:creationId xmlns:a16="http://schemas.microsoft.com/office/drawing/2014/main" id="{9C213EBD-832D-D992-ACB1-1A1756DC3AB7}"/>
              </a:ext>
            </a:extLst>
          </p:cNvPr>
          <p:cNvSpPr txBox="1"/>
          <p:nvPr/>
        </p:nvSpPr>
        <p:spPr>
          <a:xfrm>
            <a:off x="5589417" y="5143009"/>
            <a:ext cx="2743200"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i="1" err="1"/>
              <a:t>Permendikbud</a:t>
            </a:r>
            <a:r>
              <a:rPr lang="en-US" sz="1050" i="1"/>
              <a:t> </a:t>
            </a:r>
            <a:r>
              <a:rPr lang="en-US" sz="1050" i="1" err="1"/>
              <a:t>Ristek</a:t>
            </a:r>
            <a:r>
              <a:rPr lang="en-US" sz="1050" i="1"/>
              <a:t> No. 53 </a:t>
            </a:r>
            <a:r>
              <a:rPr lang="en-US" sz="1050" i="1" err="1"/>
              <a:t>Tahun</a:t>
            </a:r>
            <a:r>
              <a:rPr lang="en-US" sz="1050" i="1"/>
              <a:t> 2023</a:t>
            </a:r>
            <a:endParaRPr lang="en-US" sz="1050" i="1">
              <a:cs typeface="Arial"/>
            </a:endParaRPr>
          </a:p>
        </p:txBody>
      </p:sp>
    </p:spTree>
    <p:extLst>
      <p:ext uri="{BB962C8B-B14F-4D97-AF65-F5344CB8AC3E}">
        <p14:creationId xmlns:p14="http://schemas.microsoft.com/office/powerpoint/2010/main" val="3142705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285875" y="803275"/>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cs typeface="Arial"/>
              </a:rPr>
              <a:t>Course Introduction</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graphicFrame>
        <p:nvGraphicFramePr>
          <p:cNvPr id="3" name="Tabel 2">
            <a:extLst>
              <a:ext uri="{FF2B5EF4-FFF2-40B4-BE49-F238E27FC236}">
                <a16:creationId xmlns:a16="http://schemas.microsoft.com/office/drawing/2014/main" id="{1DCAE376-681F-0AD6-85F5-BFC762A6AE99}"/>
              </a:ext>
            </a:extLst>
          </p:cNvPr>
          <p:cNvGraphicFramePr>
            <a:graphicFrameLocks noGrp="1"/>
          </p:cNvGraphicFramePr>
          <p:nvPr>
            <p:extLst>
              <p:ext uri="{D42A27DB-BD31-4B8C-83A1-F6EECF244321}">
                <p14:modId xmlns:p14="http://schemas.microsoft.com/office/powerpoint/2010/main" val="970756234"/>
              </p:ext>
            </p:extLst>
          </p:nvPr>
        </p:nvGraphicFramePr>
        <p:xfrm>
          <a:off x="1672803" y="2103054"/>
          <a:ext cx="6416019" cy="3137282"/>
        </p:xfrm>
        <a:graphic>
          <a:graphicData uri="http://schemas.openxmlformats.org/drawingml/2006/table">
            <a:tbl>
              <a:tblPr bandRow="1">
                <a:tableStyleId>{5C22544A-7EE6-4342-B048-85BDC9FD1C3A}</a:tableStyleId>
              </a:tblPr>
              <a:tblGrid>
                <a:gridCol w="1225015">
                  <a:extLst>
                    <a:ext uri="{9D8B030D-6E8A-4147-A177-3AD203B41FA5}">
                      <a16:colId xmlns:a16="http://schemas.microsoft.com/office/drawing/2014/main" val="2498563661"/>
                    </a:ext>
                  </a:extLst>
                </a:gridCol>
                <a:gridCol w="5191004">
                  <a:extLst>
                    <a:ext uri="{9D8B030D-6E8A-4147-A177-3AD203B41FA5}">
                      <a16:colId xmlns:a16="http://schemas.microsoft.com/office/drawing/2014/main" val="3329124378"/>
                    </a:ext>
                  </a:extLst>
                </a:gridCol>
              </a:tblGrid>
              <a:tr h="203200">
                <a:tc gridSpan="2">
                  <a:txBody>
                    <a:bodyPr/>
                    <a:lstStyle/>
                    <a:p>
                      <a:pPr fontAlgn="t">
                        <a:lnSpc>
                          <a:spcPct val="150000"/>
                        </a:lnSpc>
                      </a:pPr>
                      <a:r>
                        <a:rPr lang="id-ID" sz="1050" b="1" dirty="0">
                          <a:effectLst/>
                          <a:latin typeface="Calibri"/>
                        </a:rPr>
                        <a:t>Program </a:t>
                      </a:r>
                      <a:r>
                        <a:rPr lang="id-ID" sz="1050" b="1" dirty="0" err="1">
                          <a:effectLst/>
                          <a:latin typeface="Calibri"/>
                        </a:rPr>
                        <a:t>Learning</a:t>
                      </a:r>
                      <a:r>
                        <a:rPr lang="id-ID" sz="1050" b="1" dirty="0">
                          <a:effectLst/>
                          <a:latin typeface="Calibri"/>
                        </a:rPr>
                        <a:t> </a:t>
                      </a:r>
                      <a:r>
                        <a:rPr lang="id-ID" sz="1050" b="1" dirty="0" err="1">
                          <a:effectLst/>
                          <a:latin typeface="Calibri"/>
                        </a:rPr>
                        <a:t>Outcomes</a:t>
                      </a:r>
                      <a:r>
                        <a:rPr lang="id-ID" sz="1050" b="1" dirty="0">
                          <a:effectLst/>
                          <a:latin typeface="Calibri"/>
                        </a:rPr>
                        <a:t> (PLO) PRODI</a:t>
                      </a:r>
                    </a:p>
                  </a:txBody>
                  <a:tcPr marL="9525" marR="9525" marT="9525"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id-ID"/>
                    </a:p>
                  </a:txBody>
                  <a:tcPr/>
                </a:tc>
                <a:extLst>
                  <a:ext uri="{0D108BD9-81ED-4DB2-BD59-A6C34878D82A}">
                    <a16:rowId xmlns:a16="http://schemas.microsoft.com/office/drawing/2014/main" val="2764280681"/>
                  </a:ext>
                </a:extLst>
              </a:tr>
              <a:tr h="0">
                <a:tc>
                  <a:txBody>
                    <a:bodyPr/>
                    <a:lstStyle/>
                    <a:p>
                      <a:pPr algn="ctr" fontAlgn="ctr">
                        <a:lnSpc>
                          <a:spcPct val="150000"/>
                        </a:lnSpc>
                      </a:pPr>
                      <a:r>
                        <a:rPr lang="id-ID" sz="1050" dirty="0">
                          <a:effectLst/>
                          <a:latin typeface="Arial"/>
                        </a:rPr>
                        <a:t>PLO-3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lnSpc>
                          <a:spcPct val="150000"/>
                        </a:lnSpc>
                      </a:pPr>
                      <a:r>
                        <a:rPr lang="id-ID" sz="1050" dirty="0">
                          <a:effectLst/>
                          <a:latin typeface="Arial"/>
                        </a:rPr>
                        <a:t>PLO 3 - Menguasai metode komputasi, matematika, rekayasa, dan pembiayaan yang dibutuhkan dalam proses rekayasa perangkat lunak  yang otomatis.</a:t>
                      </a:r>
                      <a:endParaRPr lang="id-ID" sz="1050" dirty="0"/>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2159594"/>
                  </a:ext>
                </a:extLst>
              </a:tr>
              <a:tr h="203200">
                <a:tc gridSpan="2">
                  <a:txBody>
                    <a:bodyPr/>
                    <a:lstStyle/>
                    <a:p>
                      <a:pPr fontAlgn="t">
                        <a:lnSpc>
                          <a:spcPct val="150000"/>
                        </a:lnSpc>
                      </a:pPr>
                      <a:r>
                        <a:rPr lang="id-ID" sz="1050" b="1" dirty="0" err="1">
                          <a:effectLst/>
                          <a:latin typeface="Calibri"/>
                        </a:rPr>
                        <a:t>Course</a:t>
                      </a:r>
                      <a:r>
                        <a:rPr lang="id-ID" sz="1050" b="1" dirty="0">
                          <a:effectLst/>
                          <a:latin typeface="Calibri"/>
                        </a:rPr>
                        <a:t> </a:t>
                      </a:r>
                      <a:r>
                        <a:rPr lang="id-ID" sz="1050" b="1" dirty="0" err="1">
                          <a:effectLst/>
                          <a:latin typeface="Calibri"/>
                        </a:rPr>
                        <a:t>Learning</a:t>
                      </a:r>
                      <a:r>
                        <a:rPr lang="id-ID" sz="1050" b="1" dirty="0">
                          <a:effectLst/>
                          <a:latin typeface="Calibri"/>
                        </a:rPr>
                        <a:t> </a:t>
                      </a:r>
                      <a:r>
                        <a:rPr lang="id-ID" sz="1050" b="1" dirty="0" err="1">
                          <a:effectLst/>
                          <a:latin typeface="Calibri"/>
                        </a:rPr>
                        <a:t>Outcomes</a:t>
                      </a:r>
                      <a:r>
                        <a:rPr lang="id-ID" sz="1050" b="1" dirty="0">
                          <a:effectLst/>
                          <a:latin typeface="Calibri"/>
                        </a:rPr>
                        <a:t> (CLO)</a:t>
                      </a:r>
                    </a:p>
                  </a:txBody>
                  <a:tcPr marL="9525" marR="9525" marT="9525"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id-ID"/>
                    </a:p>
                  </a:txBody>
                  <a:tcPr/>
                </a:tc>
                <a:extLst>
                  <a:ext uri="{0D108BD9-81ED-4DB2-BD59-A6C34878D82A}">
                    <a16:rowId xmlns:a16="http://schemas.microsoft.com/office/drawing/2014/main" val="3327076426"/>
                  </a:ext>
                </a:extLst>
              </a:tr>
              <a:tr h="0">
                <a:tc>
                  <a:txBody>
                    <a:bodyPr/>
                    <a:lstStyle/>
                    <a:p>
                      <a:pPr algn="ctr" fontAlgn="ctr">
                        <a:lnSpc>
                          <a:spcPct val="150000"/>
                        </a:lnSpc>
                      </a:pPr>
                      <a:r>
                        <a:rPr lang="id-ID" sz="1050" dirty="0">
                          <a:effectLst/>
                          <a:latin typeface="Arial"/>
                        </a:rPr>
                        <a:t>CLO-3-1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lnSpc>
                          <a:spcPct val="150000"/>
                        </a:lnSpc>
                      </a:pPr>
                      <a:r>
                        <a:rPr lang="id-ID" sz="1050" dirty="0">
                          <a:effectLst/>
                          <a:latin typeface="Arial"/>
                        </a:rPr>
                        <a:t>[PLO 3] CLO 1 - Mampu menjelaskan dan menerapkan metode komputasi  yang tepat dalam konteks rekayasa perangkat lunak otomatis.</a:t>
                      </a:r>
                      <a:endParaRPr lang="id-ID" sz="1050" dirty="0">
                        <a:latin typeface="Arial"/>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66439"/>
                  </a:ext>
                </a:extLst>
              </a:tr>
              <a:tr h="203200">
                <a:tc>
                  <a:txBody>
                    <a:bodyPr/>
                    <a:lstStyle/>
                    <a:p>
                      <a:pPr algn="ctr" fontAlgn="ctr">
                        <a:lnSpc>
                          <a:spcPct val="150000"/>
                        </a:lnSpc>
                      </a:pPr>
                      <a:r>
                        <a:rPr lang="id-ID" sz="1050" dirty="0">
                          <a:effectLst/>
                          <a:latin typeface="Arial"/>
                        </a:rPr>
                        <a:t>CLO-3-3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lnSpc>
                          <a:spcPct val="150000"/>
                        </a:lnSpc>
                      </a:pPr>
                      <a:r>
                        <a:rPr lang="id-ID" sz="1050" dirty="0">
                          <a:effectLst/>
                          <a:latin typeface="Arial"/>
                        </a:rPr>
                        <a:t>[PLO 3] CLO 3 - Mampu menjelaskan dan menerapkan metode rekayasa untuk membangun perangkat lunak yang otomatis.</a:t>
                      </a:r>
                      <a:endParaRPr lang="id-ID" sz="1050" dirty="0">
                        <a:latin typeface="Arial"/>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7590839"/>
                  </a:ext>
                </a:extLst>
              </a:tr>
              <a:tr h="203200">
                <a:tc gridSpan="2">
                  <a:txBody>
                    <a:bodyPr/>
                    <a:lstStyle/>
                    <a:p>
                      <a:pPr fontAlgn="t">
                        <a:lnSpc>
                          <a:spcPct val="150000"/>
                        </a:lnSpc>
                      </a:pPr>
                      <a:r>
                        <a:rPr lang="id-ID" sz="1050" b="1" dirty="0">
                          <a:effectLst/>
                          <a:latin typeface="Calibri"/>
                        </a:rPr>
                        <a:t>Kemampuan Akhir tiap tahapan belajar (Sub - CLO)</a:t>
                      </a:r>
                    </a:p>
                  </a:txBody>
                  <a:tcPr marL="9525" marR="9525" marT="9525"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id-ID"/>
                    </a:p>
                  </a:txBody>
                  <a:tcPr/>
                </a:tc>
                <a:extLst>
                  <a:ext uri="{0D108BD9-81ED-4DB2-BD59-A6C34878D82A}">
                    <a16:rowId xmlns:a16="http://schemas.microsoft.com/office/drawing/2014/main" val="4281025301"/>
                  </a:ext>
                </a:extLst>
              </a:tr>
              <a:tr h="203200">
                <a:tc>
                  <a:txBody>
                    <a:bodyPr/>
                    <a:lstStyle/>
                    <a:p>
                      <a:pPr lvl="0" algn="ctr">
                        <a:lnSpc>
                          <a:spcPct val="150000"/>
                        </a:lnSpc>
                        <a:buNone/>
                      </a:pPr>
                      <a:r>
                        <a:rPr lang="id-ID" sz="1050" b="0" i="0" u="none" strike="noStrike" noProof="0" dirty="0">
                          <a:effectLst/>
                        </a:rPr>
                        <a:t>Sub-CLO-3-1-1</a:t>
                      </a:r>
                      <a:endParaRPr lang="id-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nSpc>
                          <a:spcPct val="150000"/>
                        </a:lnSpc>
                        <a:buNone/>
                      </a:pPr>
                      <a:r>
                        <a:rPr lang="id-ID" sz="1050" b="0" i="0" u="none" strike="noStrike" noProof="0" dirty="0">
                          <a:effectLst/>
                        </a:rPr>
                        <a:t>Mampu menjelaskan dan menerapkan konsep serta prinsip dasar pemrograman berorientasi objek dalam konteks rekayasa perangkat lunak otomatis.</a:t>
                      </a:r>
                      <a:endParaRPr lang="id-ID" dirty="0"/>
                    </a:p>
                  </a:txBody>
                  <a:tcPr marL="9525" marR="9525" marT="9525"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222941"/>
                  </a:ext>
                </a:extLst>
              </a:tr>
              <a:tr h="203200">
                <a:tc>
                  <a:txBody>
                    <a:bodyPr/>
                    <a:lstStyle/>
                    <a:p>
                      <a:pPr lvl="0" algn="ctr">
                        <a:lnSpc>
                          <a:spcPct val="150000"/>
                        </a:lnSpc>
                        <a:buNone/>
                      </a:pPr>
                      <a:r>
                        <a:rPr lang="id-ID" sz="1050" b="0" i="0" u="none" strike="noStrike" noProof="0" dirty="0">
                          <a:effectLst/>
                        </a:rPr>
                        <a:t>Sub-CLO-3-3-1</a:t>
                      </a:r>
                      <a:endParaRPr lang="id-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nSpc>
                          <a:spcPct val="150000"/>
                        </a:lnSpc>
                        <a:buNone/>
                      </a:pPr>
                      <a:r>
                        <a:rPr lang="id-ID" sz="1050" b="0" i="0" u="none" strike="noStrike" noProof="0" dirty="0">
                          <a:effectLst/>
                        </a:rPr>
                        <a:t>Mampu mengimplementasikan konsep pemrograman berorientasi objek ke dalam sebuah perangkat lunak secara efektif.</a:t>
                      </a:r>
                      <a:endParaRPr lang="id-ID" dirty="0"/>
                    </a:p>
                  </a:txBody>
                  <a:tcPr marL="9525" marR="9525" marT="9525"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5235827"/>
                  </a:ext>
                </a:extLst>
              </a:tr>
            </a:tbl>
          </a:graphicData>
        </a:graphic>
      </p:graphicFrame>
    </p:spTree>
    <p:extLst>
      <p:ext uri="{BB962C8B-B14F-4D97-AF65-F5344CB8AC3E}">
        <p14:creationId xmlns:p14="http://schemas.microsoft.com/office/powerpoint/2010/main" val="2479990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285875" y="803275"/>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cs typeface="Arial"/>
              </a:rPr>
              <a:t>Course Introduction</a:t>
            </a:r>
            <a:endParaRPr lang="id-ID"/>
          </a:p>
        </p:txBody>
      </p:sp>
      <p:sp>
        <p:nvSpPr>
          <p:cNvPr id="8" name="Google Shape;43;p1">
            <a:extLst>
              <a:ext uri="{FF2B5EF4-FFF2-40B4-BE49-F238E27FC236}">
                <a16:creationId xmlns:a16="http://schemas.microsoft.com/office/drawing/2014/main" id="{81183B4E-2F2C-7BDF-51DC-807790A6EFCD}"/>
              </a:ext>
            </a:extLst>
          </p:cNvPr>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graphicFrame>
        <p:nvGraphicFramePr>
          <p:cNvPr id="3" name="Tabel 2">
            <a:extLst>
              <a:ext uri="{FF2B5EF4-FFF2-40B4-BE49-F238E27FC236}">
                <a16:creationId xmlns:a16="http://schemas.microsoft.com/office/drawing/2014/main" id="{27FC4F79-5939-1138-9D64-014FC664833F}"/>
              </a:ext>
            </a:extLst>
          </p:cNvPr>
          <p:cNvGraphicFramePr>
            <a:graphicFrameLocks noGrp="1"/>
          </p:cNvGraphicFramePr>
          <p:nvPr>
            <p:extLst>
              <p:ext uri="{D42A27DB-BD31-4B8C-83A1-F6EECF244321}">
                <p14:modId xmlns:p14="http://schemas.microsoft.com/office/powerpoint/2010/main" val="3862899720"/>
              </p:ext>
            </p:extLst>
          </p:nvPr>
        </p:nvGraphicFramePr>
        <p:xfrm>
          <a:off x="1373561" y="2070154"/>
          <a:ext cx="7103416" cy="3967950"/>
        </p:xfrm>
        <a:graphic>
          <a:graphicData uri="http://schemas.openxmlformats.org/drawingml/2006/table">
            <a:tbl>
              <a:tblPr firstRow="1" bandRow="1">
                <a:tableStyleId>{9D7B26C5-4107-4FEC-AEDC-1716B250A1EF}</a:tableStyleId>
              </a:tblPr>
              <a:tblGrid>
                <a:gridCol w="887927">
                  <a:extLst>
                    <a:ext uri="{9D8B030D-6E8A-4147-A177-3AD203B41FA5}">
                      <a16:colId xmlns:a16="http://schemas.microsoft.com/office/drawing/2014/main" val="4072908708"/>
                    </a:ext>
                  </a:extLst>
                </a:gridCol>
                <a:gridCol w="887927">
                  <a:extLst>
                    <a:ext uri="{9D8B030D-6E8A-4147-A177-3AD203B41FA5}">
                      <a16:colId xmlns:a16="http://schemas.microsoft.com/office/drawing/2014/main" val="38427115"/>
                    </a:ext>
                  </a:extLst>
                </a:gridCol>
                <a:gridCol w="887927">
                  <a:extLst>
                    <a:ext uri="{9D8B030D-6E8A-4147-A177-3AD203B41FA5}">
                      <a16:colId xmlns:a16="http://schemas.microsoft.com/office/drawing/2014/main" val="777915478"/>
                    </a:ext>
                  </a:extLst>
                </a:gridCol>
                <a:gridCol w="887927">
                  <a:extLst>
                    <a:ext uri="{9D8B030D-6E8A-4147-A177-3AD203B41FA5}">
                      <a16:colId xmlns:a16="http://schemas.microsoft.com/office/drawing/2014/main" val="3902086231"/>
                    </a:ext>
                  </a:extLst>
                </a:gridCol>
                <a:gridCol w="887927">
                  <a:extLst>
                    <a:ext uri="{9D8B030D-6E8A-4147-A177-3AD203B41FA5}">
                      <a16:colId xmlns:a16="http://schemas.microsoft.com/office/drawing/2014/main" val="4207354604"/>
                    </a:ext>
                  </a:extLst>
                </a:gridCol>
                <a:gridCol w="887927">
                  <a:extLst>
                    <a:ext uri="{9D8B030D-6E8A-4147-A177-3AD203B41FA5}">
                      <a16:colId xmlns:a16="http://schemas.microsoft.com/office/drawing/2014/main" val="930845769"/>
                    </a:ext>
                  </a:extLst>
                </a:gridCol>
                <a:gridCol w="887927">
                  <a:extLst>
                    <a:ext uri="{9D8B030D-6E8A-4147-A177-3AD203B41FA5}">
                      <a16:colId xmlns:a16="http://schemas.microsoft.com/office/drawing/2014/main" val="1479063412"/>
                    </a:ext>
                  </a:extLst>
                </a:gridCol>
                <a:gridCol w="887927">
                  <a:extLst>
                    <a:ext uri="{9D8B030D-6E8A-4147-A177-3AD203B41FA5}">
                      <a16:colId xmlns:a16="http://schemas.microsoft.com/office/drawing/2014/main" val="1357016273"/>
                    </a:ext>
                  </a:extLst>
                </a:gridCol>
              </a:tblGrid>
              <a:tr h="661325">
                <a:tc rowSpan="3">
                  <a:txBody>
                    <a:bodyPr/>
                    <a:lstStyle/>
                    <a:p>
                      <a:pPr algn="ctr" fontAlgn="ctr"/>
                      <a:r>
                        <a:rPr lang="id-ID" sz="1000" u="none" strike="noStrike" dirty="0" err="1">
                          <a:solidFill>
                            <a:srgbClr val="000000"/>
                          </a:solidFill>
                          <a:effectLst/>
                        </a:rPr>
                        <a:t>Id</a:t>
                      </a:r>
                      <a:r>
                        <a:rPr lang="id-ID" sz="1000" u="none" strike="noStrike" dirty="0">
                          <a:solidFill>
                            <a:srgbClr val="000000"/>
                          </a:solidFill>
                          <a:effectLst/>
                        </a:rPr>
                        <a:t> Sub-CLO</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gridSpan="6">
                  <a:txBody>
                    <a:bodyPr/>
                    <a:lstStyle/>
                    <a:p>
                      <a:pPr algn="ctr" fontAlgn="ctr"/>
                      <a:r>
                        <a:rPr lang="id-ID" sz="1000" u="none" strike="noStrike" dirty="0">
                          <a:solidFill>
                            <a:srgbClr val="000000"/>
                          </a:solidFill>
                          <a:effectLst/>
                        </a:rPr>
                        <a:t>Bobot per Bentuk Penilaian (%)</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hMerge="1">
                  <a:txBody>
                    <a:bodyPr/>
                    <a:lstStyle/>
                    <a:p>
                      <a:endParaRPr lang="id-ID"/>
                    </a:p>
                  </a:txBody>
                  <a:tcPr marL="0" marR="0" marT="0" marB="0" horzOverflow="overflow"/>
                </a:tc>
                <a:tc hMerge="1">
                  <a:txBody>
                    <a:bodyPr/>
                    <a:lstStyle/>
                    <a:p>
                      <a:endParaRPr lang="id-ID"/>
                    </a:p>
                  </a:txBody>
                  <a:tcPr marL="0" marR="0" marT="0" marB="0" horzOverflow="overflow"/>
                </a:tc>
                <a:tc hMerge="1">
                  <a:txBody>
                    <a:bodyPr/>
                    <a:lstStyle/>
                    <a:p>
                      <a:endParaRPr lang="id-ID"/>
                    </a:p>
                  </a:txBody>
                  <a:tcPr marL="0" marR="0" marT="0" marB="0" horzOverflow="overflow"/>
                </a:tc>
                <a:tc hMerge="1">
                  <a:txBody>
                    <a:bodyPr/>
                    <a:lstStyle/>
                    <a:p>
                      <a:endParaRPr lang="id-ID"/>
                    </a:p>
                  </a:txBody>
                  <a:tcPr marL="0" marR="0" marT="0" marB="0" horzOverflow="overflow"/>
                </a:tc>
                <a:tc hMerge="1">
                  <a:txBody>
                    <a:bodyPr/>
                    <a:lstStyle/>
                    <a:p>
                      <a:endParaRPr lang="id-ID"/>
                    </a:p>
                  </a:txBody>
                  <a:tcPr marL="0" marR="0" marT="0" marB="0" horzOverflow="overflow"/>
                </a:tc>
                <a:tc rowSpan="3">
                  <a:txBody>
                    <a:bodyPr/>
                    <a:lstStyle/>
                    <a:p>
                      <a:pPr algn="ctr" fontAlgn="ctr"/>
                      <a:r>
                        <a:rPr lang="id-ID" sz="1000" u="none" strike="noStrike" dirty="0">
                          <a:solidFill>
                            <a:srgbClr val="000000"/>
                          </a:solidFill>
                          <a:effectLst/>
                        </a:rPr>
                        <a:t>TOTAL BOBOT PER Sub-CLO</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extLst>
                  <a:ext uri="{0D108BD9-81ED-4DB2-BD59-A6C34878D82A}">
                    <a16:rowId xmlns:a16="http://schemas.microsoft.com/office/drawing/2014/main" val="56117259"/>
                  </a:ext>
                </a:extLst>
              </a:tr>
              <a:tr h="661325">
                <a:tc vMerge="1">
                  <a:txBody>
                    <a:bodyPr/>
                    <a:lstStyle/>
                    <a:p>
                      <a:endParaRPr lang="id-ID"/>
                    </a:p>
                  </a:txBody>
                  <a:tcPr marL="0" marR="0" marT="0" marB="0" horzOverflow="overflow"/>
                </a:tc>
                <a:tc gridSpan="2">
                  <a:txBody>
                    <a:bodyPr/>
                    <a:lstStyle/>
                    <a:p>
                      <a:pPr algn="ctr" fontAlgn="ctr"/>
                      <a:r>
                        <a:rPr lang="id-ID" sz="1000" u="none" strike="noStrike" dirty="0">
                          <a:solidFill>
                            <a:srgbClr val="000000"/>
                          </a:solidFill>
                          <a:effectLst/>
                        </a:rPr>
                        <a:t>Aktivitas </a:t>
                      </a:r>
                      <a:r>
                        <a:rPr lang="id-ID" sz="1000" u="none" strike="noStrike" err="1">
                          <a:solidFill>
                            <a:srgbClr val="000000"/>
                          </a:solidFill>
                          <a:effectLst/>
                        </a:rPr>
                        <a:t>Partisipatif</a:t>
                      </a:r>
                      <a:endParaRPr lang="id-ID" sz="1000" u="none" strike="noStrike" dirty="0" err="1">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hMerge="1">
                  <a:txBody>
                    <a:bodyPr/>
                    <a:lstStyle/>
                    <a:p>
                      <a:endParaRPr lang="id-ID"/>
                    </a:p>
                  </a:txBody>
                  <a:tcPr marL="0" marR="0" marT="0" marB="0" horzOverflow="overflow"/>
                </a:tc>
                <a:tc gridSpan="2">
                  <a:txBody>
                    <a:bodyPr/>
                    <a:lstStyle/>
                    <a:p>
                      <a:pPr algn="ctr" fontAlgn="ctr"/>
                      <a:r>
                        <a:rPr lang="id-ID" sz="1000" u="none" strike="noStrike" dirty="0">
                          <a:solidFill>
                            <a:srgbClr val="000000"/>
                          </a:solidFill>
                          <a:effectLst/>
                        </a:rPr>
                        <a:t>Kognitif/Pengetahuan</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hMerge="1">
                  <a:txBody>
                    <a:bodyPr/>
                    <a:lstStyle/>
                    <a:p>
                      <a:endParaRPr lang="id-ID"/>
                    </a:p>
                  </a:txBody>
                  <a:tcPr marL="0" marR="0" marT="0" marB="0" horzOverflow="overflow"/>
                </a:tc>
                <a:tc gridSpan="2">
                  <a:txBody>
                    <a:bodyPr/>
                    <a:lstStyle/>
                    <a:p>
                      <a:pPr algn="ctr" fontAlgn="ctr"/>
                      <a:r>
                        <a:rPr lang="id-ID" sz="1000" u="none" strike="noStrike" dirty="0">
                          <a:solidFill>
                            <a:srgbClr val="000000"/>
                          </a:solidFill>
                          <a:effectLst/>
                        </a:rPr>
                        <a:t>Hasil Proyek</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hMerge="1">
                  <a:txBody>
                    <a:bodyPr/>
                    <a:lstStyle/>
                    <a:p>
                      <a:endParaRPr lang="id-ID"/>
                    </a:p>
                  </a:txBody>
                  <a:tcPr marL="0" marR="0" marT="0" marB="0" horzOverflow="overflow"/>
                </a:tc>
                <a:tc vMerge="1">
                  <a:txBody>
                    <a:bodyPr/>
                    <a:lstStyle/>
                    <a:p>
                      <a:endParaRPr lang="id-ID"/>
                    </a:p>
                  </a:txBody>
                  <a:tcPr marL="0" marR="0" marT="0" marB="0" horzOverflow="overflow"/>
                </a:tc>
                <a:extLst>
                  <a:ext uri="{0D108BD9-81ED-4DB2-BD59-A6C34878D82A}">
                    <a16:rowId xmlns:a16="http://schemas.microsoft.com/office/drawing/2014/main" val="1535186030"/>
                  </a:ext>
                </a:extLst>
              </a:tr>
              <a:tr h="661325">
                <a:tc vMerge="1">
                  <a:txBody>
                    <a:bodyPr/>
                    <a:lstStyle/>
                    <a:p>
                      <a:endParaRPr lang="id-ID"/>
                    </a:p>
                  </a:txBody>
                  <a:tcPr marL="0" marR="0" marT="0" marB="0" horzOverflow="overflow"/>
                </a:tc>
                <a:tc>
                  <a:txBody>
                    <a:bodyPr/>
                    <a:lstStyle/>
                    <a:p>
                      <a:pPr algn="ctr" fontAlgn="ctr"/>
                      <a:r>
                        <a:rPr lang="id-ID" sz="900" u="none" strike="noStrike" dirty="0">
                          <a:solidFill>
                            <a:srgbClr val="000000"/>
                          </a:solidFill>
                          <a:effectLst/>
                        </a:rPr>
                        <a:t>Tugas</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900" u="none" strike="noStrike" dirty="0">
                          <a:solidFill>
                            <a:srgbClr val="000000"/>
                          </a:solidFill>
                          <a:effectLst/>
                        </a:rPr>
                        <a:t>Praktikum</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900" u="none" strike="noStrike" dirty="0">
                          <a:solidFill>
                            <a:srgbClr val="000000"/>
                          </a:solidFill>
                          <a:effectLst/>
                        </a:rPr>
                        <a:t>Kuis</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900" u="none" strike="noStrike" dirty="0">
                          <a:solidFill>
                            <a:srgbClr val="000000"/>
                          </a:solidFill>
                          <a:effectLst/>
                        </a:rPr>
                        <a:t>UTS</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900" u="none" strike="noStrike" dirty="0">
                          <a:solidFill>
                            <a:srgbClr val="000000"/>
                          </a:solidFill>
                          <a:effectLst/>
                        </a:rPr>
                        <a:t>Tugas Besar</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9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vMerge="1">
                  <a:txBody>
                    <a:bodyPr/>
                    <a:lstStyle/>
                    <a:p>
                      <a:endParaRPr lang="id-ID"/>
                    </a:p>
                  </a:txBody>
                  <a:tcPr marL="0" marR="0" marT="0" marB="0" horzOverflow="overflow"/>
                </a:tc>
                <a:extLst>
                  <a:ext uri="{0D108BD9-81ED-4DB2-BD59-A6C34878D82A}">
                    <a16:rowId xmlns:a16="http://schemas.microsoft.com/office/drawing/2014/main" val="621791221"/>
                  </a:ext>
                </a:extLst>
              </a:tr>
              <a:tr h="661325">
                <a:tc>
                  <a:txBody>
                    <a:bodyPr/>
                    <a:lstStyle/>
                    <a:p>
                      <a:pPr algn="ctr" fontAlgn="ctr"/>
                      <a:r>
                        <a:rPr lang="id-ID" sz="1000" u="none" strike="noStrike" dirty="0">
                          <a:solidFill>
                            <a:srgbClr val="000000"/>
                          </a:solidFill>
                          <a:effectLst/>
                        </a:rPr>
                        <a:t>Sub-CLO-3-1-1</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u="none" strike="noStrike" dirty="0">
                          <a:solidFill>
                            <a:srgbClr val="000000"/>
                          </a:solidFill>
                          <a:effectLst/>
                        </a:rPr>
                        <a:t>10</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u="none" strike="noStrike" dirty="0">
                          <a:solidFill>
                            <a:srgbClr val="000000"/>
                          </a:solidFill>
                          <a:effectLst/>
                        </a:rPr>
                        <a:t>15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u="none" strike="noStrike" dirty="0">
                          <a:solidFill>
                            <a:srgbClr val="000000"/>
                          </a:solidFill>
                          <a:effectLst/>
                        </a:rPr>
                        <a:t>25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u="none" strike="noStrike" dirty="0">
                          <a:solidFill>
                            <a:srgbClr val="000000"/>
                          </a:solidFill>
                          <a:effectLst/>
                        </a:rPr>
                        <a:t>50</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extLst>
                  <a:ext uri="{0D108BD9-81ED-4DB2-BD59-A6C34878D82A}">
                    <a16:rowId xmlns:a16="http://schemas.microsoft.com/office/drawing/2014/main" val="3140990159"/>
                  </a:ext>
                </a:extLst>
              </a:tr>
              <a:tr h="661325">
                <a:tc>
                  <a:txBody>
                    <a:bodyPr/>
                    <a:lstStyle/>
                    <a:p>
                      <a:pPr algn="ctr" fontAlgn="ctr"/>
                      <a:r>
                        <a:rPr lang="id-ID" sz="1000" u="none" strike="noStrike" dirty="0">
                          <a:solidFill>
                            <a:srgbClr val="000000"/>
                          </a:solidFill>
                          <a:effectLst/>
                        </a:rPr>
                        <a:t>Sub-CLO-3-3-1</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u="none" strike="noStrike" dirty="0">
                          <a:solidFill>
                            <a:srgbClr val="000000"/>
                          </a:solidFill>
                          <a:effectLst/>
                        </a:rPr>
                        <a:t>25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u="none" strike="noStrike" dirty="0">
                          <a:solidFill>
                            <a:srgbClr val="000000"/>
                          </a:solidFill>
                          <a:effectLst/>
                        </a:rPr>
                        <a:t>25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u="none" strike="noStrike" dirty="0">
                          <a:solidFill>
                            <a:srgbClr val="000000"/>
                          </a:solidFill>
                          <a:effectLst/>
                        </a:rPr>
                        <a:t>50</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extLst>
                  <a:ext uri="{0D108BD9-81ED-4DB2-BD59-A6C34878D82A}">
                    <a16:rowId xmlns:a16="http://schemas.microsoft.com/office/drawing/2014/main" val="4170802704"/>
                  </a:ext>
                </a:extLst>
              </a:tr>
              <a:tr h="661325">
                <a:tc>
                  <a:txBody>
                    <a:bodyPr/>
                    <a:lstStyle/>
                    <a:p>
                      <a:pPr algn="ctr" fontAlgn="ctr"/>
                      <a:r>
                        <a:rPr lang="id-ID" sz="1000" b="1" u="none" strike="noStrike" dirty="0">
                          <a:solidFill>
                            <a:srgbClr val="000000"/>
                          </a:solidFill>
                          <a:effectLst/>
                        </a:rPr>
                        <a:t>Total per penilaian</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b="1" u="none" strike="noStrike" dirty="0">
                          <a:solidFill>
                            <a:srgbClr val="000000"/>
                          </a:solidFill>
                          <a:effectLst/>
                        </a:rPr>
                        <a:t>10</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b="1" u="none" strike="noStrike" dirty="0">
                          <a:solidFill>
                            <a:srgbClr val="000000"/>
                          </a:solidFill>
                          <a:effectLst/>
                        </a:rPr>
                        <a:t>25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b="1" u="none" strike="noStrike" dirty="0">
                          <a:solidFill>
                            <a:srgbClr val="000000"/>
                          </a:solidFill>
                          <a:effectLst/>
                        </a:rPr>
                        <a:t>15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b="1" u="none" strike="noStrike" dirty="0">
                          <a:solidFill>
                            <a:srgbClr val="000000"/>
                          </a:solidFill>
                          <a:effectLst/>
                        </a:rPr>
                        <a:t>25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b="1" u="none" strike="noStrike" dirty="0">
                          <a:solidFill>
                            <a:srgbClr val="000000"/>
                          </a:solidFill>
                          <a:effectLst/>
                        </a:rPr>
                        <a:t>25</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endParaRPr lang="id-ID" sz="1000" b="1" u="none" strike="noStrike" dirty="0">
                        <a:solidFill>
                          <a:srgbClr val="000000"/>
                        </a:solidFill>
                        <a:effectLst/>
                      </a:endParaRP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tc>
                  <a:txBody>
                    <a:bodyPr/>
                    <a:lstStyle/>
                    <a:p>
                      <a:pPr algn="ctr" fontAlgn="ctr"/>
                      <a:r>
                        <a:rPr lang="id-ID" sz="1000" b="1" u="none" strike="noStrike" dirty="0">
                          <a:solidFill>
                            <a:srgbClr val="000000"/>
                          </a:solidFill>
                          <a:effectLst/>
                        </a:rPr>
                        <a:t>100</a:t>
                      </a:r>
                    </a:p>
                  </a:txBody>
                  <a:tcPr marL="9525" marR="9525" marT="9525" marB="0" anchor="ctr">
                    <a:lnL w="19050">
                      <a:solidFill>
                        <a:schemeClr val="tx1"/>
                      </a:solidFill>
                    </a:lnL>
                    <a:lnR w="19050">
                      <a:solidFill>
                        <a:schemeClr val="tx1"/>
                      </a:solidFill>
                    </a:lnR>
                    <a:lnT w="19050">
                      <a:solidFill>
                        <a:schemeClr val="tx1"/>
                      </a:solidFill>
                    </a:lnT>
                    <a:lnB w="19050">
                      <a:solidFill>
                        <a:schemeClr val="tx1"/>
                      </a:solidFill>
                    </a:lnB>
                  </a:tcPr>
                </a:tc>
                <a:extLst>
                  <a:ext uri="{0D108BD9-81ED-4DB2-BD59-A6C34878D82A}">
                    <a16:rowId xmlns:a16="http://schemas.microsoft.com/office/drawing/2014/main" val="3255686312"/>
                  </a:ext>
                </a:extLst>
              </a:tr>
            </a:tbl>
          </a:graphicData>
        </a:graphic>
      </p:graphicFrame>
    </p:spTree>
    <p:extLst>
      <p:ext uri="{BB962C8B-B14F-4D97-AF65-F5344CB8AC3E}">
        <p14:creationId xmlns:p14="http://schemas.microsoft.com/office/powerpoint/2010/main" val="962866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393798" y="474601"/>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latin typeface="Arial"/>
                <a:cs typeface="Arial"/>
                <a:sym typeface="Arial"/>
              </a:rPr>
              <a:t>Course Agenda</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7" name="Google Shape;42;p1">
            <a:extLst>
              <a:ext uri="{FF2B5EF4-FFF2-40B4-BE49-F238E27FC236}">
                <a16:creationId xmlns:a16="http://schemas.microsoft.com/office/drawing/2014/main" id="{EFB6041A-DE97-9241-15B9-9F2640182B81}"/>
              </a:ext>
            </a:extLst>
          </p:cNvPr>
          <p:cNvSpPr txBox="1"/>
          <p:nvPr/>
        </p:nvSpPr>
        <p:spPr>
          <a:xfrm>
            <a:off x="1393797" y="979875"/>
            <a:ext cx="4887912" cy="246221"/>
          </a:xfrm>
          <a:prstGeom prst="rect">
            <a:avLst/>
          </a:prstGeom>
          <a:noFill/>
          <a:ln>
            <a:noFill/>
          </a:ln>
        </p:spPr>
        <p:txBody>
          <a:bodyPr spcFirstLastPara="1" wrap="square" lIns="0" tIns="0" rIns="0" bIns="0" anchor="t" anchorCtr="0">
            <a:spAutoFit/>
          </a:bodyPr>
          <a:lstStyle/>
          <a:p>
            <a:r>
              <a:rPr lang="en-US" sz="1600">
                <a:solidFill>
                  <a:srgbClr val="262626"/>
                </a:solidFill>
                <a:ea typeface="+mn-lt"/>
                <a:cs typeface="+mn-lt"/>
                <a:sym typeface="Arial"/>
              </a:rPr>
              <a:t>theory class</a:t>
            </a:r>
            <a:endParaRPr lang="id-ID"/>
          </a:p>
        </p:txBody>
      </p:sp>
      <p:graphicFrame>
        <p:nvGraphicFramePr>
          <p:cNvPr id="4" name="Tabel 3">
            <a:extLst>
              <a:ext uri="{FF2B5EF4-FFF2-40B4-BE49-F238E27FC236}">
                <a16:creationId xmlns:a16="http://schemas.microsoft.com/office/drawing/2014/main" id="{D44A8267-AFF8-4250-4286-CEF1C81FA085}"/>
              </a:ext>
            </a:extLst>
          </p:cNvPr>
          <p:cNvGraphicFramePr>
            <a:graphicFrameLocks noGrp="1"/>
          </p:cNvGraphicFramePr>
          <p:nvPr>
            <p:extLst>
              <p:ext uri="{D42A27DB-BD31-4B8C-83A1-F6EECF244321}">
                <p14:modId xmlns:p14="http://schemas.microsoft.com/office/powerpoint/2010/main" val="322553101"/>
              </p:ext>
            </p:extLst>
          </p:nvPr>
        </p:nvGraphicFramePr>
        <p:xfrm>
          <a:off x="1393184" y="1805253"/>
          <a:ext cx="7567285" cy="4462074"/>
        </p:xfrm>
        <a:graphic>
          <a:graphicData uri="http://schemas.openxmlformats.org/drawingml/2006/table">
            <a:tbl>
              <a:tblPr bandRow="1">
                <a:tableStyleId>{5C22544A-7EE6-4342-B048-85BDC9FD1C3A}</a:tableStyleId>
              </a:tblPr>
              <a:tblGrid>
                <a:gridCol w="687886">
                  <a:extLst>
                    <a:ext uri="{9D8B030D-6E8A-4147-A177-3AD203B41FA5}">
                      <a16:colId xmlns:a16="http://schemas.microsoft.com/office/drawing/2014/main" val="3811973027"/>
                    </a:ext>
                  </a:extLst>
                </a:gridCol>
                <a:gridCol w="795089">
                  <a:extLst>
                    <a:ext uri="{9D8B030D-6E8A-4147-A177-3AD203B41FA5}">
                      <a16:colId xmlns:a16="http://schemas.microsoft.com/office/drawing/2014/main" val="3461074446"/>
                    </a:ext>
                  </a:extLst>
                </a:gridCol>
                <a:gridCol w="4192489">
                  <a:extLst>
                    <a:ext uri="{9D8B030D-6E8A-4147-A177-3AD203B41FA5}">
                      <a16:colId xmlns:a16="http://schemas.microsoft.com/office/drawing/2014/main" val="3094433098"/>
                    </a:ext>
                  </a:extLst>
                </a:gridCol>
                <a:gridCol w="1891821">
                  <a:extLst>
                    <a:ext uri="{9D8B030D-6E8A-4147-A177-3AD203B41FA5}">
                      <a16:colId xmlns:a16="http://schemas.microsoft.com/office/drawing/2014/main" val="3345910701"/>
                    </a:ext>
                  </a:extLst>
                </a:gridCol>
              </a:tblGrid>
              <a:tr h="207057">
                <a:tc>
                  <a:txBody>
                    <a:bodyPr/>
                    <a:lstStyle/>
                    <a:p>
                      <a:pPr algn="ctr" fontAlgn="ctr"/>
                      <a:r>
                        <a:rPr lang="id-ID" sz="1100" b="1" i="0" u="none" strike="noStrike" dirty="0">
                          <a:solidFill>
                            <a:srgbClr val="000000"/>
                          </a:solidFill>
                          <a:effectLst/>
                          <a:latin typeface="Calibri"/>
                        </a:rPr>
                        <a:t>PEKAN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1" i="0" u="none" strike="noStrike" dirty="0">
                          <a:solidFill>
                            <a:srgbClr val="000000"/>
                          </a:solidFill>
                          <a:effectLst/>
                          <a:latin typeface="Calibri"/>
                        </a:rPr>
                        <a:t>PERTEMUAN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id-ID" sz="1100" b="1" i="0" u="none" strike="noStrike" dirty="0">
                          <a:solidFill>
                            <a:srgbClr val="000000"/>
                          </a:solidFill>
                          <a:effectLst/>
                          <a:latin typeface="Calibri"/>
                        </a:rPr>
                        <a:t>RENCANA MATERI KELAS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1" i="0" u="none" strike="noStrike" dirty="0">
                          <a:solidFill>
                            <a:srgbClr val="000000"/>
                          </a:solidFill>
                          <a:effectLst/>
                          <a:latin typeface="Calibri"/>
                        </a:rPr>
                        <a:t>Tugas Kuliah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8751281"/>
                  </a:ext>
                </a:extLst>
              </a:tr>
              <a:tr h="320938">
                <a:tc>
                  <a:txBody>
                    <a:bodyPr/>
                    <a:lstStyle/>
                    <a:p>
                      <a:pPr algn="ctr" fontAlgn="ctr"/>
                      <a:r>
                        <a:rPr lang="id-ID" sz="105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id-ID" sz="1050" b="0" i="0" u="none" strike="noStrike" dirty="0">
                          <a:solidFill>
                            <a:srgbClr val="000000"/>
                          </a:solidFill>
                          <a:effectLst/>
                          <a:latin typeface="Calibri"/>
                        </a:rPr>
                        <a:t>Pengenalan, </a:t>
                      </a:r>
                      <a:r>
                        <a:rPr lang="id-ID" sz="1050" b="0" i="0" u="none" strike="noStrike" err="1">
                          <a:solidFill>
                            <a:srgbClr val="000000"/>
                          </a:solidFill>
                          <a:effectLst/>
                          <a:latin typeface="Calibri"/>
                        </a:rPr>
                        <a:t>Review</a:t>
                      </a:r>
                      <a:r>
                        <a:rPr lang="id-ID" sz="1050" b="0" i="0" u="none" strike="noStrike" dirty="0">
                          <a:solidFill>
                            <a:srgbClr val="000000"/>
                          </a:solidFill>
                          <a:effectLst/>
                          <a:latin typeface="Calibri"/>
                        </a:rPr>
                        <a:t> Algoritma Pemrograman, </a:t>
                      </a:r>
                      <a:br>
                        <a:rPr lang="id-ID" sz="1050" b="0" i="0" u="none" strike="noStrike" dirty="0">
                          <a:solidFill>
                            <a:srgbClr val="000000"/>
                          </a:solidFill>
                          <a:effectLst/>
                          <a:latin typeface="Calibri"/>
                        </a:rPr>
                      </a:br>
                      <a:r>
                        <a:rPr lang="id-ID" sz="1050" b="0" i="0" u="none" strike="noStrike" dirty="0">
                          <a:solidFill>
                            <a:srgbClr val="000000"/>
                          </a:solidFill>
                          <a:effectLst/>
                          <a:latin typeface="Calibri"/>
                        </a:rPr>
                        <a:t>Pembentukan Kelompok dan Tema Tugas Besar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a:t>
                      </a:r>
                      <a:r>
                        <a:rPr lang="id-ID" sz="1050" b="0" i="0" u="none" strike="noStrike" err="1">
                          <a:solidFill>
                            <a:srgbClr val="000000"/>
                          </a:solidFill>
                          <a:effectLst/>
                          <a:latin typeface="Calibri"/>
                        </a:rPr>
                        <a:t>Multiple</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Choice</a:t>
                      </a:r>
                      <a:r>
                        <a:rPr lang="id-ID" sz="1050" b="0" i="0" u="none" strike="noStrike" dirty="0">
                          <a:solidFill>
                            <a:srgbClr val="000000"/>
                          </a:solidFill>
                          <a:effectLst/>
                          <a:latin typeface="Calibri"/>
                        </a:rPr>
                        <a:t>, Dokumen Data Kelompok]</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241402301"/>
                  </a:ext>
                </a:extLst>
              </a:tr>
              <a:tr h="320938">
                <a:tc>
                  <a:txBody>
                    <a:bodyPr/>
                    <a:lstStyle/>
                    <a:p>
                      <a:pPr algn="ctr" fontAlgn="ctr"/>
                      <a:r>
                        <a:rPr lang="id-ID" sz="1050" b="0" i="0" u="none" strike="noStrike" dirty="0">
                          <a:solidFill>
                            <a:srgbClr val="000000"/>
                          </a:solidFill>
                          <a:effectLst/>
                          <a:latin typeface="Calibri"/>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id-ID" sz="1050" b="0" i="0" u="none" strike="noStrike" dirty="0">
                          <a:solidFill>
                            <a:srgbClr val="000000"/>
                          </a:solidFill>
                          <a:effectLst/>
                          <a:latin typeface="Calibri"/>
                        </a:rPr>
                        <a:t>Pendahuluan Pemrograman Berorientasi Objek </a:t>
                      </a:r>
                      <a:br>
                        <a:rPr lang="id-ID" sz="1050" b="0" i="0" u="none" strike="noStrike" dirty="0">
                          <a:solidFill>
                            <a:srgbClr val="000000"/>
                          </a:solidFill>
                          <a:effectLst/>
                          <a:latin typeface="Calibri"/>
                        </a:rPr>
                      </a:br>
                      <a:r>
                        <a:rPr lang="id-ID" sz="1050" b="0" i="0" u="none" strike="noStrike" dirty="0">
                          <a:solidFill>
                            <a:srgbClr val="000000"/>
                          </a:solidFill>
                          <a:effectLst/>
                          <a:latin typeface="Calibri"/>
                        </a:rPr>
                        <a:t>[</a:t>
                      </a:r>
                      <a:r>
                        <a:rPr lang="id-ID" sz="1050" b="0" i="0" u="none" strike="noStrike" err="1">
                          <a:solidFill>
                            <a:srgbClr val="000000"/>
                          </a:solidFill>
                          <a:effectLst/>
                          <a:latin typeface="Calibri"/>
                        </a:rPr>
                        <a:t>Class</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Object</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Field</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Method</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a:t>
                      </a:r>
                      <a:r>
                        <a:rPr lang="id-ID" sz="1050" b="0" i="0" u="none" strike="noStrike" err="1">
                          <a:solidFill>
                            <a:srgbClr val="000000"/>
                          </a:solidFill>
                          <a:effectLst/>
                          <a:latin typeface="Calibri"/>
                        </a:rPr>
                        <a:t>Multiple</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Choice</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201753630"/>
                  </a:ext>
                </a:extLst>
              </a:tr>
              <a:tr h="207057">
                <a:tc>
                  <a:txBody>
                    <a:bodyPr/>
                    <a:lstStyle/>
                    <a:p>
                      <a:pPr algn="ctr" fontAlgn="ctr"/>
                      <a:r>
                        <a:rPr lang="id-ID" sz="1050" b="0" i="0" u="none" strike="noStrike" dirty="0">
                          <a:solidFill>
                            <a:srgbClr val="000000"/>
                          </a:solidFill>
                          <a:effectLst/>
                          <a:latin typeface="Calibri"/>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id-ID" sz="1050" b="0" i="0" u="none" strike="noStrike" err="1">
                          <a:solidFill>
                            <a:srgbClr val="000000"/>
                          </a:solidFill>
                          <a:effectLst/>
                          <a:latin typeface="Calibri"/>
                        </a:rPr>
                        <a:t>Method</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Overloading</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Constructor</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Package</a:t>
                      </a:r>
                      <a:endParaRPr lang="id-ID" sz="1050" b="0" i="0" u="none" strike="noStrike" dirty="0" err="1">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a:t>
                      </a:r>
                      <a:r>
                        <a:rPr lang="id-ID" sz="1050" b="0" i="0" u="none" strike="noStrike" err="1">
                          <a:solidFill>
                            <a:srgbClr val="000000"/>
                          </a:solidFill>
                          <a:effectLst/>
                          <a:latin typeface="Calibri"/>
                        </a:rPr>
                        <a:t>Multiple</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Choice</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264463410"/>
                  </a:ext>
                </a:extLst>
              </a:tr>
              <a:tr h="320938">
                <a:tc>
                  <a:txBody>
                    <a:bodyPr/>
                    <a:lstStyle/>
                    <a:p>
                      <a:pPr algn="ctr" fontAlgn="ctr"/>
                      <a:r>
                        <a:rPr lang="id-ID" sz="1050" b="0" i="0" u="none" strike="noStrike" dirty="0">
                          <a:solidFill>
                            <a:srgbClr val="000000"/>
                          </a:solidFill>
                          <a:effectLst/>
                          <a:latin typeface="Calibri"/>
                        </a:rPr>
                        <a:t>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id-ID" sz="1050" b="0" i="0" u="none" strike="noStrike" dirty="0">
                          <a:solidFill>
                            <a:srgbClr val="000000"/>
                          </a:solidFill>
                          <a:effectLst/>
                          <a:latin typeface="Calibri"/>
                        </a:rPr>
                        <a:t>Akses </a:t>
                      </a:r>
                      <a:r>
                        <a:rPr lang="id-ID" sz="1050" b="0" i="0" u="none" strike="noStrike" err="1">
                          <a:solidFill>
                            <a:srgbClr val="000000"/>
                          </a:solidFill>
                          <a:effectLst/>
                          <a:latin typeface="Calibri"/>
                        </a:rPr>
                        <a:t>Modifier</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Getter</a:t>
                      </a:r>
                      <a:r>
                        <a:rPr lang="id-ID" sz="1050" b="0" i="0" u="none" strike="noStrike" dirty="0">
                          <a:solidFill>
                            <a:srgbClr val="000000"/>
                          </a:solidFill>
                          <a:effectLst/>
                          <a:latin typeface="Calibri"/>
                        </a:rPr>
                        <a:t> dan </a:t>
                      </a:r>
                      <a:r>
                        <a:rPr lang="id-ID" sz="1050" b="0" i="0" u="none" strike="noStrike" err="1">
                          <a:solidFill>
                            <a:srgbClr val="000000"/>
                          </a:solidFill>
                          <a:effectLst/>
                          <a:latin typeface="Calibri"/>
                        </a:rPr>
                        <a:t>Setter</a:t>
                      </a:r>
                      <a:r>
                        <a:rPr lang="id-ID" sz="1050" b="0" i="0" u="none" strike="noStrike" dirty="0">
                          <a:solidFill>
                            <a:srgbClr val="000000"/>
                          </a:solidFill>
                          <a:effectLst/>
                          <a:latin typeface="Calibri"/>
                        </a:rPr>
                        <a:t>, </a:t>
                      </a:r>
                      <a:br>
                        <a:rPr lang="id-ID" sz="1050" b="0" i="0" u="none" strike="noStrike" dirty="0">
                          <a:solidFill>
                            <a:srgbClr val="000000"/>
                          </a:solidFill>
                          <a:effectLst/>
                          <a:latin typeface="Calibri"/>
                        </a:rPr>
                      </a:br>
                      <a:r>
                        <a:rPr lang="id-ID" sz="1050" b="0" i="0" u="none" strike="noStrike" dirty="0">
                          <a:solidFill>
                            <a:srgbClr val="000000"/>
                          </a:solidFill>
                          <a:effectLst/>
                          <a:latin typeface="Calibri"/>
                        </a:rPr>
                        <a:t>Tipe Data </a:t>
                      </a:r>
                      <a:r>
                        <a:rPr lang="id-ID" sz="1050" b="0" i="1" u="none" strike="noStrike" err="1">
                          <a:solidFill>
                            <a:srgbClr val="000000"/>
                          </a:solidFill>
                          <a:effectLst/>
                          <a:latin typeface="Calibri"/>
                        </a:rPr>
                        <a:t>Reference</a:t>
                      </a:r>
                      <a:endParaRPr lang="id-ID" sz="105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[Tugas Individu]</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656453817"/>
                  </a:ext>
                </a:extLst>
              </a:tr>
              <a:tr h="207057">
                <a:tc>
                  <a:txBody>
                    <a:bodyPr/>
                    <a:lstStyle/>
                    <a:p>
                      <a:pPr algn="ctr" fontAlgn="ctr"/>
                      <a:r>
                        <a:rPr lang="id-ID" sz="1050" b="0" i="0" u="none" strike="noStrike" dirty="0">
                          <a:solidFill>
                            <a:srgbClr val="000000"/>
                          </a:solidFill>
                          <a:effectLst/>
                          <a:latin typeface="Calibri"/>
                        </a:rPr>
                        <a:t>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id-ID" sz="1050" b="0" i="0" u="none" strike="noStrike" err="1">
                          <a:solidFill>
                            <a:srgbClr val="000000"/>
                          </a:solidFill>
                          <a:effectLst/>
                          <a:latin typeface="Calibri"/>
                        </a:rPr>
                        <a:t>Quiz</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758995500"/>
                  </a:ext>
                </a:extLst>
              </a:tr>
              <a:tr h="320938">
                <a:tc>
                  <a:txBody>
                    <a:bodyPr/>
                    <a:lstStyle/>
                    <a:p>
                      <a:pPr algn="ctr" fontAlgn="ctr"/>
                      <a:r>
                        <a:rPr lang="id-ID" sz="1050" b="0" i="0" u="none" strike="noStrike" dirty="0">
                          <a:solidFill>
                            <a:srgbClr val="000000"/>
                          </a:solidFill>
                          <a:effectLst/>
                          <a:latin typeface="Calibri"/>
                        </a:rPr>
                        <a:t>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d-ID" sz="1050" b="1" i="0" u="none" strike="noStrike" dirty="0">
                          <a:solidFill>
                            <a:srgbClr val="FFFFFF"/>
                          </a:solidFill>
                          <a:effectLst/>
                          <a:latin typeface="Calibri"/>
                        </a:rPr>
                        <a:t>Konsep </a:t>
                      </a:r>
                      <a:r>
                        <a:rPr lang="id-ID" sz="1050" b="1" i="0" u="none" strike="noStrike" err="1">
                          <a:solidFill>
                            <a:srgbClr val="FFFFFF"/>
                          </a:solidFill>
                          <a:effectLst/>
                          <a:latin typeface="Calibri"/>
                        </a:rPr>
                        <a:t>Inheritance</a:t>
                      </a:r>
                      <a:r>
                        <a:rPr lang="id-ID" sz="1050" b="1" i="0" u="none" strike="noStrike" dirty="0">
                          <a:solidFill>
                            <a:srgbClr val="FFFFFF"/>
                          </a:solidFill>
                          <a:effectLst/>
                          <a:latin typeface="Calibri"/>
                        </a:rPr>
                        <a:t>, </a:t>
                      </a:r>
                      <a:r>
                        <a:rPr lang="id-ID" sz="1050" b="1" i="0" u="none" strike="noStrike" err="1">
                          <a:solidFill>
                            <a:srgbClr val="FFFFFF"/>
                          </a:solidFill>
                          <a:effectLst/>
                          <a:latin typeface="Calibri"/>
                        </a:rPr>
                        <a:t>Overriding</a:t>
                      </a:r>
                      <a:r>
                        <a:rPr lang="id-ID" sz="1050" b="1" i="0" u="none" strike="noStrike" dirty="0">
                          <a:solidFill>
                            <a:srgbClr val="FFFFFF"/>
                          </a:solidFill>
                          <a:effectLst/>
                          <a:latin typeface="Calibri"/>
                        </a:rPr>
                        <a:t>, </a:t>
                      </a:r>
                      <a:r>
                        <a:rPr lang="id-ID" sz="1050" b="1" i="0" u="none" strike="noStrike" err="1">
                          <a:solidFill>
                            <a:srgbClr val="FFFFFF"/>
                          </a:solidFill>
                          <a:effectLst/>
                          <a:latin typeface="Calibri"/>
                        </a:rPr>
                        <a:t>Progress</a:t>
                      </a:r>
                      <a:r>
                        <a:rPr lang="id-ID" sz="1050" b="1" i="0" u="none" strike="noStrike" dirty="0">
                          <a:solidFill>
                            <a:srgbClr val="FFFFFF"/>
                          </a:solidFill>
                          <a:effectLst/>
                          <a:latin typeface="Calibri"/>
                        </a:rPr>
                        <a:t> </a:t>
                      </a:r>
                      <a:r>
                        <a:rPr lang="id-ID" sz="1050" b="1" i="0" u="none" strike="noStrike" err="1">
                          <a:solidFill>
                            <a:srgbClr val="FFFFFF"/>
                          </a:solidFill>
                          <a:effectLst/>
                          <a:latin typeface="Calibri"/>
                        </a:rPr>
                        <a:t>Report</a:t>
                      </a:r>
                      <a:r>
                        <a:rPr lang="id-ID" sz="1050" b="1" i="0" u="none" strike="noStrike" dirty="0">
                          <a:solidFill>
                            <a:srgbClr val="FFFFFF"/>
                          </a:solidFill>
                          <a:effectLst/>
                          <a:latin typeface="Calibri"/>
                        </a:rPr>
                        <a:t> Tugas Besar 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B7B7B"/>
                    </a:solidFill>
                  </a:tcPr>
                </a:tc>
                <a:tc>
                  <a:txBody>
                    <a:bodyPr/>
                    <a:lstStyle/>
                    <a:p>
                      <a:pPr algn="ctr" fontAlgn="ctr"/>
                      <a:r>
                        <a:rPr lang="id-ID" sz="1050" b="1" i="0" u="none" strike="noStrike" dirty="0">
                          <a:solidFill>
                            <a:srgbClr val="FFFFFF"/>
                          </a:solidFill>
                          <a:effectLst/>
                          <a:latin typeface="Calibri"/>
                        </a:rPr>
                        <a:t>Tugas [</a:t>
                      </a:r>
                      <a:r>
                        <a:rPr lang="id-ID" sz="1050" b="1" i="0" u="none" strike="noStrike" err="1">
                          <a:solidFill>
                            <a:srgbClr val="FFFFFF"/>
                          </a:solidFill>
                          <a:effectLst/>
                          <a:latin typeface="Calibri"/>
                        </a:rPr>
                        <a:t>Multiple</a:t>
                      </a:r>
                      <a:r>
                        <a:rPr lang="id-ID" sz="1050" b="1" i="0" u="none" strike="noStrike" dirty="0">
                          <a:solidFill>
                            <a:srgbClr val="FFFFFF"/>
                          </a:solidFill>
                          <a:effectLst/>
                          <a:latin typeface="Calibri"/>
                        </a:rPr>
                        <a:t> </a:t>
                      </a:r>
                      <a:r>
                        <a:rPr lang="id-ID" sz="1050" b="1" i="0" u="none" strike="noStrike" err="1">
                          <a:solidFill>
                            <a:srgbClr val="FFFFFF"/>
                          </a:solidFill>
                          <a:effectLst/>
                          <a:latin typeface="Calibri"/>
                        </a:rPr>
                        <a:t>Choice</a:t>
                      </a:r>
                      <a:r>
                        <a:rPr lang="id-ID" sz="1050" b="1" i="0" u="none" strike="noStrike" dirty="0">
                          <a:solidFill>
                            <a:srgbClr val="FFFFFF"/>
                          </a:solidFill>
                          <a:effectLst/>
                          <a:latin typeface="Calibri"/>
                        </a:rPr>
                        <a:t>, Dokumen Progres </a:t>
                      </a:r>
                      <a:r>
                        <a:rPr lang="id-ID" sz="1050" b="1" i="0" u="none" strike="noStrike" err="1">
                          <a:solidFill>
                            <a:srgbClr val="FFFFFF"/>
                          </a:solidFill>
                          <a:effectLst/>
                          <a:latin typeface="Calibri"/>
                        </a:rPr>
                        <a:t>Report</a:t>
                      </a:r>
                      <a:r>
                        <a:rPr lang="id-ID" sz="1050" b="1" i="0" u="none" strike="noStrike" dirty="0">
                          <a:solidFill>
                            <a:srgbClr val="FFFFFF"/>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57171"/>
                    </a:solidFill>
                  </a:tcPr>
                </a:tc>
                <a:extLst>
                  <a:ext uri="{0D108BD9-81ED-4DB2-BD59-A6C34878D82A}">
                    <a16:rowId xmlns:a16="http://schemas.microsoft.com/office/drawing/2014/main" val="161723101"/>
                  </a:ext>
                </a:extLst>
              </a:tr>
              <a:tr h="207057">
                <a:tc>
                  <a:txBody>
                    <a:bodyPr/>
                    <a:lstStyle/>
                    <a:p>
                      <a:pPr algn="ctr" fontAlgn="ctr"/>
                      <a:endParaRPr lang="id-ID" sz="1050" b="1" i="0" u="none" strike="noStrike" dirty="0">
                        <a:solidFill>
                          <a:srgbClr val="FFFFFF"/>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00B050"/>
                    </a:solidFill>
                  </a:tcPr>
                </a:tc>
                <a:tc>
                  <a:txBody>
                    <a:bodyPr/>
                    <a:lstStyle/>
                    <a:p>
                      <a:pPr algn="ctr" fontAlgn="ctr"/>
                      <a:r>
                        <a:rPr lang="id-ID" sz="1050" b="1" i="0" u="none" strike="noStrike" dirty="0">
                          <a:solidFill>
                            <a:srgbClr val="FFFFFF"/>
                          </a:solidFill>
                          <a:effectLst/>
                          <a:latin typeface="Calibri"/>
                        </a:rPr>
                        <a:t>IDUL FITRI</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id-ID" sz="1050" b="1" i="0" u="none" strike="noStrike" dirty="0">
                          <a:solidFill>
                            <a:srgbClr val="FFFFFF"/>
                          </a:solidFill>
                          <a:effectLst/>
                          <a:latin typeface="Calibri"/>
                        </a:rPr>
                        <a:t>IDUL FITRI</a:t>
                      </a:r>
                    </a:p>
                  </a:txBody>
                  <a:tcPr marL="9525" marR="9525" marT="9525"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fontAlgn="ctr"/>
                      <a:endParaRPr lang="id-ID" sz="1050" b="1" i="0" u="none" strike="noStrike" dirty="0">
                        <a:solidFill>
                          <a:srgbClr val="FFFFFF"/>
                        </a:solidFill>
                        <a:effectLst/>
                        <a:latin typeface="Calibri"/>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913345093"/>
                  </a:ext>
                </a:extLst>
              </a:tr>
              <a:tr h="207057">
                <a:tc>
                  <a:txBody>
                    <a:bodyPr/>
                    <a:lstStyle/>
                    <a:p>
                      <a:pPr algn="ctr" fontAlgn="ctr"/>
                      <a:r>
                        <a:rPr lang="id-ID" sz="1050" b="0" i="0" u="none" strike="noStrike" dirty="0">
                          <a:solidFill>
                            <a:srgbClr val="000000"/>
                          </a:solidFill>
                          <a:effectLst/>
                          <a:latin typeface="Calibri"/>
                        </a:rPr>
                        <a:t>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d-ID" sz="1050" b="1" i="0" u="none" strike="noStrike" err="1">
                          <a:solidFill>
                            <a:srgbClr val="FFFFFF"/>
                          </a:solidFill>
                          <a:effectLst/>
                          <a:latin typeface="Calibri"/>
                        </a:rPr>
                        <a:t>Object</a:t>
                      </a:r>
                      <a:r>
                        <a:rPr lang="id-ID" sz="1050" b="1" i="0" u="none" strike="noStrike" dirty="0">
                          <a:solidFill>
                            <a:srgbClr val="FFFFFF"/>
                          </a:solidFill>
                          <a:effectLst/>
                          <a:latin typeface="Calibri"/>
                        </a:rPr>
                        <a:t> </a:t>
                      </a:r>
                      <a:r>
                        <a:rPr lang="id-ID" sz="1050" b="1" i="0" u="none" strike="noStrike" err="1">
                          <a:solidFill>
                            <a:srgbClr val="FFFFFF"/>
                          </a:solidFill>
                          <a:effectLst/>
                          <a:latin typeface="Calibri"/>
                        </a:rPr>
                        <a:t>Class</a:t>
                      </a:r>
                      <a:r>
                        <a:rPr lang="id-ID" sz="1050" b="1" i="0" u="none" strike="noStrike" dirty="0">
                          <a:solidFill>
                            <a:srgbClr val="FFFFFF"/>
                          </a:solidFill>
                          <a:effectLst/>
                          <a:latin typeface="Calibri"/>
                        </a:rPr>
                        <a:t>, </a:t>
                      </a:r>
                      <a:r>
                        <a:rPr lang="id-ID" sz="1050" b="1" i="0" u="none" strike="noStrike" err="1">
                          <a:solidFill>
                            <a:srgbClr val="FFFFFF"/>
                          </a:solidFill>
                          <a:effectLst/>
                          <a:latin typeface="Calibri"/>
                        </a:rPr>
                        <a:t>Abstract</a:t>
                      </a:r>
                      <a:r>
                        <a:rPr lang="id-ID" sz="1050" b="1" i="0" u="none" strike="noStrike" dirty="0">
                          <a:solidFill>
                            <a:srgbClr val="FFFFFF"/>
                          </a:solidFill>
                          <a:effectLst/>
                          <a:latin typeface="Calibri"/>
                        </a:rPr>
                        <a:t> </a:t>
                      </a:r>
                      <a:r>
                        <a:rPr lang="id-ID" sz="1050" b="1" i="0" u="none" strike="noStrike" err="1">
                          <a:solidFill>
                            <a:srgbClr val="FFFFFF"/>
                          </a:solidFill>
                          <a:effectLst/>
                          <a:latin typeface="Calibri"/>
                        </a:rPr>
                        <a:t>Class</a:t>
                      </a:r>
                      <a:r>
                        <a:rPr lang="id-ID" sz="1050" b="1" i="0" u="none" strike="noStrike" dirty="0">
                          <a:solidFill>
                            <a:srgbClr val="FFFFFF"/>
                          </a:solidFill>
                          <a:effectLst/>
                          <a:latin typeface="Calibri"/>
                        </a:rPr>
                        <a: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B7B7B"/>
                    </a:solidFill>
                  </a:tcPr>
                </a:tc>
                <a:tc>
                  <a:txBody>
                    <a:bodyPr/>
                    <a:lstStyle/>
                    <a:p>
                      <a:pPr algn="ctr" fontAlgn="ctr"/>
                      <a:r>
                        <a:rPr lang="id-ID" sz="1050" b="1" i="0" u="none" strike="noStrike" dirty="0">
                          <a:solidFill>
                            <a:srgbClr val="FFFFFF"/>
                          </a:solidFill>
                          <a:effectLst/>
                          <a:latin typeface="Calibri"/>
                        </a:rPr>
                        <a:t>Tugas [Tugas Individu]</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57171"/>
                    </a:solidFill>
                  </a:tcPr>
                </a:tc>
                <a:extLst>
                  <a:ext uri="{0D108BD9-81ED-4DB2-BD59-A6C34878D82A}">
                    <a16:rowId xmlns:a16="http://schemas.microsoft.com/office/drawing/2014/main" val="3163220727"/>
                  </a:ext>
                </a:extLst>
              </a:tr>
              <a:tr h="207057">
                <a:tc>
                  <a:txBody>
                    <a:bodyPr/>
                    <a:lstStyle/>
                    <a:p>
                      <a:pPr algn="ctr" fontAlgn="ctr"/>
                      <a:r>
                        <a:rPr lang="id-ID" sz="1050" b="0" i="0" u="none" strike="noStrike" dirty="0">
                          <a:solidFill>
                            <a:srgbClr val="000000"/>
                          </a:solidFill>
                          <a:effectLst/>
                          <a:latin typeface="Calibri"/>
                        </a:rPr>
                        <a:t>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id-ID" sz="1050" b="0" i="0" u="none" strike="noStrike" dirty="0">
                          <a:solidFill>
                            <a:srgbClr val="000000"/>
                          </a:solidFill>
                          <a:effectLst/>
                          <a:latin typeface="Calibri"/>
                        </a:rPr>
                        <a:t>Konsep </a:t>
                      </a:r>
                      <a:r>
                        <a:rPr lang="id-ID" sz="1050" b="0" i="0" u="none" strike="noStrike" err="1">
                          <a:solidFill>
                            <a:srgbClr val="000000"/>
                          </a:solidFill>
                          <a:effectLst/>
                          <a:latin typeface="Calibri"/>
                        </a:rPr>
                        <a:t>Polymorphism</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Dynamic</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Binding</a:t>
                      </a:r>
                      <a:endParaRPr lang="id-ID" sz="1050" b="0" i="0" u="none" strike="noStrike" dirty="0" err="1">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a:t>
                      </a:r>
                      <a:r>
                        <a:rPr lang="id-ID" sz="1050" b="0" i="0" u="none" strike="noStrike" err="1">
                          <a:solidFill>
                            <a:srgbClr val="000000"/>
                          </a:solidFill>
                          <a:effectLst/>
                          <a:latin typeface="Calibri"/>
                        </a:rPr>
                        <a:t>Multiple</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Choice</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377415527"/>
                  </a:ext>
                </a:extLst>
              </a:tr>
              <a:tr h="207057">
                <a:tc>
                  <a:txBody>
                    <a:bodyPr/>
                    <a:lstStyle/>
                    <a:p>
                      <a:pPr algn="ctr" fontAlgn="ctr"/>
                      <a:r>
                        <a:rPr lang="id-ID" sz="1050" b="0" i="0" u="none" strike="noStrike" dirty="0">
                          <a:solidFill>
                            <a:srgbClr val="000000"/>
                          </a:solidFill>
                          <a:effectLst/>
                          <a:latin typeface="Calibri"/>
                        </a:rPr>
                        <a:t>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EAAAA"/>
                    </a:solidFill>
                  </a:tcPr>
                </a:tc>
                <a:tc>
                  <a:txBody>
                    <a:bodyPr/>
                    <a:lstStyle/>
                    <a:p>
                      <a:pPr algn="ctr" fontAlgn="ctr"/>
                      <a:r>
                        <a:rPr lang="id-ID" sz="1100" b="0" i="0" u="none" strike="noStrike" dirty="0">
                          <a:solidFill>
                            <a:srgbClr val="FFFFFF"/>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id-ID" sz="1050" b="0" i="0" u="none" strike="noStrike" dirty="0">
                          <a:solidFill>
                            <a:srgbClr val="000000"/>
                          </a:solidFill>
                          <a:effectLst/>
                          <a:latin typeface="Calibri"/>
                        </a:rPr>
                        <a:t>UTS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fontAlgn="ct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692673038"/>
                  </a:ext>
                </a:extLst>
              </a:tr>
              <a:tr h="320938">
                <a:tc>
                  <a:txBody>
                    <a:bodyPr/>
                    <a:lstStyle/>
                    <a:p>
                      <a:pPr algn="ctr" fontAlgn="ctr"/>
                      <a:r>
                        <a:rPr lang="id-ID" sz="1050" b="0" i="0" u="none" strike="noStrike" dirty="0">
                          <a:solidFill>
                            <a:srgbClr val="000000"/>
                          </a:solidFill>
                          <a:effectLst/>
                          <a:latin typeface="Calibri"/>
                        </a:rPr>
                        <a:t>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id-ID" sz="1050" b="0" i="0" u="none" strike="noStrike" err="1">
                          <a:solidFill>
                            <a:srgbClr val="000000"/>
                          </a:solidFill>
                          <a:effectLst/>
                          <a:latin typeface="Calibri"/>
                        </a:rPr>
                        <a:t>Interface</a:t>
                      </a:r>
                      <a:r>
                        <a:rPr lang="id-ID" sz="1050" b="0" i="0" u="none" strike="noStrike" dirty="0">
                          <a:solidFill>
                            <a:srgbClr val="000000"/>
                          </a:solidFill>
                          <a:effectLst/>
                          <a:latin typeface="Calibri"/>
                        </a:rPr>
                        <a:t>, Progres </a:t>
                      </a:r>
                      <a:r>
                        <a:rPr lang="id-ID" sz="1050" b="0" i="0" u="none" strike="noStrike" err="1">
                          <a:solidFill>
                            <a:srgbClr val="000000"/>
                          </a:solidFill>
                          <a:effectLst/>
                          <a:latin typeface="Calibri"/>
                        </a:rPr>
                        <a:t>Report</a:t>
                      </a:r>
                      <a:r>
                        <a:rPr lang="id-ID" sz="1050" b="0" i="0" u="none" strike="noStrike" dirty="0">
                          <a:solidFill>
                            <a:srgbClr val="000000"/>
                          </a:solidFill>
                          <a:effectLst/>
                          <a:latin typeface="Calibri"/>
                        </a:rPr>
                        <a:t> 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a:t>
                      </a:r>
                      <a:r>
                        <a:rPr lang="id-ID" sz="1050" b="0" i="0" u="none" strike="noStrike" err="1">
                          <a:solidFill>
                            <a:srgbClr val="000000"/>
                          </a:solidFill>
                          <a:effectLst/>
                          <a:latin typeface="Calibri"/>
                        </a:rPr>
                        <a:t>Multiple</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Choice</a:t>
                      </a:r>
                      <a:r>
                        <a:rPr lang="id-ID" sz="1050" b="0" i="0" u="none" strike="noStrike" dirty="0">
                          <a:solidFill>
                            <a:srgbClr val="000000"/>
                          </a:solidFill>
                          <a:effectLst/>
                          <a:latin typeface="Calibri"/>
                        </a:rPr>
                        <a:t>, Dokumen Progres </a:t>
                      </a:r>
                      <a:r>
                        <a:rPr lang="id-ID" sz="1050" b="0" i="0" u="none" strike="noStrike" err="1">
                          <a:solidFill>
                            <a:srgbClr val="000000"/>
                          </a:solidFill>
                          <a:effectLst/>
                          <a:latin typeface="Calibri"/>
                        </a:rPr>
                        <a:t>Report</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285839653"/>
                  </a:ext>
                </a:extLst>
              </a:tr>
              <a:tr h="207057">
                <a:tc>
                  <a:txBody>
                    <a:bodyPr/>
                    <a:lstStyle/>
                    <a:p>
                      <a:pPr algn="ctr" fontAlgn="ctr"/>
                      <a:r>
                        <a:rPr lang="id-ID" sz="1050" b="0" i="0" u="none" strike="noStrike" dirty="0">
                          <a:solidFill>
                            <a:srgbClr val="000000"/>
                          </a:solidFill>
                          <a:effectLst/>
                          <a:latin typeface="Calibri"/>
                        </a:rPr>
                        <a:t>11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id-ID" sz="1050" b="0" i="0" u="none" strike="noStrike" err="1">
                          <a:solidFill>
                            <a:srgbClr val="000000"/>
                          </a:solidFill>
                          <a:effectLst/>
                          <a:latin typeface="Calibri"/>
                        </a:rPr>
                        <a:t>Collection</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Framework</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ArrayList</a:t>
                      </a:r>
                      <a:r>
                        <a:rPr lang="id-ID" sz="1050" b="0" i="0" u="none" strike="noStrike" dirty="0">
                          <a:solidFill>
                            <a:srgbClr val="000000"/>
                          </a:solidFill>
                          <a:effectLst/>
                          <a:latin typeface="Calibri"/>
                        </a:rPr>
                        <a:t> dan </a:t>
                      </a:r>
                      <a:r>
                        <a:rPr lang="id-ID" sz="1050" b="0" i="0" u="none" strike="noStrike" err="1">
                          <a:solidFill>
                            <a:srgbClr val="000000"/>
                          </a:solidFill>
                          <a:effectLst/>
                          <a:latin typeface="Calibri"/>
                        </a:rPr>
                        <a:t>Hashmap</a:t>
                      </a:r>
                      <a:r>
                        <a:rPr lang="id-ID" sz="1050" b="0" i="0" u="none" strike="noStrike" dirty="0">
                          <a:solidFill>
                            <a:srgbClr val="000000"/>
                          </a:solidFill>
                          <a:effectLst/>
                          <a:latin typeface="Calibri"/>
                        </a:rPr>
                        <a: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[Tugas Individu]</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92538088"/>
                  </a:ext>
                </a:extLst>
              </a:tr>
              <a:tr h="207057">
                <a:tc>
                  <a:txBody>
                    <a:bodyPr/>
                    <a:lstStyle/>
                    <a:p>
                      <a:pPr algn="ctr" fontAlgn="ctr"/>
                      <a:r>
                        <a:rPr lang="id-ID" sz="1050" b="0" i="0" u="none" strike="noStrike" dirty="0">
                          <a:solidFill>
                            <a:srgbClr val="000000"/>
                          </a:solidFill>
                          <a:effectLst/>
                          <a:latin typeface="Calibri"/>
                        </a:rPr>
                        <a:t>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id-ID" sz="1050" b="0" i="0" u="none" strike="noStrike" err="1">
                          <a:solidFill>
                            <a:srgbClr val="000000"/>
                          </a:solidFill>
                          <a:effectLst/>
                          <a:latin typeface="Calibri"/>
                        </a:rPr>
                        <a:t>Quiz</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278638373"/>
                  </a:ext>
                </a:extLst>
              </a:tr>
              <a:tr h="207057">
                <a:tc>
                  <a:txBody>
                    <a:bodyPr/>
                    <a:lstStyle/>
                    <a:p>
                      <a:pPr algn="ctr" fontAlgn="ctr"/>
                      <a:r>
                        <a:rPr lang="id-ID" sz="1050" b="0" i="0" u="none" strike="noStrike" dirty="0">
                          <a:solidFill>
                            <a:srgbClr val="000000"/>
                          </a:solidFill>
                          <a:effectLst/>
                          <a:latin typeface="Calibri"/>
                        </a:rPr>
                        <a:t>13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000000"/>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id-ID" sz="1050" b="0" i="0" u="none" strike="noStrike" err="1">
                          <a:solidFill>
                            <a:srgbClr val="000000"/>
                          </a:solidFill>
                          <a:effectLst/>
                          <a:latin typeface="Calibri"/>
                        </a:rPr>
                        <a:t>Exception</a:t>
                      </a:r>
                      <a:r>
                        <a:rPr lang="id-ID" sz="1050" b="0" i="0" u="none" strike="noStrike" dirty="0">
                          <a:solidFill>
                            <a:srgbClr val="000000"/>
                          </a:solidFill>
                          <a:effectLst/>
                          <a:latin typeface="Calibri"/>
                        </a:rPr>
                        <a: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a:t>
                      </a:r>
                      <a:r>
                        <a:rPr lang="id-ID" sz="1050" b="0" i="0" u="none" strike="noStrike" err="1">
                          <a:solidFill>
                            <a:srgbClr val="000000"/>
                          </a:solidFill>
                          <a:effectLst/>
                          <a:latin typeface="Calibri"/>
                        </a:rPr>
                        <a:t>Multiple</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Choice</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169691940"/>
                  </a:ext>
                </a:extLst>
              </a:tr>
              <a:tr h="207057">
                <a:tc>
                  <a:txBody>
                    <a:bodyPr/>
                    <a:lstStyle/>
                    <a:p>
                      <a:pPr algn="ctr" fontAlgn="ctr"/>
                      <a:r>
                        <a:rPr lang="id-ID" sz="1050" b="0" i="0" u="none" strike="noStrike" dirty="0">
                          <a:solidFill>
                            <a:srgbClr val="000000"/>
                          </a:solidFill>
                          <a:effectLst/>
                          <a:latin typeface="Calibri"/>
                        </a:rPr>
                        <a:t>14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FFFFFF"/>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id-ID" sz="1050" b="0" i="0" u="none" strike="noStrike" err="1">
                          <a:solidFill>
                            <a:srgbClr val="000000"/>
                          </a:solidFill>
                          <a:effectLst/>
                          <a:latin typeface="Calibri"/>
                        </a:rPr>
                        <a:t>Review</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Graphical</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User</a:t>
                      </a:r>
                      <a:r>
                        <a:rPr lang="id-ID" sz="1050" b="0" i="0" u="none" strike="noStrike" dirty="0">
                          <a:solidFill>
                            <a:srgbClr val="000000"/>
                          </a:solidFill>
                          <a:effectLst/>
                          <a:latin typeface="Calibri"/>
                        </a:rPr>
                        <a:t> </a:t>
                      </a:r>
                      <a:r>
                        <a:rPr lang="id-ID" sz="1050" b="0" i="0" u="none" strike="noStrike" err="1">
                          <a:solidFill>
                            <a:srgbClr val="000000"/>
                          </a:solidFill>
                          <a:effectLst/>
                          <a:latin typeface="Calibri"/>
                        </a:rPr>
                        <a:t>Interface</a:t>
                      </a:r>
                      <a:endParaRPr lang="id-ID" sz="1050" b="0" i="0" u="none" strike="noStrike" dirty="0" err="1">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fontAlgn="ctr"/>
                      <a:r>
                        <a:rPr lang="id-ID" sz="1050" b="0" i="0" u="none" strike="noStrike" dirty="0">
                          <a:solidFill>
                            <a:srgbClr val="000000"/>
                          </a:solidFill>
                          <a:effectLst/>
                          <a:latin typeface="Calibri"/>
                        </a:rPr>
                        <a:t>Tugas [</a:t>
                      </a:r>
                      <a:r>
                        <a:rPr lang="id-ID" sz="1050" b="0" i="0" u="none" strike="noStrike" dirty="0" err="1">
                          <a:solidFill>
                            <a:srgbClr val="000000"/>
                          </a:solidFill>
                          <a:effectLst/>
                          <a:latin typeface="Calibri"/>
                        </a:rPr>
                        <a:t>Multiple</a:t>
                      </a:r>
                      <a:r>
                        <a:rPr lang="id-ID" sz="1050" b="0" i="0" u="none" strike="noStrike" dirty="0">
                          <a:solidFill>
                            <a:srgbClr val="000000"/>
                          </a:solidFill>
                          <a:effectLst/>
                          <a:latin typeface="Calibri"/>
                        </a:rPr>
                        <a:t> </a:t>
                      </a:r>
                      <a:r>
                        <a:rPr lang="id-ID" sz="1050" b="0" i="0" u="none" strike="noStrike" dirty="0" err="1">
                          <a:solidFill>
                            <a:srgbClr val="000000"/>
                          </a:solidFill>
                          <a:effectLst/>
                          <a:latin typeface="Calibri"/>
                        </a:rPr>
                        <a:t>Choice</a:t>
                      </a:r>
                      <a:r>
                        <a:rPr lang="id-ID" sz="1050" b="0" i="0" u="none" strike="noStrike" dirty="0">
                          <a:solidFill>
                            <a:srgbClr val="000000"/>
                          </a:solidFill>
                          <a:effectLst/>
                          <a:latin typeface="Calibri"/>
                        </a:rPr>
                        <a:t>], </a:t>
                      </a:r>
                      <a:r>
                        <a:rPr lang="id-ID" sz="1050" b="0" i="0" u="none" strike="noStrike" dirty="0" err="1">
                          <a:solidFill>
                            <a:srgbClr val="000000"/>
                          </a:solidFill>
                          <a:effectLst/>
                          <a:latin typeface="Calibri"/>
                        </a:rPr>
                        <a:t>Progress</a:t>
                      </a:r>
                      <a:r>
                        <a:rPr lang="id-ID" sz="1050" b="0" i="0" u="none" strike="noStrike" dirty="0">
                          <a:solidFill>
                            <a:srgbClr val="000000"/>
                          </a:solidFill>
                          <a:effectLst/>
                          <a:latin typeface="Calibri"/>
                        </a:rPr>
                        <a:t> </a:t>
                      </a:r>
                      <a:r>
                        <a:rPr lang="id-ID" sz="1050" b="0" i="0" u="none" strike="noStrike" dirty="0" err="1">
                          <a:solidFill>
                            <a:srgbClr val="000000"/>
                          </a:solidFill>
                          <a:effectLst/>
                          <a:latin typeface="Calibri"/>
                        </a:rPr>
                        <a:t>Report</a:t>
                      </a:r>
                      <a:r>
                        <a:rPr lang="id-ID" sz="1050" b="0" i="0" u="none" strike="noStrike" dirty="0">
                          <a:solidFill>
                            <a:srgbClr val="000000"/>
                          </a:solidFill>
                          <a:effectLst/>
                          <a:latin typeface="Calibri"/>
                        </a:rPr>
                        <a:t> 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454123563"/>
                  </a:ext>
                </a:extLst>
              </a:tr>
              <a:tr h="207057">
                <a:tc>
                  <a:txBody>
                    <a:bodyPr/>
                    <a:lstStyle/>
                    <a:p>
                      <a:pPr algn="ctr" fontAlgn="ctr"/>
                      <a:r>
                        <a:rPr lang="id-ID" sz="1050" b="0" i="0" u="none" strike="noStrike" dirty="0">
                          <a:solidFill>
                            <a:srgbClr val="000000"/>
                          </a:solidFill>
                          <a:effectLst/>
                          <a:latin typeface="Calibri"/>
                        </a:rPr>
                        <a:t>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100" b="0" i="0" u="none" strike="noStrike" dirty="0">
                          <a:solidFill>
                            <a:srgbClr val="FFFFFF"/>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r>
                        <a:rPr lang="id-ID" sz="1050" b="0" i="0" u="none" strike="noStrike" dirty="0">
                          <a:solidFill>
                            <a:srgbClr val="000000"/>
                          </a:solidFill>
                          <a:effectLst/>
                          <a:latin typeface="Calibri"/>
                        </a:rPr>
                        <a:t>Presentasi </a:t>
                      </a:r>
                      <a:r>
                        <a:rPr lang="id-ID" sz="1050" b="0" i="0" u="none" strike="noStrike" err="1">
                          <a:solidFill>
                            <a:srgbClr val="000000"/>
                          </a:solidFill>
                          <a:effectLst/>
                          <a:latin typeface="Calibri"/>
                        </a:rPr>
                        <a:t>Tubes</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fontAlgn="ctr"/>
                      <a:r>
                        <a:rPr lang="id-ID" sz="1050" b="0" i="0" u="none" strike="noStrike" dirty="0">
                          <a:solidFill>
                            <a:srgbClr val="000000"/>
                          </a:solidFill>
                          <a:effectLst/>
                          <a:latin typeface="Calibri"/>
                        </a:rPr>
                        <a:t>Dokumen Presentasi, </a:t>
                      </a:r>
                      <a:r>
                        <a:rPr lang="id-ID" sz="1050" b="0" i="0" u="none" strike="noStrike" err="1">
                          <a:solidFill>
                            <a:srgbClr val="000000"/>
                          </a:solidFill>
                          <a:effectLst/>
                          <a:latin typeface="Calibri"/>
                        </a:rPr>
                        <a:t>Source</a:t>
                      </a:r>
                      <a:r>
                        <a:rPr lang="id-ID" sz="1050" b="0" i="0" u="none" strike="noStrike" dirty="0">
                          <a:solidFill>
                            <a:srgbClr val="000000"/>
                          </a:solidFill>
                          <a:effectLst/>
                          <a:latin typeface="Calibri"/>
                        </a:rPr>
                        <a:t> Code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520177342"/>
                  </a:ext>
                </a:extLst>
              </a:tr>
              <a:tr h="207057">
                <a:tc>
                  <a:txBody>
                    <a:bodyPr/>
                    <a:lstStyle/>
                    <a:p>
                      <a:pPr algn="ctr" fontAlgn="ctr"/>
                      <a:r>
                        <a:rPr lang="id-ID" sz="1050" b="0" i="0" u="none" strike="noStrike" dirty="0">
                          <a:solidFill>
                            <a:srgbClr val="000000"/>
                          </a:solidFill>
                          <a:effectLst/>
                          <a:latin typeface="Calibri"/>
                        </a:rPr>
                        <a:t>16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tc>
                  <a:txBody>
                    <a:bodyPr/>
                    <a:lstStyle/>
                    <a:p>
                      <a:pPr algn="ctr" fontAlgn="ctr"/>
                      <a:r>
                        <a:rPr lang="id-ID" sz="1100" b="0" i="0" u="none" strike="noStrike" dirty="0">
                          <a:solidFill>
                            <a:srgbClr val="FFFFFF"/>
                          </a:solidFill>
                          <a:effectLst/>
                          <a:latin typeface="Calibri"/>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ctr"/>
                      <a:r>
                        <a:rPr lang="id-ID" sz="1050" b="0" i="0" u="none" strike="noStrike" dirty="0">
                          <a:solidFill>
                            <a:srgbClr val="000000"/>
                          </a:solidFill>
                          <a:effectLst/>
                          <a:latin typeface="Calibri"/>
                        </a:rPr>
                        <a:t>Presentasi </a:t>
                      </a:r>
                      <a:r>
                        <a:rPr lang="id-ID" sz="1050" b="0" i="0" u="none" strike="noStrike" err="1">
                          <a:solidFill>
                            <a:srgbClr val="000000"/>
                          </a:solidFill>
                          <a:effectLst/>
                          <a:latin typeface="Calibri"/>
                        </a:rPr>
                        <a:t>Tubes</a:t>
                      </a:r>
                      <a:r>
                        <a:rPr lang="id-ID" sz="1050" b="0" i="0" u="none" strike="noStrike" dirty="0">
                          <a:solidFill>
                            <a:srgbClr val="000000"/>
                          </a:solidFill>
                          <a:effectLst/>
                          <a:latin typeface="Calibri"/>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fontAlgn="ctr"/>
                      <a:r>
                        <a:rPr lang="id-ID" sz="1050" b="0" i="0" u="none" strike="noStrike" dirty="0">
                          <a:solidFill>
                            <a:srgbClr val="000000"/>
                          </a:solidFill>
                          <a:effectLst/>
                          <a:latin typeface="Calibri"/>
                        </a:rPr>
                        <a:t>Dokumen Presentasi, </a:t>
                      </a:r>
                      <a:r>
                        <a:rPr lang="id-ID" sz="1050" b="0" i="0" u="none" strike="noStrike" err="1">
                          <a:solidFill>
                            <a:srgbClr val="000000"/>
                          </a:solidFill>
                          <a:effectLst/>
                          <a:latin typeface="Calibri"/>
                        </a:rPr>
                        <a:t>Source</a:t>
                      </a:r>
                      <a:r>
                        <a:rPr lang="id-ID" sz="1050" b="0" i="0" u="none" strike="noStrike" dirty="0">
                          <a:solidFill>
                            <a:srgbClr val="000000"/>
                          </a:solidFill>
                          <a:effectLst/>
                          <a:latin typeface="Calibri"/>
                        </a:rPr>
                        <a:t> Code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311773770"/>
                  </a:ext>
                </a:extLst>
              </a:tr>
            </a:tbl>
          </a:graphicData>
        </a:graphic>
      </p:graphicFrame>
    </p:spTree>
    <p:extLst>
      <p:ext uri="{BB962C8B-B14F-4D97-AF65-F5344CB8AC3E}">
        <p14:creationId xmlns:p14="http://schemas.microsoft.com/office/powerpoint/2010/main" val="5273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393798" y="474601"/>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latin typeface="Arial"/>
                <a:cs typeface="Arial"/>
                <a:sym typeface="Arial"/>
              </a:rPr>
              <a:t>Course Agenda</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7" name="Google Shape;42;p1">
            <a:extLst>
              <a:ext uri="{FF2B5EF4-FFF2-40B4-BE49-F238E27FC236}">
                <a16:creationId xmlns:a16="http://schemas.microsoft.com/office/drawing/2014/main" id="{EFB6041A-DE97-9241-15B9-9F2640182B81}"/>
              </a:ext>
            </a:extLst>
          </p:cNvPr>
          <p:cNvSpPr txBox="1"/>
          <p:nvPr/>
        </p:nvSpPr>
        <p:spPr>
          <a:xfrm>
            <a:off x="1393797" y="979875"/>
            <a:ext cx="4887912" cy="246221"/>
          </a:xfrm>
          <a:prstGeom prst="rect">
            <a:avLst/>
          </a:prstGeom>
          <a:noFill/>
          <a:ln>
            <a:noFill/>
          </a:ln>
        </p:spPr>
        <p:txBody>
          <a:bodyPr spcFirstLastPara="1" wrap="square" lIns="0" tIns="0" rIns="0" bIns="0" anchor="t" anchorCtr="0">
            <a:spAutoFit/>
          </a:bodyPr>
          <a:lstStyle/>
          <a:p>
            <a:r>
              <a:rPr lang="en-US" sz="1600">
                <a:solidFill>
                  <a:srgbClr val="262626"/>
                </a:solidFill>
                <a:ea typeface="+mn-lt"/>
                <a:cs typeface="+mn-lt"/>
                <a:sym typeface="Arial"/>
              </a:rPr>
              <a:t>theory class</a:t>
            </a:r>
            <a:endParaRPr lang="id-ID"/>
          </a:p>
        </p:txBody>
      </p:sp>
      <p:sp>
        <p:nvSpPr>
          <p:cNvPr id="4" name="Google Shape;44;p1">
            <a:extLst>
              <a:ext uri="{FF2B5EF4-FFF2-40B4-BE49-F238E27FC236}">
                <a16:creationId xmlns:a16="http://schemas.microsoft.com/office/drawing/2014/main" id="{766C0BD2-BE4B-EC6A-7180-83F8140D7E21}"/>
              </a:ext>
            </a:extLst>
          </p:cNvPr>
          <p:cNvSpPr txBox="1"/>
          <p:nvPr/>
        </p:nvSpPr>
        <p:spPr>
          <a:xfrm>
            <a:off x="1393825" y="1718213"/>
            <a:ext cx="6852222" cy="830997"/>
          </a:xfrm>
          <a:prstGeom prst="rect">
            <a:avLst/>
          </a:prstGeom>
          <a:noFill/>
          <a:ln>
            <a:noFill/>
          </a:ln>
        </p:spPr>
        <p:txBody>
          <a:bodyPr spcFirstLastPara="1" wrap="square" lIns="0" tIns="0" rIns="0" bIns="0" anchor="t" anchorCtr="0">
            <a:spAutoFit/>
          </a:bodyPr>
          <a:lstStyle/>
          <a:p>
            <a:r>
              <a:rPr lang="en-US" dirty="0">
                <a:solidFill>
                  <a:srgbClr val="404040"/>
                </a:solidFill>
                <a:cs typeface="Arial"/>
              </a:rPr>
              <a:t>Task Type </a:t>
            </a:r>
            <a:r>
              <a:rPr lang="en-US" dirty="0">
                <a:solidFill>
                  <a:srgbClr val="404040"/>
                </a:solidFill>
                <a:ea typeface="+mn-lt"/>
                <a:cs typeface="+mn-lt"/>
              </a:rPr>
              <a:t> </a:t>
            </a:r>
            <a:endParaRPr lang="id-ID" sz="1400" dirty="0" err="1">
              <a:solidFill>
                <a:srgbClr val="000000"/>
              </a:solidFill>
              <a:cs typeface="Arial"/>
            </a:endParaRPr>
          </a:p>
          <a:p>
            <a:pPr marL="342900" indent="-342900">
              <a:buFont typeface="Calibri"/>
              <a:buChar char="-"/>
            </a:pPr>
            <a:r>
              <a:rPr lang="en-US" dirty="0">
                <a:solidFill>
                  <a:srgbClr val="404040"/>
                </a:solidFill>
                <a:cs typeface="Arial"/>
              </a:rPr>
              <a:t>Task Multiple Choice : 10-15 Question      : @6</a:t>
            </a:r>
          </a:p>
          <a:p>
            <a:pPr marL="342900" indent="-342900">
              <a:buFont typeface="Calibri"/>
              <a:buChar char="-"/>
            </a:pPr>
            <a:r>
              <a:rPr lang="en-US" dirty="0">
                <a:solidFill>
                  <a:srgbClr val="404040"/>
                </a:solidFill>
                <a:cs typeface="Arial"/>
              </a:rPr>
              <a:t>Task Individual        : Essay                     : @4</a:t>
            </a:r>
          </a:p>
        </p:txBody>
      </p:sp>
      <p:sp>
        <p:nvSpPr>
          <p:cNvPr id="5" name="Google Shape;44;p1">
            <a:extLst>
              <a:ext uri="{FF2B5EF4-FFF2-40B4-BE49-F238E27FC236}">
                <a16:creationId xmlns:a16="http://schemas.microsoft.com/office/drawing/2014/main" id="{5CCCB6A5-C9F8-E735-9076-B3DCB8CB20FC}"/>
              </a:ext>
            </a:extLst>
          </p:cNvPr>
          <p:cNvSpPr txBox="1"/>
          <p:nvPr/>
        </p:nvSpPr>
        <p:spPr>
          <a:xfrm>
            <a:off x="1393824" y="2733667"/>
            <a:ext cx="6852222" cy="1384995"/>
          </a:xfrm>
          <a:prstGeom prst="rect">
            <a:avLst/>
          </a:prstGeom>
          <a:noFill/>
          <a:ln>
            <a:noFill/>
          </a:ln>
        </p:spPr>
        <p:txBody>
          <a:bodyPr spcFirstLastPara="1" wrap="square" lIns="0" tIns="0" rIns="0" bIns="0" anchor="t" anchorCtr="0">
            <a:spAutoFit/>
          </a:bodyPr>
          <a:lstStyle/>
          <a:p>
            <a:r>
              <a:rPr lang="en-US" dirty="0">
                <a:solidFill>
                  <a:srgbClr val="404040"/>
                </a:solidFill>
                <a:cs typeface="Arial"/>
              </a:rPr>
              <a:t>Quiz </a:t>
            </a:r>
            <a:r>
              <a:rPr lang="en-US" dirty="0">
                <a:solidFill>
                  <a:srgbClr val="404040"/>
                </a:solidFill>
                <a:ea typeface="+mn-lt"/>
                <a:cs typeface="+mn-lt"/>
              </a:rPr>
              <a:t>                                                                : @2</a:t>
            </a:r>
            <a:endParaRPr lang="id-ID" sz="1400" dirty="0" err="1">
              <a:solidFill>
                <a:srgbClr val="000000"/>
              </a:solidFill>
              <a:cs typeface="Arial"/>
            </a:endParaRPr>
          </a:p>
          <a:p>
            <a:pPr marL="342900" indent="-342900">
              <a:buFont typeface="Calibri"/>
              <a:buChar char="-"/>
            </a:pPr>
            <a:r>
              <a:rPr lang="en-US" dirty="0">
                <a:solidFill>
                  <a:srgbClr val="404040"/>
                </a:solidFill>
                <a:cs typeface="Arial"/>
              </a:rPr>
              <a:t>Paper Based - Essay </a:t>
            </a:r>
          </a:p>
          <a:p>
            <a:pPr marL="342900" indent="-342900">
              <a:buFont typeface="Calibri"/>
              <a:buChar char="-"/>
            </a:pPr>
            <a:r>
              <a:rPr lang="en-US" dirty="0">
                <a:solidFill>
                  <a:srgbClr val="404040"/>
                </a:solidFill>
                <a:cs typeface="Arial"/>
              </a:rPr>
              <a:t>Close Book </a:t>
            </a:r>
          </a:p>
          <a:p>
            <a:pPr marL="342900" indent="-342900">
              <a:buFont typeface="Calibri"/>
              <a:buChar char="-"/>
            </a:pPr>
            <a:r>
              <a:rPr lang="en-US" dirty="0">
                <a:solidFill>
                  <a:srgbClr val="404040"/>
                </a:solidFill>
                <a:cs typeface="Arial"/>
              </a:rPr>
              <a:t>Study Case</a:t>
            </a:r>
          </a:p>
          <a:p>
            <a:pPr marL="342900" indent="-342900">
              <a:buFont typeface="Calibri"/>
              <a:buChar char="-"/>
            </a:pPr>
            <a:r>
              <a:rPr lang="en-US" dirty="0">
                <a:solidFill>
                  <a:srgbClr val="404040"/>
                </a:solidFill>
                <a:cs typeface="Arial"/>
              </a:rPr>
              <a:t>Quiz </a:t>
            </a:r>
            <a:r>
              <a:rPr lang="en-US" dirty="0" err="1">
                <a:solidFill>
                  <a:srgbClr val="404040"/>
                </a:solidFill>
                <a:cs typeface="Arial"/>
              </a:rPr>
              <a:t>dilaksanakan</a:t>
            </a:r>
            <a:r>
              <a:rPr lang="en-US" dirty="0">
                <a:solidFill>
                  <a:srgbClr val="404040"/>
                </a:solidFill>
                <a:cs typeface="Arial"/>
              </a:rPr>
              <a:t> </a:t>
            </a:r>
            <a:r>
              <a:rPr lang="en-US" dirty="0" err="1">
                <a:solidFill>
                  <a:srgbClr val="404040"/>
                </a:solidFill>
                <a:cs typeface="Arial"/>
              </a:rPr>
              <a:t>secara</a:t>
            </a:r>
            <a:r>
              <a:rPr lang="en-US" dirty="0">
                <a:solidFill>
                  <a:srgbClr val="404040"/>
                </a:solidFill>
                <a:cs typeface="Arial"/>
              </a:rPr>
              <a:t> </a:t>
            </a:r>
            <a:r>
              <a:rPr lang="en-US" dirty="0" err="1">
                <a:solidFill>
                  <a:srgbClr val="404040"/>
                </a:solidFill>
                <a:cs typeface="Arial"/>
              </a:rPr>
              <a:t>serentak</a:t>
            </a:r>
            <a:endParaRPr lang="en-US" dirty="0">
              <a:solidFill>
                <a:srgbClr val="404040"/>
              </a:solidFill>
              <a:cs typeface="Arial"/>
            </a:endParaRPr>
          </a:p>
        </p:txBody>
      </p:sp>
      <p:sp>
        <p:nvSpPr>
          <p:cNvPr id="6" name="Google Shape;44;p1">
            <a:extLst>
              <a:ext uri="{FF2B5EF4-FFF2-40B4-BE49-F238E27FC236}">
                <a16:creationId xmlns:a16="http://schemas.microsoft.com/office/drawing/2014/main" id="{DA888CAA-8983-C670-FE34-768A3DF88E6D}"/>
              </a:ext>
            </a:extLst>
          </p:cNvPr>
          <p:cNvSpPr txBox="1"/>
          <p:nvPr/>
        </p:nvSpPr>
        <p:spPr>
          <a:xfrm>
            <a:off x="1393824" y="5564186"/>
            <a:ext cx="6852222" cy="830997"/>
          </a:xfrm>
          <a:prstGeom prst="rect">
            <a:avLst/>
          </a:prstGeom>
          <a:noFill/>
          <a:ln>
            <a:noFill/>
          </a:ln>
        </p:spPr>
        <p:txBody>
          <a:bodyPr spcFirstLastPara="1" wrap="square" lIns="0" tIns="0" rIns="0" bIns="0" anchor="t" anchorCtr="0">
            <a:spAutoFit/>
          </a:bodyPr>
          <a:lstStyle/>
          <a:p>
            <a:r>
              <a:rPr lang="en-US" dirty="0">
                <a:solidFill>
                  <a:srgbClr val="404040"/>
                </a:solidFill>
                <a:cs typeface="Arial"/>
              </a:rPr>
              <a:t>Final Project </a:t>
            </a:r>
            <a:endParaRPr lang="id-ID">
              <a:solidFill>
                <a:srgbClr val="000000"/>
              </a:solidFill>
              <a:cs typeface="Arial"/>
            </a:endParaRPr>
          </a:p>
          <a:p>
            <a:pPr marL="342900" indent="-342900">
              <a:buFont typeface="Calibri"/>
              <a:buChar char="-"/>
            </a:pPr>
            <a:r>
              <a:rPr lang="en-US" dirty="0">
                <a:solidFill>
                  <a:srgbClr val="404040"/>
                </a:solidFill>
                <a:ea typeface="+mn-lt"/>
                <a:cs typeface="+mn-lt"/>
              </a:rPr>
              <a:t>Carried out in groups</a:t>
            </a:r>
          </a:p>
          <a:p>
            <a:pPr marL="342900" indent="-342900">
              <a:buFont typeface="Calibri"/>
              <a:buChar char="-"/>
            </a:pPr>
            <a:r>
              <a:rPr lang="en-US" dirty="0">
                <a:solidFill>
                  <a:srgbClr val="404040"/>
                </a:solidFill>
                <a:ea typeface="+mn-lt"/>
                <a:cs typeface="+mn-lt"/>
              </a:rPr>
              <a:t>Description and more information already at first meet LMS</a:t>
            </a:r>
          </a:p>
        </p:txBody>
      </p:sp>
      <p:sp>
        <p:nvSpPr>
          <p:cNvPr id="2" name="Google Shape;44;p1">
            <a:extLst>
              <a:ext uri="{FF2B5EF4-FFF2-40B4-BE49-F238E27FC236}">
                <a16:creationId xmlns:a16="http://schemas.microsoft.com/office/drawing/2014/main" id="{686E71A4-49D1-A5E9-6C65-169FADE791A6}"/>
              </a:ext>
            </a:extLst>
          </p:cNvPr>
          <p:cNvSpPr txBox="1"/>
          <p:nvPr/>
        </p:nvSpPr>
        <p:spPr>
          <a:xfrm>
            <a:off x="1393824" y="4269113"/>
            <a:ext cx="6852222" cy="1107996"/>
          </a:xfrm>
          <a:prstGeom prst="rect">
            <a:avLst/>
          </a:prstGeom>
          <a:noFill/>
          <a:ln>
            <a:noFill/>
          </a:ln>
        </p:spPr>
        <p:txBody>
          <a:bodyPr spcFirstLastPara="1" wrap="square" lIns="0" tIns="0" rIns="0" bIns="0" anchor="t" anchorCtr="0">
            <a:spAutoFit/>
          </a:bodyPr>
          <a:lstStyle/>
          <a:p>
            <a:r>
              <a:rPr lang="en-US" dirty="0">
                <a:solidFill>
                  <a:srgbClr val="404040"/>
                </a:solidFill>
                <a:cs typeface="Arial"/>
              </a:rPr>
              <a:t>Middle </a:t>
            </a:r>
            <a:r>
              <a:rPr lang="en-US" dirty="0">
                <a:solidFill>
                  <a:srgbClr val="404040"/>
                </a:solidFill>
                <a:ea typeface="+mn-lt"/>
                <a:cs typeface="+mn-lt"/>
              </a:rPr>
              <a:t>Test /  UTS</a:t>
            </a:r>
            <a:endParaRPr lang="id-ID" sz="1400" dirty="0" err="1">
              <a:solidFill>
                <a:srgbClr val="000000"/>
              </a:solidFill>
              <a:cs typeface="Arial"/>
            </a:endParaRPr>
          </a:p>
          <a:p>
            <a:pPr marL="342900" indent="-342900">
              <a:buFont typeface="Calibri"/>
              <a:buChar char="-"/>
            </a:pPr>
            <a:r>
              <a:rPr lang="en-US" dirty="0">
                <a:solidFill>
                  <a:srgbClr val="404040"/>
                </a:solidFill>
                <a:cs typeface="Arial"/>
              </a:rPr>
              <a:t>Task Multiple Choice : 10-15 Question      : @6</a:t>
            </a:r>
          </a:p>
          <a:p>
            <a:pPr marL="342900" indent="-342900">
              <a:buFont typeface="Calibri,Sans-Serif"/>
              <a:buChar char="-"/>
            </a:pPr>
            <a:r>
              <a:rPr lang="en-US" dirty="0">
                <a:solidFill>
                  <a:srgbClr val="404040"/>
                </a:solidFill>
                <a:cs typeface="Arial"/>
              </a:rPr>
              <a:t>Paper Based - Essay </a:t>
            </a:r>
            <a:endParaRPr lang="en-US" dirty="0">
              <a:solidFill>
                <a:srgbClr val="000000"/>
              </a:solidFill>
              <a:cs typeface="Arial"/>
            </a:endParaRPr>
          </a:p>
          <a:p>
            <a:pPr marL="342900" indent="-342900">
              <a:buFont typeface="Calibri,Sans-Serif"/>
              <a:buChar char="-"/>
            </a:pPr>
            <a:r>
              <a:rPr lang="en-US" dirty="0">
                <a:solidFill>
                  <a:srgbClr val="404040"/>
                </a:solidFill>
                <a:cs typeface="Arial"/>
              </a:rPr>
              <a:t>Close Book </a:t>
            </a:r>
            <a:endParaRPr lang="en-US" dirty="0"/>
          </a:p>
        </p:txBody>
      </p:sp>
    </p:spTree>
    <p:extLst>
      <p:ext uri="{BB962C8B-B14F-4D97-AF65-F5344CB8AC3E}">
        <p14:creationId xmlns:p14="http://schemas.microsoft.com/office/powerpoint/2010/main" val="419934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393798" y="474601"/>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latin typeface="Arial"/>
                <a:cs typeface="Arial"/>
                <a:sym typeface="Arial"/>
              </a:rPr>
              <a:t>Course Agenda</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7" name="Google Shape;42;p1">
            <a:extLst>
              <a:ext uri="{FF2B5EF4-FFF2-40B4-BE49-F238E27FC236}">
                <a16:creationId xmlns:a16="http://schemas.microsoft.com/office/drawing/2014/main" id="{EFB6041A-DE97-9241-15B9-9F2640182B81}"/>
              </a:ext>
            </a:extLst>
          </p:cNvPr>
          <p:cNvSpPr txBox="1"/>
          <p:nvPr/>
        </p:nvSpPr>
        <p:spPr>
          <a:xfrm>
            <a:off x="1393797" y="979875"/>
            <a:ext cx="4887912" cy="246221"/>
          </a:xfrm>
          <a:prstGeom prst="rect">
            <a:avLst/>
          </a:prstGeom>
          <a:noFill/>
          <a:ln>
            <a:noFill/>
          </a:ln>
        </p:spPr>
        <p:txBody>
          <a:bodyPr spcFirstLastPara="1" wrap="square" lIns="0" tIns="0" rIns="0" bIns="0" anchor="t" anchorCtr="0">
            <a:spAutoFit/>
          </a:bodyPr>
          <a:lstStyle/>
          <a:p>
            <a:r>
              <a:rPr lang="en-US" sz="1600">
                <a:solidFill>
                  <a:srgbClr val="262626"/>
                </a:solidFill>
                <a:ea typeface="+mn-lt"/>
                <a:cs typeface="+mn-lt"/>
                <a:sym typeface="Arial"/>
              </a:rPr>
              <a:t>Practicum </a:t>
            </a:r>
            <a:endParaRPr lang="id-ID"/>
          </a:p>
        </p:txBody>
      </p:sp>
      <p:graphicFrame>
        <p:nvGraphicFramePr>
          <p:cNvPr id="4" name="Tabel 3">
            <a:extLst>
              <a:ext uri="{FF2B5EF4-FFF2-40B4-BE49-F238E27FC236}">
                <a16:creationId xmlns:a16="http://schemas.microsoft.com/office/drawing/2014/main" id="{72544F4E-BD7D-4B21-104E-35E4FA417511}"/>
              </a:ext>
            </a:extLst>
          </p:cNvPr>
          <p:cNvGraphicFramePr>
            <a:graphicFrameLocks noGrp="1"/>
          </p:cNvGraphicFramePr>
          <p:nvPr>
            <p:extLst>
              <p:ext uri="{D42A27DB-BD31-4B8C-83A1-F6EECF244321}">
                <p14:modId xmlns:p14="http://schemas.microsoft.com/office/powerpoint/2010/main" val="823649243"/>
              </p:ext>
            </p:extLst>
          </p:nvPr>
        </p:nvGraphicFramePr>
        <p:xfrm>
          <a:off x="1393184" y="1716952"/>
          <a:ext cx="7182300" cy="4487921"/>
        </p:xfrm>
        <a:graphic>
          <a:graphicData uri="http://schemas.openxmlformats.org/drawingml/2006/table">
            <a:tbl>
              <a:tblPr bandRow="1">
                <a:tableStyleId>{5C22544A-7EE6-4342-B048-85BDC9FD1C3A}</a:tableStyleId>
              </a:tblPr>
              <a:tblGrid>
                <a:gridCol w="3591150">
                  <a:extLst>
                    <a:ext uri="{9D8B030D-6E8A-4147-A177-3AD203B41FA5}">
                      <a16:colId xmlns:a16="http://schemas.microsoft.com/office/drawing/2014/main" val="1571347577"/>
                    </a:ext>
                  </a:extLst>
                </a:gridCol>
                <a:gridCol w="3591150">
                  <a:extLst>
                    <a:ext uri="{9D8B030D-6E8A-4147-A177-3AD203B41FA5}">
                      <a16:colId xmlns:a16="http://schemas.microsoft.com/office/drawing/2014/main" val="155376505"/>
                    </a:ext>
                  </a:extLst>
                </a:gridCol>
              </a:tblGrid>
              <a:tr h="270629">
                <a:tc>
                  <a:txBody>
                    <a:bodyPr/>
                    <a:lstStyle/>
                    <a:p>
                      <a:pPr algn="ctr" fontAlgn="ctr"/>
                      <a:r>
                        <a:rPr lang="id-ID" sz="1600" b="1" i="0" u="none" strike="noStrike" dirty="0">
                          <a:solidFill>
                            <a:srgbClr val="000000"/>
                          </a:solidFill>
                          <a:effectLst/>
                          <a:latin typeface="Calibri"/>
                        </a:rPr>
                        <a:t>RENCANA MATERI PRAKTIKUM</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600" b="1" i="0" u="none" strike="noStrike" dirty="0">
                          <a:solidFill>
                            <a:srgbClr val="000000"/>
                          </a:solidFill>
                          <a:effectLst/>
                          <a:latin typeface="Calibri"/>
                        </a:rPr>
                        <a:t>Tugas Praktikum**</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3347549"/>
                  </a:ext>
                </a:extLst>
              </a:tr>
              <a:tr h="248076">
                <a:tc>
                  <a:txBody>
                    <a:bodyPr/>
                    <a:lstStyle/>
                    <a:p>
                      <a:pPr algn="l" fontAlgn="ctr"/>
                      <a:r>
                        <a:rPr lang="id-ID" sz="1400" b="0" i="0" u="none" strike="noStrike" dirty="0">
                          <a:solidFill>
                            <a:srgbClr val="000000"/>
                          </a:solidFill>
                          <a:effectLst/>
                          <a:latin typeface="Calibri"/>
                        </a:rPr>
                        <a:t>[Modul 1] </a:t>
                      </a:r>
                      <a:r>
                        <a:rPr lang="id-ID" sz="1400" b="0" i="0" u="none" strike="noStrike" err="1">
                          <a:solidFill>
                            <a:srgbClr val="000000"/>
                          </a:solidFill>
                          <a:effectLst/>
                          <a:latin typeface="Calibri"/>
                        </a:rPr>
                        <a:t>Running</a:t>
                      </a:r>
                      <a:r>
                        <a:rPr lang="id-ID" sz="1400" b="0" i="0" u="none" strike="noStrike" dirty="0">
                          <a:solidFill>
                            <a:srgbClr val="000000"/>
                          </a:solidFill>
                          <a:effectLst/>
                          <a:latin typeface="Calibri"/>
                        </a:rPr>
                        <a:t> Modul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dirty="0">
                          <a:solidFill>
                            <a:srgbClr val="000000"/>
                          </a:solidFill>
                          <a:effectLst/>
                          <a:latin typeface="Calibri"/>
                        </a:rPr>
                        <a:t>Jurnal Terbimbing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5609613"/>
                  </a:ext>
                </a:extLst>
              </a:tr>
              <a:tr h="248076">
                <a:tc>
                  <a:txBody>
                    <a:bodyPr/>
                    <a:lstStyle/>
                    <a:p>
                      <a:pPr algn="l" fontAlgn="ctr"/>
                      <a:r>
                        <a:rPr lang="id-ID" sz="1400" b="0" i="0" u="none" strike="noStrike" dirty="0">
                          <a:solidFill>
                            <a:srgbClr val="000000"/>
                          </a:solidFill>
                          <a:effectLst/>
                          <a:latin typeface="Calibri"/>
                        </a:rPr>
                        <a:t>[Modul 2] </a:t>
                      </a:r>
                      <a:r>
                        <a:rPr lang="id-ID" sz="1400" b="0" i="0" u="none" strike="noStrike" err="1">
                          <a:solidFill>
                            <a:srgbClr val="000000"/>
                          </a:solidFill>
                          <a:effectLst/>
                          <a:latin typeface="Calibri"/>
                        </a:rPr>
                        <a:t>Review</a:t>
                      </a:r>
                      <a:r>
                        <a:rPr lang="id-ID" sz="1400" b="0" i="0" u="none" strike="noStrike" dirty="0">
                          <a:solidFill>
                            <a:srgbClr val="000000"/>
                          </a:solidFill>
                          <a:effectLst/>
                          <a:latin typeface="Calibri"/>
                        </a:rPr>
                        <a:t> Struktur Kontrol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dirty="0">
                          <a:solidFill>
                            <a:srgbClr val="000000"/>
                          </a:solidFill>
                          <a:effectLst/>
                          <a:latin typeface="Calibri"/>
                        </a:rPr>
                        <a:t>TP, Jurnal Terbimbing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1817787"/>
                  </a:ext>
                </a:extLst>
              </a:tr>
              <a:tr h="248076">
                <a:tc>
                  <a:txBody>
                    <a:bodyPr/>
                    <a:lstStyle/>
                    <a:p>
                      <a:pPr algn="l" fontAlgn="ctr"/>
                      <a:r>
                        <a:rPr lang="id-ID" sz="1400" b="0" i="0" u="none" strike="noStrike" dirty="0">
                          <a:solidFill>
                            <a:srgbClr val="000000"/>
                          </a:solidFill>
                          <a:effectLst/>
                          <a:latin typeface="Calibri"/>
                        </a:rPr>
                        <a:t>[Modul 3] Dasar PBO</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a:solidFill>
                            <a:srgbClr val="000000"/>
                          </a:solidFill>
                          <a:effectLst/>
                          <a:latin typeface="Calibri"/>
                        </a:rPr>
                        <a:t>TP, Jurnal Terbimbing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8458387"/>
                  </a:ext>
                </a:extLst>
              </a:tr>
              <a:tr h="248076">
                <a:tc>
                  <a:txBody>
                    <a:bodyPr/>
                    <a:lstStyle/>
                    <a:p>
                      <a:pPr algn="l" fontAlgn="ctr"/>
                      <a:r>
                        <a:rPr lang="id-ID" sz="1400" b="0" i="0" u="none" strike="noStrike">
                          <a:solidFill>
                            <a:srgbClr val="000000"/>
                          </a:solidFill>
                          <a:effectLst/>
                          <a:latin typeface="Calibri"/>
                        </a:rPr>
                        <a:t>[Modul 4] Enkapsulasi</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a:solidFill>
                            <a:srgbClr val="000000"/>
                          </a:solidFill>
                          <a:effectLst/>
                          <a:latin typeface="Calibri"/>
                        </a:rPr>
                        <a:t>TP, Tugas Terbimbing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3565381"/>
                  </a:ext>
                </a:extLst>
              </a:tr>
              <a:tr h="248076">
                <a:tc>
                  <a:txBody>
                    <a:bodyPr/>
                    <a:lstStyle/>
                    <a:p>
                      <a:pPr algn="l" fontAlgn="ctr"/>
                      <a:r>
                        <a:rPr lang="id-ID" sz="1400" b="1" i="0" u="none" strike="noStrike">
                          <a:solidFill>
                            <a:srgbClr val="FFFFFF"/>
                          </a:solidFill>
                          <a:effectLst/>
                          <a:latin typeface="Calibri"/>
                        </a:rPr>
                        <a:t>[Modul 5] </a:t>
                      </a:r>
                      <a:r>
                        <a:rPr lang="id-ID" sz="1400" b="1" i="0" u="none" strike="noStrike" err="1">
                          <a:solidFill>
                            <a:srgbClr val="FFFFFF"/>
                          </a:solidFill>
                          <a:effectLst/>
                          <a:latin typeface="Calibri"/>
                        </a:rPr>
                        <a:t>Case</a:t>
                      </a:r>
                      <a:r>
                        <a:rPr lang="id-ID" sz="1400" b="1" i="0" u="none" strike="noStrike">
                          <a:solidFill>
                            <a:srgbClr val="FFFFFF"/>
                          </a:solidFill>
                          <a:effectLst/>
                          <a:latin typeface="Calibri"/>
                        </a:rPr>
                        <a:t> </a:t>
                      </a:r>
                      <a:r>
                        <a:rPr lang="id-ID" sz="1400" b="1" i="0" u="none" strike="noStrike" err="1">
                          <a:solidFill>
                            <a:srgbClr val="FFFFFF"/>
                          </a:solidFill>
                          <a:effectLst/>
                          <a:latin typeface="Calibri"/>
                        </a:rPr>
                        <a:t>Based</a:t>
                      </a:r>
                      <a:r>
                        <a:rPr lang="id-ID" sz="1400" b="1" i="0" u="none" strike="noStrike">
                          <a:solidFill>
                            <a:srgbClr val="FFFFFF"/>
                          </a:solidFill>
                          <a:effectLst/>
                          <a:latin typeface="Calibri"/>
                        </a:rPr>
                        <a:t> 1 </a:t>
                      </a:r>
                      <a:endParaRPr lang="id-ID" sz="1400" b="1" i="0" u="none" strike="noStrike" dirty="0">
                        <a:solidFill>
                          <a:srgbClr val="FFFFFF"/>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id-ID" sz="1400" b="1" i="0" u="none" strike="noStrike">
                          <a:solidFill>
                            <a:srgbClr val="FFFFFF"/>
                          </a:solidFill>
                          <a:effectLst/>
                          <a:latin typeface="Calibri"/>
                        </a:rPr>
                        <a:t>Jurnal Mandiri / </a:t>
                      </a:r>
                      <a:r>
                        <a:rPr lang="id-ID" sz="1400" b="1" i="0" u="none" strike="noStrike" err="1">
                          <a:solidFill>
                            <a:srgbClr val="FFFFFF"/>
                          </a:solidFill>
                          <a:effectLst/>
                          <a:latin typeface="Calibri"/>
                        </a:rPr>
                        <a:t>Asesmen</a:t>
                      </a:r>
                      <a:endParaRPr lang="id-ID" sz="1400" b="1" i="0" u="none" strike="noStrike" dirty="0" err="1">
                        <a:solidFill>
                          <a:srgbClr val="FFFFFF"/>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629618866"/>
                  </a:ext>
                </a:extLst>
              </a:tr>
              <a:tr h="248076">
                <a:tc>
                  <a:txBody>
                    <a:bodyPr/>
                    <a:lstStyle/>
                    <a:p>
                      <a:pPr algn="l" fontAlgn="ctr"/>
                      <a:r>
                        <a:rPr lang="id-ID" sz="1400" b="0" i="0" u="none" strike="noStrike">
                          <a:solidFill>
                            <a:srgbClr val="000000"/>
                          </a:solidFill>
                          <a:effectLst/>
                          <a:latin typeface="Calibri"/>
                        </a:rPr>
                        <a:t>[Modul 6] </a:t>
                      </a:r>
                      <a:r>
                        <a:rPr lang="id-ID" sz="1400" b="0" i="0" u="none" strike="noStrike" err="1">
                          <a:solidFill>
                            <a:srgbClr val="000000"/>
                          </a:solidFill>
                          <a:effectLst/>
                          <a:latin typeface="Calibri"/>
                        </a:rPr>
                        <a:t>Inheritance</a:t>
                      </a:r>
                      <a:r>
                        <a:rPr lang="id-ID" sz="1400" b="0" i="0" u="none" strike="noStrike">
                          <a:solidFill>
                            <a:srgbClr val="000000"/>
                          </a:solidFill>
                          <a:effectLst/>
                          <a:latin typeface="Calibri"/>
                        </a:rPr>
                        <a:t> 1</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a:solidFill>
                            <a:srgbClr val="000000"/>
                          </a:solidFill>
                          <a:effectLst/>
                          <a:latin typeface="Calibri"/>
                        </a:rPr>
                        <a:t>TP, Tugas Terbimbing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94743"/>
                  </a:ext>
                </a:extLst>
              </a:tr>
              <a:tr h="248076">
                <a:tc>
                  <a:txBody>
                    <a:bodyPr/>
                    <a:lstStyle/>
                    <a:p>
                      <a:pPr algn="ctr" fontAlgn="ctr"/>
                      <a:r>
                        <a:rPr lang="id-ID" sz="1400" b="1" i="0" u="none" strike="noStrike" dirty="0">
                          <a:solidFill>
                            <a:srgbClr val="FFFFFF"/>
                          </a:solidFill>
                          <a:effectLst/>
                          <a:latin typeface="Calibri"/>
                        </a:rPr>
                        <a:t>IDUL FITRI</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fontAlgn="ctr"/>
                      <a:endParaRPr lang="id-ID" sz="1400" b="1" i="0" u="none" strike="noStrike" dirty="0">
                        <a:solidFill>
                          <a:srgbClr val="FFFFFF"/>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801957216"/>
                  </a:ext>
                </a:extLst>
              </a:tr>
              <a:tr h="248076">
                <a:tc>
                  <a:txBody>
                    <a:bodyPr/>
                    <a:lstStyle/>
                    <a:p>
                      <a:pPr algn="l" fontAlgn="ctr"/>
                      <a:r>
                        <a:rPr lang="id-ID" sz="1400" b="0" i="0" u="none" strike="noStrike" dirty="0">
                          <a:solidFill>
                            <a:srgbClr val="000000"/>
                          </a:solidFill>
                          <a:effectLst/>
                          <a:latin typeface="Calibri"/>
                        </a:rPr>
                        <a:t>[Modul 7] </a:t>
                      </a:r>
                      <a:r>
                        <a:rPr lang="id-ID" sz="1400" b="0" i="0" u="none" strike="noStrike" dirty="0" err="1">
                          <a:solidFill>
                            <a:srgbClr val="000000"/>
                          </a:solidFill>
                          <a:effectLst/>
                          <a:latin typeface="Calibri"/>
                        </a:rPr>
                        <a:t>Inheritance</a:t>
                      </a:r>
                      <a:r>
                        <a:rPr lang="id-ID" sz="1400" b="0" i="0" u="none" strike="noStrike" dirty="0">
                          <a:solidFill>
                            <a:srgbClr val="000000"/>
                          </a:solidFill>
                          <a:effectLst/>
                          <a:latin typeface="Calibri"/>
                        </a:rPr>
                        <a:t> 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dirty="0">
                          <a:solidFill>
                            <a:srgbClr val="000000"/>
                          </a:solidFill>
                          <a:effectLst/>
                          <a:latin typeface="Calibri"/>
                        </a:rPr>
                        <a:t>TP, Tugas Terbimbing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7564197"/>
                  </a:ext>
                </a:extLst>
              </a:tr>
              <a:tr h="248076">
                <a:tc>
                  <a:txBody>
                    <a:bodyPr/>
                    <a:lstStyle/>
                    <a:p>
                      <a:pPr algn="l" fontAlgn="ctr"/>
                      <a:r>
                        <a:rPr lang="id-ID" sz="1400" b="0" i="0" u="none" strike="noStrike" dirty="0">
                          <a:solidFill>
                            <a:srgbClr val="000000"/>
                          </a:solidFill>
                          <a:effectLst/>
                          <a:latin typeface="Calibri"/>
                        </a:rPr>
                        <a:t>[Modul 9] </a:t>
                      </a:r>
                      <a:r>
                        <a:rPr lang="id-ID" sz="1400" b="0" i="0" u="none" strike="noStrike" dirty="0" err="1">
                          <a:solidFill>
                            <a:srgbClr val="000000"/>
                          </a:solidFill>
                          <a:effectLst/>
                          <a:latin typeface="Calibri"/>
                        </a:rPr>
                        <a:t>Polymorphisme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a:solidFill>
                            <a:srgbClr val="000000"/>
                          </a:solidFill>
                          <a:effectLst/>
                          <a:latin typeface="Calibri"/>
                        </a:rPr>
                        <a:t>TP, Tugas Terbimbing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1226103"/>
                  </a:ext>
                </a:extLst>
              </a:tr>
              <a:tr h="248076">
                <a:tc>
                  <a:txBody>
                    <a:bodyPr/>
                    <a:lstStyle/>
                    <a:p>
                      <a:pPr algn="l" fontAlgn="ctr"/>
                      <a:r>
                        <a:rPr lang="id-ID" sz="1400" b="1" i="0" u="none" strike="noStrike">
                          <a:solidFill>
                            <a:srgbClr val="FFFFFF"/>
                          </a:solidFill>
                          <a:effectLst/>
                          <a:latin typeface="Calibri"/>
                        </a:rPr>
                        <a:t>[Modul 8] Case Based 2</a:t>
                      </a:r>
                      <a:endParaRPr lang="id-ID" sz="1400" b="1" i="0" u="none" strike="noStrike" dirty="0">
                        <a:solidFill>
                          <a:srgbClr val="FFFFFF"/>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id-ID" sz="1400" b="1" i="0" u="none" strike="noStrike">
                          <a:solidFill>
                            <a:srgbClr val="FFFFFF"/>
                          </a:solidFill>
                          <a:effectLst/>
                          <a:latin typeface="Calibri"/>
                        </a:rPr>
                        <a:t>Jurnal Mandiri / Asesmen</a:t>
                      </a:r>
                      <a:endParaRPr lang="id-ID" sz="1400" b="1" i="0" u="none" strike="noStrike" dirty="0">
                        <a:solidFill>
                          <a:srgbClr val="FFFFFF"/>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893778028"/>
                  </a:ext>
                </a:extLst>
              </a:tr>
              <a:tr h="248076">
                <a:tc>
                  <a:txBody>
                    <a:bodyPr/>
                    <a:lstStyle/>
                    <a:p>
                      <a:pPr algn="l" fontAlgn="ctr"/>
                      <a:r>
                        <a:rPr lang="id-ID" sz="1400" b="0" i="0" u="none" strike="noStrike">
                          <a:solidFill>
                            <a:srgbClr val="000000"/>
                          </a:solidFill>
                          <a:effectLst/>
                          <a:latin typeface="Calibri"/>
                        </a:rPr>
                        <a:t>[Modul 10] Interface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a:solidFill>
                            <a:srgbClr val="000000"/>
                          </a:solidFill>
                          <a:effectLst/>
                          <a:latin typeface="Calibri"/>
                        </a:rPr>
                        <a:t>TP, Tugas Terbimbing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8428630"/>
                  </a:ext>
                </a:extLst>
              </a:tr>
              <a:tr h="248076">
                <a:tc>
                  <a:txBody>
                    <a:bodyPr/>
                    <a:lstStyle/>
                    <a:p>
                      <a:pPr algn="l" fontAlgn="ctr"/>
                      <a:r>
                        <a:rPr lang="id-ID" sz="1400" b="0" i="0" u="none" strike="noStrike">
                          <a:solidFill>
                            <a:srgbClr val="000000"/>
                          </a:solidFill>
                          <a:effectLst/>
                          <a:latin typeface="Calibri"/>
                        </a:rPr>
                        <a:t>[Modul 11] Collection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a:solidFill>
                            <a:srgbClr val="000000"/>
                          </a:solidFill>
                          <a:effectLst/>
                          <a:latin typeface="Calibri"/>
                        </a:rPr>
                        <a:t>TP, Tugas Terbimbing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3417922"/>
                  </a:ext>
                </a:extLst>
              </a:tr>
              <a:tr h="248076">
                <a:tc>
                  <a:txBody>
                    <a:bodyPr/>
                    <a:lstStyle/>
                    <a:p>
                      <a:pPr algn="l" fontAlgn="ctr"/>
                      <a:r>
                        <a:rPr lang="id-ID" sz="1400" b="1" i="0" u="none" strike="noStrike">
                          <a:solidFill>
                            <a:srgbClr val="FFFFFF"/>
                          </a:solidFill>
                          <a:effectLst/>
                          <a:latin typeface="Calibri"/>
                        </a:rPr>
                        <a:t>[Modul 12] Case Base 3 </a:t>
                      </a:r>
                      <a:endParaRPr lang="id-ID" sz="1400" b="1" i="0" u="none" strike="noStrike" dirty="0">
                        <a:solidFill>
                          <a:srgbClr val="FFFFFF"/>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id-ID" sz="1400" b="1" i="0" u="none" strike="noStrike">
                          <a:solidFill>
                            <a:srgbClr val="FFFFFF"/>
                          </a:solidFill>
                          <a:effectLst/>
                          <a:latin typeface="Calibri"/>
                        </a:rPr>
                        <a:t>Jurnal Mandiri / Asesmen</a:t>
                      </a:r>
                      <a:endParaRPr lang="id-ID" sz="1400" b="1" i="0" u="none" strike="noStrike" dirty="0">
                        <a:solidFill>
                          <a:srgbClr val="FFFFFF"/>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446378387"/>
                  </a:ext>
                </a:extLst>
              </a:tr>
              <a:tr h="248076">
                <a:tc>
                  <a:txBody>
                    <a:bodyPr/>
                    <a:lstStyle/>
                    <a:p>
                      <a:pPr algn="l" fontAlgn="ctr"/>
                      <a:r>
                        <a:rPr lang="id-ID" sz="1400" b="0" i="0" u="none" strike="noStrike">
                          <a:solidFill>
                            <a:srgbClr val="000000"/>
                          </a:solidFill>
                          <a:effectLst/>
                          <a:latin typeface="Calibri"/>
                        </a:rPr>
                        <a:t>[Modul 13] Exception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a:solidFill>
                            <a:srgbClr val="000000"/>
                          </a:solidFill>
                          <a:effectLst/>
                          <a:latin typeface="Calibri"/>
                        </a:rPr>
                        <a:t>TP, Tugas Terbimbing </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2673334"/>
                  </a:ext>
                </a:extLst>
              </a:tr>
              <a:tr h="248076">
                <a:tc>
                  <a:txBody>
                    <a:bodyPr/>
                    <a:lstStyle/>
                    <a:p>
                      <a:pPr algn="l" fontAlgn="ctr"/>
                      <a:r>
                        <a:rPr lang="id-ID" sz="1400" b="0" i="0" u="none" strike="noStrike">
                          <a:solidFill>
                            <a:srgbClr val="000000"/>
                          </a:solidFill>
                          <a:effectLst/>
                          <a:latin typeface="Calibri"/>
                        </a:rPr>
                        <a:t>[Modul 14] Asistensi Tugas Besar</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id-ID" sz="1400" b="0" i="0" u="none" strike="noStrike" dirty="0">
                          <a:solidFill>
                            <a:srgbClr val="000000"/>
                          </a:solidFill>
                          <a:effectLst/>
                          <a:latin typeface="Calibri"/>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7681402"/>
                  </a:ext>
                </a:extLst>
              </a:tr>
              <a:tr h="248076">
                <a:tc>
                  <a:txBody>
                    <a:bodyPr/>
                    <a:lstStyle/>
                    <a:p>
                      <a:pPr algn="l" fontAlgn="ctr"/>
                      <a:r>
                        <a:rPr lang="id-ID" sz="1400" b="1" i="0" u="none" strike="noStrike">
                          <a:solidFill>
                            <a:srgbClr val="FFFFFF"/>
                          </a:solidFill>
                          <a:effectLst/>
                          <a:latin typeface="Calibri"/>
                        </a:rPr>
                        <a:t>[Modul 15] Case Base 4</a:t>
                      </a:r>
                      <a:endParaRPr lang="id-ID" sz="1400" b="1" i="0" u="none" strike="noStrike" dirty="0">
                        <a:solidFill>
                          <a:srgbClr val="FFFFFF"/>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id-ID" sz="1400" b="1" i="0" u="none" strike="noStrike">
                          <a:solidFill>
                            <a:srgbClr val="FFFFFF"/>
                          </a:solidFill>
                          <a:effectLst/>
                          <a:latin typeface="Calibri"/>
                        </a:rPr>
                        <a:t>Jurnal Mandiri / Asesmen</a:t>
                      </a:r>
                      <a:endParaRPr lang="id-ID" sz="1400" b="1" i="0" u="none" strike="noStrike" dirty="0">
                        <a:solidFill>
                          <a:srgbClr val="FFFFFF"/>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454413389"/>
                  </a:ext>
                </a:extLst>
              </a:tr>
              <a:tr h="248076">
                <a:tc>
                  <a:txBody>
                    <a:bodyPr/>
                    <a:lstStyle/>
                    <a:p>
                      <a:pPr algn="l" fontAlgn="ctr"/>
                      <a:r>
                        <a:rPr lang="id-ID" sz="1400" b="0" i="0" u="none" strike="noStrike">
                          <a:solidFill>
                            <a:srgbClr val="000000"/>
                          </a:solidFill>
                          <a:effectLst/>
                          <a:latin typeface="Calibri"/>
                        </a:rPr>
                        <a:t>[Modul 16] Praktikum Susulan</a:t>
                      </a:r>
                      <a:endParaRPr lang="id-ID" sz="1400" b="0" i="0" u="none" strike="noStrike" dirty="0">
                        <a:solidFill>
                          <a:srgbClr val="000000"/>
                        </a:solidFill>
                        <a:effectLst/>
                        <a:latin typeface="Calibri"/>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r>
                        <a:rPr lang="id-ID" sz="1400" b="0" i="0" u="none" strike="noStrike" dirty="0">
                          <a:solidFill>
                            <a:srgbClr val="000000"/>
                          </a:solidFill>
                          <a:effectLst/>
                          <a:latin typeface="Calibri"/>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397139376"/>
                  </a:ext>
                </a:extLst>
              </a:tr>
            </a:tbl>
          </a:graphicData>
        </a:graphic>
      </p:graphicFrame>
    </p:spTree>
    <p:extLst>
      <p:ext uri="{BB962C8B-B14F-4D97-AF65-F5344CB8AC3E}">
        <p14:creationId xmlns:p14="http://schemas.microsoft.com/office/powerpoint/2010/main" val="2539830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393798" y="474601"/>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latin typeface="Arial"/>
                <a:cs typeface="Arial"/>
                <a:sym typeface="Arial"/>
              </a:rPr>
              <a:t>Course Agenda</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7" name="Google Shape;42;p1">
            <a:extLst>
              <a:ext uri="{FF2B5EF4-FFF2-40B4-BE49-F238E27FC236}">
                <a16:creationId xmlns:a16="http://schemas.microsoft.com/office/drawing/2014/main" id="{EFB6041A-DE97-9241-15B9-9F2640182B81}"/>
              </a:ext>
            </a:extLst>
          </p:cNvPr>
          <p:cNvSpPr txBox="1"/>
          <p:nvPr/>
        </p:nvSpPr>
        <p:spPr>
          <a:xfrm>
            <a:off x="1393797" y="979875"/>
            <a:ext cx="4887912" cy="246221"/>
          </a:xfrm>
          <a:prstGeom prst="rect">
            <a:avLst/>
          </a:prstGeom>
          <a:noFill/>
          <a:ln>
            <a:noFill/>
          </a:ln>
        </p:spPr>
        <p:txBody>
          <a:bodyPr spcFirstLastPara="1" wrap="square" lIns="0" tIns="0" rIns="0" bIns="0" anchor="t" anchorCtr="0">
            <a:spAutoFit/>
          </a:bodyPr>
          <a:lstStyle/>
          <a:p>
            <a:r>
              <a:rPr lang="en-US" sz="1600">
                <a:solidFill>
                  <a:srgbClr val="262626"/>
                </a:solidFill>
                <a:ea typeface="+mn-lt"/>
                <a:cs typeface="+mn-lt"/>
                <a:sym typeface="Arial"/>
              </a:rPr>
              <a:t>theory class</a:t>
            </a:r>
            <a:endParaRPr lang="id-ID"/>
          </a:p>
        </p:txBody>
      </p:sp>
      <p:sp>
        <p:nvSpPr>
          <p:cNvPr id="4" name="Google Shape;44;p1">
            <a:extLst>
              <a:ext uri="{FF2B5EF4-FFF2-40B4-BE49-F238E27FC236}">
                <a16:creationId xmlns:a16="http://schemas.microsoft.com/office/drawing/2014/main" id="{766C0BD2-BE4B-EC6A-7180-83F8140D7E21}"/>
              </a:ext>
            </a:extLst>
          </p:cNvPr>
          <p:cNvSpPr txBox="1"/>
          <p:nvPr/>
        </p:nvSpPr>
        <p:spPr>
          <a:xfrm>
            <a:off x="1393825" y="2135187"/>
            <a:ext cx="6852222" cy="2305246"/>
          </a:xfrm>
          <a:prstGeom prst="rect">
            <a:avLst/>
          </a:prstGeom>
          <a:noFill/>
          <a:ln>
            <a:noFill/>
          </a:ln>
        </p:spPr>
        <p:txBody>
          <a:bodyPr spcFirstLastPara="1" wrap="square" lIns="0" tIns="0" rIns="0" bIns="0" anchor="t" anchorCtr="0">
            <a:spAutoFit/>
          </a:bodyPr>
          <a:lstStyle/>
          <a:p>
            <a:r>
              <a:rPr lang="en-US" sz="2100" dirty="0">
                <a:solidFill>
                  <a:srgbClr val="404040"/>
                </a:solidFill>
                <a:cs typeface="Arial"/>
              </a:rPr>
              <a:t>Language     : Java Programming </a:t>
            </a:r>
          </a:p>
          <a:p>
            <a:pPr marL="285750" indent="-285750" algn="just">
              <a:lnSpc>
                <a:spcPct val="90000"/>
              </a:lnSpc>
              <a:spcBef>
                <a:spcPts val="1000"/>
              </a:spcBef>
              <a:buFont typeface="Arial"/>
              <a:buChar char="•"/>
            </a:pPr>
            <a:r>
              <a:rPr lang="en-US" sz="2000" dirty="0">
                <a:solidFill>
                  <a:srgbClr val="000000"/>
                </a:solidFill>
                <a:latin typeface="Congenial Light"/>
                <a:cs typeface="Arial"/>
              </a:rPr>
              <a:t>Practicum Task  :</a:t>
            </a:r>
          </a:p>
          <a:p>
            <a:pPr marL="742950" lvl="1" indent="-285750" algn="just">
              <a:lnSpc>
                <a:spcPct val="90000"/>
              </a:lnSpc>
              <a:spcBef>
                <a:spcPts val="500"/>
              </a:spcBef>
              <a:buFont typeface="Arial"/>
              <a:buChar char="•"/>
            </a:pPr>
            <a:r>
              <a:rPr lang="en-US" dirty="0">
                <a:solidFill>
                  <a:srgbClr val="000000"/>
                </a:solidFill>
                <a:latin typeface="Congenial Light"/>
                <a:cs typeface="Arial"/>
              </a:rPr>
              <a:t>TP </a:t>
            </a:r>
          </a:p>
          <a:p>
            <a:pPr marL="742950" lvl="1" indent="-285750" algn="just">
              <a:lnSpc>
                <a:spcPct val="90000"/>
              </a:lnSpc>
              <a:spcBef>
                <a:spcPts val="500"/>
              </a:spcBef>
              <a:buFont typeface="Arial"/>
              <a:buChar char="•"/>
            </a:pPr>
            <a:r>
              <a:rPr lang="en-US" dirty="0" err="1">
                <a:solidFill>
                  <a:srgbClr val="000000"/>
                </a:solidFill>
                <a:latin typeface="Congenial Light"/>
                <a:cs typeface="Arial"/>
              </a:rPr>
              <a:t>Jurnal</a:t>
            </a:r>
            <a:r>
              <a:rPr lang="en-US" dirty="0">
                <a:solidFill>
                  <a:srgbClr val="000000"/>
                </a:solidFill>
                <a:latin typeface="Congenial Light"/>
                <a:cs typeface="Arial"/>
              </a:rPr>
              <a:t> </a:t>
            </a:r>
            <a:r>
              <a:rPr lang="en-US" dirty="0" err="1">
                <a:solidFill>
                  <a:srgbClr val="000000"/>
                </a:solidFill>
                <a:latin typeface="Congenial Light"/>
                <a:cs typeface="Arial"/>
              </a:rPr>
              <a:t>Terbimbing</a:t>
            </a:r>
            <a:endParaRPr lang="en-US" dirty="0">
              <a:solidFill>
                <a:srgbClr val="000000"/>
              </a:solidFill>
              <a:latin typeface="Congenial Light"/>
              <a:cs typeface="Arial"/>
            </a:endParaRPr>
          </a:p>
          <a:p>
            <a:pPr marL="742950" lvl="1" indent="-285750" algn="just">
              <a:lnSpc>
                <a:spcPct val="90000"/>
              </a:lnSpc>
              <a:spcBef>
                <a:spcPts val="500"/>
              </a:spcBef>
              <a:buFont typeface="Arial"/>
              <a:buChar char="•"/>
            </a:pPr>
            <a:r>
              <a:rPr lang="en-US" dirty="0" err="1">
                <a:solidFill>
                  <a:srgbClr val="000000"/>
                </a:solidFill>
                <a:latin typeface="Congenial Light"/>
                <a:cs typeface="Arial"/>
              </a:rPr>
              <a:t>Jurnal</a:t>
            </a:r>
            <a:r>
              <a:rPr lang="en-US" dirty="0">
                <a:solidFill>
                  <a:srgbClr val="000000"/>
                </a:solidFill>
                <a:latin typeface="Congenial Light"/>
                <a:cs typeface="Arial"/>
              </a:rPr>
              <a:t> </a:t>
            </a:r>
            <a:r>
              <a:rPr lang="en-US" dirty="0" err="1">
                <a:solidFill>
                  <a:srgbClr val="000000"/>
                </a:solidFill>
                <a:latin typeface="Congenial Light"/>
                <a:cs typeface="Arial"/>
              </a:rPr>
              <a:t>Mandiri</a:t>
            </a:r>
            <a:r>
              <a:rPr lang="en-US" dirty="0">
                <a:solidFill>
                  <a:srgbClr val="000000"/>
                </a:solidFill>
                <a:latin typeface="Congenial Light"/>
                <a:cs typeface="Arial"/>
              </a:rPr>
              <a:t> / Case Based </a:t>
            </a:r>
          </a:p>
          <a:p>
            <a:pPr marL="742950" lvl="1" indent="-285750" algn="just">
              <a:lnSpc>
                <a:spcPct val="90000"/>
              </a:lnSpc>
              <a:spcBef>
                <a:spcPts val="500"/>
              </a:spcBef>
              <a:buFont typeface="Arial"/>
              <a:buChar char="•"/>
            </a:pPr>
            <a:endParaRPr lang="en-US" dirty="0">
              <a:solidFill>
                <a:srgbClr val="000000"/>
              </a:solidFill>
              <a:latin typeface="Congenial Light"/>
              <a:cs typeface="Arial"/>
            </a:endParaRPr>
          </a:p>
          <a:p>
            <a:endParaRPr lang="en-US" sz="2100">
              <a:solidFill>
                <a:srgbClr val="404040"/>
              </a:solidFill>
              <a:latin typeface="Arial"/>
              <a:cs typeface="Arial"/>
            </a:endParaRPr>
          </a:p>
        </p:txBody>
      </p:sp>
      <p:graphicFrame>
        <p:nvGraphicFramePr>
          <p:cNvPr id="3" name="Tabel 2">
            <a:extLst>
              <a:ext uri="{FF2B5EF4-FFF2-40B4-BE49-F238E27FC236}">
                <a16:creationId xmlns:a16="http://schemas.microsoft.com/office/drawing/2014/main" id="{53CC7C59-5384-F035-BFE7-13A99C6F492A}"/>
              </a:ext>
            </a:extLst>
          </p:cNvPr>
          <p:cNvGraphicFramePr>
            <a:graphicFrameLocks noGrp="1"/>
          </p:cNvGraphicFramePr>
          <p:nvPr>
            <p:extLst>
              <p:ext uri="{D42A27DB-BD31-4B8C-83A1-F6EECF244321}">
                <p14:modId xmlns:p14="http://schemas.microsoft.com/office/powerpoint/2010/main" val="592178620"/>
              </p:ext>
            </p:extLst>
          </p:nvPr>
        </p:nvGraphicFramePr>
        <p:xfrm>
          <a:off x="1393185" y="3968424"/>
          <a:ext cx="6670770" cy="1651000"/>
        </p:xfrm>
        <a:graphic>
          <a:graphicData uri="http://schemas.openxmlformats.org/drawingml/2006/table">
            <a:tbl>
              <a:tblPr bandRow="1">
                <a:tableStyleId>{073A0DAA-6AF3-43AB-8588-CEC1D06C72B9}</a:tableStyleId>
              </a:tblPr>
              <a:tblGrid>
                <a:gridCol w="3335385">
                  <a:extLst>
                    <a:ext uri="{9D8B030D-6E8A-4147-A177-3AD203B41FA5}">
                      <a16:colId xmlns:a16="http://schemas.microsoft.com/office/drawing/2014/main" val="4229984380"/>
                    </a:ext>
                  </a:extLst>
                </a:gridCol>
                <a:gridCol w="3335385">
                  <a:extLst>
                    <a:ext uri="{9D8B030D-6E8A-4147-A177-3AD203B41FA5}">
                      <a16:colId xmlns:a16="http://schemas.microsoft.com/office/drawing/2014/main" val="1791591465"/>
                    </a:ext>
                  </a:extLst>
                </a:gridCol>
              </a:tblGrid>
              <a:tr h="330200">
                <a:tc gridSpan="2">
                  <a:txBody>
                    <a:bodyPr/>
                    <a:lstStyle/>
                    <a:p>
                      <a:pPr algn="ctr" fontAlgn="b"/>
                      <a:r>
                        <a:rPr lang="id-ID" sz="1400" u="none" strike="noStrike" dirty="0">
                          <a:solidFill>
                            <a:schemeClr val="tx1"/>
                          </a:solidFill>
                          <a:effectLst/>
                          <a:latin typeface="Congenial Light"/>
                        </a:rPr>
                        <a:t>TP, Jurnal Terbimbing </a:t>
                      </a:r>
                      <a:r>
                        <a:rPr lang="id-ID" sz="1400" u="none" strike="noStrike" err="1">
                          <a:solidFill>
                            <a:schemeClr val="tx1"/>
                          </a:solidFill>
                          <a:effectLst/>
                          <a:latin typeface="Congenial Light"/>
                        </a:rPr>
                        <a:t>and</a:t>
                      </a:r>
                      <a:r>
                        <a:rPr lang="id-ID" sz="1400" u="none" strike="noStrike" dirty="0">
                          <a:solidFill>
                            <a:schemeClr val="tx1"/>
                          </a:solidFill>
                          <a:effectLst/>
                          <a:latin typeface="Congenial Light"/>
                        </a:rPr>
                        <a:t> </a:t>
                      </a:r>
                      <a:r>
                        <a:rPr lang="id-ID" sz="1400" u="none" strike="noStrike" err="1">
                          <a:solidFill>
                            <a:schemeClr val="tx1"/>
                          </a:solidFill>
                          <a:effectLst/>
                          <a:latin typeface="Congenial Light"/>
                        </a:rPr>
                        <a:t>Asesmen</a:t>
                      </a:r>
                      <a:r>
                        <a:rPr lang="id-ID" sz="1400" u="none" strike="noStrike" dirty="0">
                          <a:solidFill>
                            <a:schemeClr val="tx1"/>
                          </a:solidFill>
                          <a:effectLst/>
                          <a:latin typeface="Congenial Light"/>
                        </a:rPr>
                        <a:t> Praktikum </a:t>
                      </a:r>
                    </a:p>
                  </a:txBody>
                  <a:tcPr marL="9525" marR="9525" marT="9525" marB="0" anchor="b"/>
                </a:tc>
                <a:tc hMerge="1">
                  <a:txBody>
                    <a:bodyPr/>
                    <a:lstStyle/>
                    <a:p>
                      <a:endParaRPr lang="id-ID"/>
                    </a:p>
                  </a:txBody>
                  <a:tcPr marL="0" marR="0" marT="0" marB="0" horzOverflow="overflow"/>
                </a:tc>
                <a:extLst>
                  <a:ext uri="{0D108BD9-81ED-4DB2-BD59-A6C34878D82A}">
                    <a16:rowId xmlns:a16="http://schemas.microsoft.com/office/drawing/2014/main" val="3171843274"/>
                  </a:ext>
                </a:extLst>
              </a:tr>
              <a:tr h="330200">
                <a:tc>
                  <a:txBody>
                    <a:bodyPr/>
                    <a:lstStyle/>
                    <a:p>
                      <a:pPr algn="l" fontAlgn="b"/>
                      <a:r>
                        <a:rPr lang="id-ID" sz="1400" u="none" strike="noStrike" dirty="0">
                          <a:solidFill>
                            <a:srgbClr val="000000"/>
                          </a:solidFill>
                          <a:effectLst/>
                          <a:latin typeface="Congenial Light"/>
                        </a:rPr>
                        <a:t>TP </a:t>
                      </a:r>
                    </a:p>
                  </a:txBody>
                  <a:tcPr marL="9525" marR="9525" marT="9525" marB="0" anchor="b"/>
                </a:tc>
                <a:tc>
                  <a:txBody>
                    <a:bodyPr/>
                    <a:lstStyle/>
                    <a:p>
                      <a:pPr algn="r" fontAlgn="b"/>
                      <a:r>
                        <a:rPr lang="id-ID" sz="1400" u="none" strike="noStrike" dirty="0">
                          <a:solidFill>
                            <a:srgbClr val="000000"/>
                          </a:solidFill>
                          <a:effectLst/>
                          <a:latin typeface="Congenial Light"/>
                        </a:rPr>
                        <a:t>5%</a:t>
                      </a:r>
                    </a:p>
                  </a:txBody>
                  <a:tcPr marL="9525" marR="9525" marT="9525" marB="0" anchor="b"/>
                </a:tc>
                <a:extLst>
                  <a:ext uri="{0D108BD9-81ED-4DB2-BD59-A6C34878D82A}">
                    <a16:rowId xmlns:a16="http://schemas.microsoft.com/office/drawing/2014/main" val="3771914986"/>
                  </a:ext>
                </a:extLst>
              </a:tr>
              <a:tr h="330200">
                <a:tc>
                  <a:txBody>
                    <a:bodyPr/>
                    <a:lstStyle/>
                    <a:p>
                      <a:pPr algn="l" fontAlgn="b"/>
                      <a:r>
                        <a:rPr lang="id-ID" sz="1400" u="none" strike="noStrike" dirty="0">
                          <a:solidFill>
                            <a:srgbClr val="000000"/>
                          </a:solidFill>
                          <a:effectLst/>
                          <a:latin typeface="Congenial Light"/>
                        </a:rPr>
                        <a:t>Jurnal Terbimbing </a:t>
                      </a:r>
                    </a:p>
                  </a:txBody>
                  <a:tcPr marL="9525" marR="9525" marT="9525" marB="0" anchor="b"/>
                </a:tc>
                <a:tc>
                  <a:txBody>
                    <a:bodyPr/>
                    <a:lstStyle/>
                    <a:p>
                      <a:pPr algn="r" fontAlgn="b"/>
                      <a:r>
                        <a:rPr lang="id-ID" sz="1400" u="none" strike="noStrike" dirty="0">
                          <a:solidFill>
                            <a:srgbClr val="000000"/>
                          </a:solidFill>
                          <a:effectLst/>
                          <a:latin typeface="Congenial Light"/>
                        </a:rPr>
                        <a:t>35%</a:t>
                      </a:r>
                    </a:p>
                  </a:txBody>
                  <a:tcPr marL="9525" marR="9525" marT="9525" marB="0" anchor="b"/>
                </a:tc>
                <a:extLst>
                  <a:ext uri="{0D108BD9-81ED-4DB2-BD59-A6C34878D82A}">
                    <a16:rowId xmlns:a16="http://schemas.microsoft.com/office/drawing/2014/main" val="1000867958"/>
                  </a:ext>
                </a:extLst>
              </a:tr>
              <a:tr h="330200">
                <a:tc>
                  <a:txBody>
                    <a:bodyPr/>
                    <a:lstStyle/>
                    <a:p>
                      <a:pPr algn="l" fontAlgn="b"/>
                      <a:r>
                        <a:rPr lang="id-ID" sz="1400" u="none" strike="noStrike" err="1">
                          <a:solidFill>
                            <a:srgbClr val="000000"/>
                          </a:solidFill>
                          <a:effectLst/>
                          <a:latin typeface="Congenial Light"/>
                        </a:rPr>
                        <a:t>Asesmen</a:t>
                      </a:r>
                      <a:r>
                        <a:rPr lang="id-ID" sz="1400" u="none" strike="noStrike" dirty="0">
                          <a:solidFill>
                            <a:srgbClr val="000000"/>
                          </a:solidFill>
                          <a:effectLst/>
                          <a:latin typeface="Congenial Light"/>
                        </a:rPr>
                        <a:t> Praktikum  / </a:t>
                      </a:r>
                      <a:r>
                        <a:rPr lang="id-ID" sz="1400" u="none" strike="noStrike" err="1">
                          <a:solidFill>
                            <a:srgbClr val="000000"/>
                          </a:solidFill>
                          <a:effectLst/>
                          <a:latin typeface="Congenial Light"/>
                        </a:rPr>
                        <a:t>Case</a:t>
                      </a:r>
                      <a:r>
                        <a:rPr lang="id-ID" sz="1400" u="none" strike="noStrike" dirty="0">
                          <a:solidFill>
                            <a:srgbClr val="000000"/>
                          </a:solidFill>
                          <a:effectLst/>
                          <a:latin typeface="Congenial Light"/>
                        </a:rPr>
                        <a:t> Base </a:t>
                      </a:r>
                    </a:p>
                  </a:txBody>
                  <a:tcPr marL="9525" marR="9525" marT="9525" marB="0" anchor="b"/>
                </a:tc>
                <a:tc>
                  <a:txBody>
                    <a:bodyPr/>
                    <a:lstStyle/>
                    <a:p>
                      <a:pPr algn="r" fontAlgn="b"/>
                      <a:r>
                        <a:rPr lang="id-ID" sz="1400" u="none" strike="noStrike" dirty="0">
                          <a:solidFill>
                            <a:srgbClr val="000000"/>
                          </a:solidFill>
                          <a:effectLst/>
                          <a:latin typeface="Congenial Light"/>
                        </a:rPr>
                        <a:t>60%</a:t>
                      </a:r>
                    </a:p>
                  </a:txBody>
                  <a:tcPr marL="9525" marR="9525" marT="9525" marB="0" anchor="b"/>
                </a:tc>
                <a:extLst>
                  <a:ext uri="{0D108BD9-81ED-4DB2-BD59-A6C34878D82A}">
                    <a16:rowId xmlns:a16="http://schemas.microsoft.com/office/drawing/2014/main" val="602378727"/>
                  </a:ext>
                </a:extLst>
              </a:tr>
              <a:tr h="330200">
                <a:tc>
                  <a:txBody>
                    <a:bodyPr/>
                    <a:lstStyle/>
                    <a:p>
                      <a:pPr algn="l" fontAlgn="b"/>
                      <a:endParaRPr lang="id-ID" sz="1400" u="none" strike="noStrike" dirty="0">
                        <a:solidFill>
                          <a:srgbClr val="000000"/>
                        </a:solidFill>
                        <a:effectLst/>
                        <a:latin typeface="Congenial Light"/>
                      </a:endParaRPr>
                    </a:p>
                  </a:txBody>
                  <a:tcPr marL="9525" marR="9525" marT="9525" marB="0" anchor="b"/>
                </a:tc>
                <a:tc>
                  <a:txBody>
                    <a:bodyPr/>
                    <a:lstStyle/>
                    <a:p>
                      <a:pPr algn="r" fontAlgn="b"/>
                      <a:r>
                        <a:rPr lang="id-ID" sz="1400" u="none" strike="noStrike" dirty="0">
                          <a:solidFill>
                            <a:srgbClr val="000000"/>
                          </a:solidFill>
                          <a:effectLst/>
                          <a:latin typeface="Congenial Light"/>
                        </a:rPr>
                        <a:t>100%</a:t>
                      </a:r>
                    </a:p>
                  </a:txBody>
                  <a:tcPr marL="9525" marR="9525" marT="9525" marB="0" anchor="b"/>
                </a:tc>
                <a:extLst>
                  <a:ext uri="{0D108BD9-81ED-4DB2-BD59-A6C34878D82A}">
                    <a16:rowId xmlns:a16="http://schemas.microsoft.com/office/drawing/2014/main" val="3119827854"/>
                  </a:ext>
                </a:extLst>
              </a:tr>
            </a:tbl>
          </a:graphicData>
        </a:graphic>
      </p:graphicFrame>
      <p:sp>
        <p:nvSpPr>
          <p:cNvPr id="2" name="Kotak Teks 1">
            <a:extLst>
              <a:ext uri="{FF2B5EF4-FFF2-40B4-BE49-F238E27FC236}">
                <a16:creationId xmlns:a16="http://schemas.microsoft.com/office/drawing/2014/main" id="{20D68F0E-E27E-5D79-3221-4D4B93FE65F3}"/>
              </a:ext>
            </a:extLst>
          </p:cNvPr>
          <p:cNvSpPr txBox="1"/>
          <p:nvPr/>
        </p:nvSpPr>
        <p:spPr>
          <a:xfrm>
            <a:off x="992889" y="5844507"/>
            <a:ext cx="48525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lvl="1" indent="-285750" algn="just">
              <a:buFont typeface="Arial,Sans-Serif"/>
              <a:buChar char="•"/>
            </a:pPr>
            <a:r>
              <a:rPr lang="en-US" dirty="0">
                <a:latin typeface="Congenial Light"/>
                <a:cs typeface="Arial"/>
              </a:rPr>
              <a:t>TP </a:t>
            </a:r>
            <a:r>
              <a:rPr lang="en-US" dirty="0" err="1">
                <a:latin typeface="Congenial Light"/>
                <a:cs typeface="Arial"/>
              </a:rPr>
              <a:t>menjadi</a:t>
            </a:r>
            <a:r>
              <a:rPr lang="en-US" dirty="0">
                <a:latin typeface="Congenial Light"/>
                <a:cs typeface="Arial"/>
              </a:rPr>
              <a:t> </a:t>
            </a:r>
            <a:r>
              <a:rPr lang="en-US" dirty="0" err="1">
                <a:latin typeface="Congenial Light"/>
                <a:cs typeface="Arial"/>
              </a:rPr>
              <a:t>Prasyarat</a:t>
            </a:r>
            <a:r>
              <a:rPr lang="en-US" dirty="0">
                <a:latin typeface="Congenial Light"/>
                <a:cs typeface="Arial"/>
              </a:rPr>
              <a:t> </a:t>
            </a:r>
            <a:r>
              <a:rPr lang="en-US" dirty="0" err="1">
                <a:latin typeface="Congenial Light"/>
                <a:cs typeface="Arial"/>
              </a:rPr>
              <a:t>ikut</a:t>
            </a:r>
            <a:r>
              <a:rPr lang="en-US" dirty="0">
                <a:latin typeface="Congenial Light"/>
                <a:cs typeface="Arial"/>
              </a:rPr>
              <a:t> </a:t>
            </a:r>
            <a:r>
              <a:rPr lang="en-US" dirty="0" err="1">
                <a:latin typeface="Congenial Light"/>
                <a:cs typeface="Arial"/>
              </a:rPr>
              <a:t>praktikum</a:t>
            </a:r>
            <a:r>
              <a:rPr lang="en-US" dirty="0">
                <a:latin typeface="Congenial Light"/>
                <a:cs typeface="Arial"/>
              </a:rPr>
              <a:t> </a:t>
            </a:r>
            <a:endParaRPr lang="id-ID" dirty="0"/>
          </a:p>
        </p:txBody>
      </p:sp>
    </p:spTree>
    <p:extLst>
      <p:ext uri="{BB962C8B-B14F-4D97-AF65-F5344CB8AC3E}">
        <p14:creationId xmlns:p14="http://schemas.microsoft.com/office/powerpoint/2010/main" val="2780700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
          <a:extLst>
            <a:ext uri="{FF2B5EF4-FFF2-40B4-BE49-F238E27FC236}">
              <a16:creationId xmlns:a16="http://schemas.microsoft.com/office/drawing/2014/main" id="{E940C8EE-4B02-88F8-9B68-1B23466F27D5}"/>
            </a:ext>
          </a:extLst>
        </p:cNvPr>
        <p:cNvGrpSpPr/>
        <p:nvPr/>
      </p:nvGrpSpPr>
      <p:grpSpPr>
        <a:xfrm>
          <a:off x="0" y="0"/>
          <a:ext cx="0" cy="0"/>
          <a:chOff x="0" y="0"/>
          <a:chExt cx="0" cy="0"/>
        </a:xfrm>
      </p:grpSpPr>
      <p:sp>
        <p:nvSpPr>
          <p:cNvPr id="42" name="Google Shape;42;p1">
            <a:extLst>
              <a:ext uri="{FF2B5EF4-FFF2-40B4-BE49-F238E27FC236}">
                <a16:creationId xmlns:a16="http://schemas.microsoft.com/office/drawing/2014/main" id="{C990A8A8-3F89-C418-21C5-AE181A3E1D4A}"/>
              </a:ext>
            </a:extLst>
          </p:cNvPr>
          <p:cNvSpPr txBox="1"/>
          <p:nvPr/>
        </p:nvSpPr>
        <p:spPr>
          <a:xfrm>
            <a:off x="1393798" y="474601"/>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latin typeface="Arial"/>
                <a:cs typeface="Arial"/>
                <a:sym typeface="Arial"/>
              </a:rPr>
              <a:t>Course Agenda</a:t>
            </a:r>
            <a:endParaRPr lang="id-ID"/>
          </a:p>
        </p:txBody>
      </p:sp>
      <p:sp>
        <p:nvSpPr>
          <p:cNvPr id="43" name="Google Shape;43;p1">
            <a:extLst>
              <a:ext uri="{FF2B5EF4-FFF2-40B4-BE49-F238E27FC236}">
                <a16:creationId xmlns:a16="http://schemas.microsoft.com/office/drawing/2014/main" id="{53CB9628-937E-A969-870E-2EC30C67621B}"/>
              </a:ext>
            </a:extLst>
          </p:cNvPr>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7" name="Google Shape;42;p1">
            <a:extLst>
              <a:ext uri="{FF2B5EF4-FFF2-40B4-BE49-F238E27FC236}">
                <a16:creationId xmlns:a16="http://schemas.microsoft.com/office/drawing/2014/main" id="{03F68C95-9CC2-219A-7992-FACC2153A5D0}"/>
              </a:ext>
            </a:extLst>
          </p:cNvPr>
          <p:cNvSpPr txBox="1"/>
          <p:nvPr/>
        </p:nvSpPr>
        <p:spPr>
          <a:xfrm>
            <a:off x="1393797" y="979875"/>
            <a:ext cx="4887912" cy="246221"/>
          </a:xfrm>
          <a:prstGeom prst="rect">
            <a:avLst/>
          </a:prstGeom>
          <a:noFill/>
          <a:ln>
            <a:noFill/>
          </a:ln>
        </p:spPr>
        <p:txBody>
          <a:bodyPr spcFirstLastPara="1" wrap="square" lIns="0" tIns="0" rIns="0" bIns="0" anchor="t" anchorCtr="0">
            <a:spAutoFit/>
          </a:bodyPr>
          <a:lstStyle/>
          <a:p>
            <a:r>
              <a:rPr lang="en-US" sz="1600">
                <a:solidFill>
                  <a:srgbClr val="262626"/>
                </a:solidFill>
                <a:ea typeface="+mn-lt"/>
                <a:cs typeface="+mn-lt"/>
                <a:sym typeface="Arial"/>
              </a:rPr>
              <a:t>theory class</a:t>
            </a:r>
            <a:endParaRPr lang="id-ID"/>
          </a:p>
        </p:txBody>
      </p:sp>
      <p:sp>
        <p:nvSpPr>
          <p:cNvPr id="4" name="Google Shape;44;p1">
            <a:extLst>
              <a:ext uri="{FF2B5EF4-FFF2-40B4-BE49-F238E27FC236}">
                <a16:creationId xmlns:a16="http://schemas.microsoft.com/office/drawing/2014/main" id="{86AB5CAB-D85A-8D70-F3BB-0B2417CE4EF4}"/>
              </a:ext>
            </a:extLst>
          </p:cNvPr>
          <p:cNvSpPr txBox="1"/>
          <p:nvPr/>
        </p:nvSpPr>
        <p:spPr>
          <a:xfrm>
            <a:off x="1393825" y="1678968"/>
            <a:ext cx="6852222" cy="323165"/>
          </a:xfrm>
          <a:prstGeom prst="rect">
            <a:avLst/>
          </a:prstGeom>
          <a:noFill/>
          <a:ln>
            <a:noFill/>
          </a:ln>
        </p:spPr>
        <p:txBody>
          <a:bodyPr spcFirstLastPara="1" wrap="square" lIns="0" tIns="0" rIns="0" bIns="0" anchor="t" anchorCtr="0">
            <a:spAutoFit/>
          </a:bodyPr>
          <a:lstStyle/>
          <a:p>
            <a:r>
              <a:rPr lang="en-US" sz="2100" dirty="0">
                <a:solidFill>
                  <a:srgbClr val="404040"/>
                </a:solidFill>
                <a:cs typeface="Arial"/>
              </a:rPr>
              <a:t>Lecturer assistant </a:t>
            </a:r>
          </a:p>
        </p:txBody>
      </p:sp>
      <p:graphicFrame>
        <p:nvGraphicFramePr>
          <p:cNvPr id="3" name="Tabel 2">
            <a:extLst>
              <a:ext uri="{FF2B5EF4-FFF2-40B4-BE49-F238E27FC236}">
                <a16:creationId xmlns:a16="http://schemas.microsoft.com/office/drawing/2014/main" id="{87CAF397-197D-2FE9-965A-47B21E374E04}"/>
              </a:ext>
            </a:extLst>
          </p:cNvPr>
          <p:cNvGraphicFramePr>
            <a:graphicFrameLocks noGrp="1"/>
          </p:cNvGraphicFramePr>
          <p:nvPr>
            <p:extLst>
              <p:ext uri="{D42A27DB-BD31-4B8C-83A1-F6EECF244321}">
                <p14:modId xmlns:p14="http://schemas.microsoft.com/office/powerpoint/2010/main" val="1984420664"/>
              </p:ext>
            </p:extLst>
          </p:nvPr>
        </p:nvGraphicFramePr>
        <p:xfrm>
          <a:off x="1393185" y="2094492"/>
          <a:ext cx="6670768" cy="1341055"/>
        </p:xfrm>
        <a:graphic>
          <a:graphicData uri="http://schemas.openxmlformats.org/drawingml/2006/table">
            <a:tbl>
              <a:tblPr bandRow="1">
                <a:tableStyleId>{073A0DAA-6AF3-43AB-8588-CEC1D06C72B9}</a:tableStyleId>
              </a:tblPr>
              <a:tblGrid>
                <a:gridCol w="1667692">
                  <a:extLst>
                    <a:ext uri="{9D8B030D-6E8A-4147-A177-3AD203B41FA5}">
                      <a16:colId xmlns:a16="http://schemas.microsoft.com/office/drawing/2014/main" val="4229984380"/>
                    </a:ext>
                  </a:extLst>
                </a:gridCol>
                <a:gridCol w="1667692">
                  <a:extLst>
                    <a:ext uri="{9D8B030D-6E8A-4147-A177-3AD203B41FA5}">
                      <a16:colId xmlns:a16="http://schemas.microsoft.com/office/drawing/2014/main" val="2453884633"/>
                    </a:ext>
                  </a:extLst>
                </a:gridCol>
                <a:gridCol w="1667692">
                  <a:extLst>
                    <a:ext uri="{9D8B030D-6E8A-4147-A177-3AD203B41FA5}">
                      <a16:colId xmlns:a16="http://schemas.microsoft.com/office/drawing/2014/main" val="1791591465"/>
                    </a:ext>
                  </a:extLst>
                </a:gridCol>
                <a:gridCol w="1667692">
                  <a:extLst>
                    <a:ext uri="{9D8B030D-6E8A-4147-A177-3AD203B41FA5}">
                      <a16:colId xmlns:a16="http://schemas.microsoft.com/office/drawing/2014/main" val="193808870"/>
                    </a:ext>
                  </a:extLst>
                </a:gridCol>
              </a:tblGrid>
              <a:tr h="268211">
                <a:tc gridSpan="3">
                  <a:txBody>
                    <a:bodyPr/>
                    <a:lstStyle/>
                    <a:p>
                      <a:pPr lvl="0" algn="ctr">
                        <a:buNone/>
                      </a:pPr>
                      <a:r>
                        <a:rPr lang="id-ID" sz="1200" u="none" strike="noStrike" dirty="0">
                          <a:solidFill>
                            <a:schemeClr val="tx1"/>
                          </a:solidFill>
                          <a:effectLst/>
                          <a:latin typeface="Congenial Light"/>
                        </a:rPr>
                        <a:t>Dosen Pengampu dan </a:t>
                      </a:r>
                      <a:r>
                        <a:rPr lang="id-ID" sz="1200" u="none" strike="noStrike" err="1">
                          <a:solidFill>
                            <a:schemeClr val="tx1"/>
                          </a:solidFill>
                          <a:effectLst/>
                          <a:latin typeface="Congenial Light"/>
                        </a:rPr>
                        <a:t>Assistant</a:t>
                      </a:r>
                      <a:endParaRPr lang="id-ID" sz="1200" u="none" strike="noStrike" dirty="0">
                        <a:solidFill>
                          <a:schemeClr val="tx1"/>
                        </a:solidFill>
                        <a:effectLst/>
                        <a:latin typeface="Congenial Light"/>
                      </a:endParaRPr>
                    </a:p>
                  </a:txBody>
                  <a:tcPr marL="9525" marR="9525" marT="9525" marB="0" anchor="b"/>
                </a:tc>
                <a:tc hMerge="1">
                  <a:txBody>
                    <a:bodyPr/>
                    <a:lstStyle/>
                    <a:p>
                      <a:endParaRPr lang="id-ID"/>
                    </a:p>
                  </a:txBody>
                  <a:tcPr marL="9524" marR="9524" marT="9524" marB="0" anchor="b"/>
                </a:tc>
                <a:tc hMerge="1">
                  <a:txBody>
                    <a:bodyPr/>
                    <a:lstStyle/>
                    <a:p>
                      <a:endParaRPr lang="id-ID"/>
                    </a:p>
                  </a:txBody>
                  <a:tcPr marL="0" marR="0" marT="0" marB="0" horzOverflow="overflow"/>
                </a:tc>
                <a:tc>
                  <a:txBody>
                    <a:bodyPr/>
                    <a:lstStyle/>
                    <a:p>
                      <a:pPr lvl="0" algn="ctr">
                        <a:buNone/>
                      </a:pPr>
                      <a:r>
                        <a:rPr lang="id-ID" sz="1200" u="none" strike="noStrike" dirty="0">
                          <a:solidFill>
                            <a:schemeClr val="tx1"/>
                          </a:solidFill>
                          <a:effectLst/>
                          <a:latin typeface="Congenial Light"/>
                        </a:rPr>
                        <a:t>Kontak </a:t>
                      </a:r>
                    </a:p>
                  </a:txBody>
                  <a:tcPr marL="9524" marR="9524" marT="9524" marB="0" anchor="b"/>
                </a:tc>
                <a:extLst>
                  <a:ext uri="{0D108BD9-81ED-4DB2-BD59-A6C34878D82A}">
                    <a16:rowId xmlns:a16="http://schemas.microsoft.com/office/drawing/2014/main" val="3171843274"/>
                  </a:ext>
                </a:extLst>
              </a:tr>
              <a:tr h="268211">
                <a:tc>
                  <a:txBody>
                    <a:bodyPr/>
                    <a:lstStyle/>
                    <a:p>
                      <a:pPr algn="l" fontAlgn="b"/>
                      <a:r>
                        <a:rPr lang="id-ID" sz="1200" u="none" strike="noStrike" dirty="0">
                          <a:solidFill>
                            <a:srgbClr val="000000"/>
                          </a:solidFill>
                          <a:effectLst/>
                          <a:latin typeface="Congenial Light"/>
                        </a:rPr>
                        <a:t>SE 48 01 </a:t>
                      </a:r>
                    </a:p>
                  </a:txBody>
                  <a:tcPr marL="9525" marR="9525" marT="9525" marB="0" anchor="b"/>
                </a:tc>
                <a:tc>
                  <a:txBody>
                    <a:bodyPr/>
                    <a:lstStyle/>
                    <a:p>
                      <a:pPr lvl="0" algn="l">
                        <a:buNone/>
                      </a:pPr>
                      <a:r>
                        <a:rPr lang="id-ID" sz="1200" u="none" strike="noStrike" dirty="0">
                          <a:solidFill>
                            <a:srgbClr val="000000"/>
                          </a:solidFill>
                          <a:effectLst/>
                          <a:latin typeface="Congenial Light"/>
                        </a:rPr>
                        <a:t>SMS</a:t>
                      </a:r>
                    </a:p>
                  </a:txBody>
                  <a:tcPr marL="9524" marR="9524" marT="9524" marB="0" anchor="b"/>
                </a:tc>
                <a:tc>
                  <a:txBody>
                    <a:bodyPr/>
                    <a:lstStyle/>
                    <a:p>
                      <a:pPr lvl="0" algn="r">
                        <a:buNone/>
                      </a:pPr>
                      <a:endParaRPr lang="id-ID" sz="1200" u="none" strike="noStrike" dirty="0">
                        <a:solidFill>
                          <a:srgbClr val="000000"/>
                        </a:solidFill>
                        <a:effectLst/>
                        <a:latin typeface="Congenial Light"/>
                      </a:endParaRPr>
                    </a:p>
                  </a:txBody>
                  <a:tcPr marL="9525" marR="9525" marT="9525" marB="0" anchor="b"/>
                </a:tc>
                <a:tc>
                  <a:txBody>
                    <a:bodyPr/>
                    <a:lstStyle/>
                    <a:p>
                      <a:pPr lvl="0" algn="r">
                        <a:buNone/>
                      </a:pPr>
                      <a:endParaRPr lang="id-ID" sz="1200" u="none" strike="noStrike" dirty="0">
                        <a:solidFill>
                          <a:srgbClr val="000000"/>
                        </a:solidFill>
                        <a:effectLst/>
                        <a:latin typeface="Congenial Light"/>
                      </a:endParaRPr>
                    </a:p>
                  </a:txBody>
                  <a:tcPr marL="9524" marR="9524" marT="9524" marB="0" anchor="b"/>
                </a:tc>
                <a:extLst>
                  <a:ext uri="{0D108BD9-81ED-4DB2-BD59-A6C34878D82A}">
                    <a16:rowId xmlns:a16="http://schemas.microsoft.com/office/drawing/2014/main" val="3771914986"/>
                  </a:ext>
                </a:extLst>
              </a:tr>
              <a:tr h="268211">
                <a:tc>
                  <a:txBody>
                    <a:bodyPr/>
                    <a:lstStyle/>
                    <a:p>
                      <a:pPr algn="l" fontAlgn="b"/>
                      <a:r>
                        <a:rPr lang="id-ID" sz="1200" u="none" strike="noStrike" dirty="0">
                          <a:solidFill>
                            <a:srgbClr val="000000"/>
                          </a:solidFill>
                          <a:effectLst/>
                          <a:latin typeface="Congenial Light"/>
                        </a:rPr>
                        <a:t>SE 48 02 </a:t>
                      </a:r>
                    </a:p>
                  </a:txBody>
                  <a:tcPr marL="9525" marR="9525" marT="9525" marB="0" anchor="b"/>
                </a:tc>
                <a:tc>
                  <a:txBody>
                    <a:bodyPr/>
                    <a:lstStyle/>
                    <a:p>
                      <a:pPr lvl="0" algn="l">
                        <a:buNone/>
                      </a:pPr>
                      <a:r>
                        <a:rPr lang="id-ID" sz="1200" u="none" strike="noStrike" dirty="0">
                          <a:solidFill>
                            <a:srgbClr val="000000"/>
                          </a:solidFill>
                          <a:effectLst/>
                          <a:latin typeface="Congenial Light"/>
                        </a:rPr>
                        <a:t>ZHH</a:t>
                      </a:r>
                    </a:p>
                  </a:txBody>
                  <a:tcPr marL="9524" marR="9524" marT="9524" marB="0" anchor="b"/>
                </a:tc>
                <a:tc>
                  <a:txBody>
                    <a:bodyPr/>
                    <a:lstStyle/>
                    <a:p>
                      <a:pPr algn="r" fontAlgn="b"/>
                      <a:r>
                        <a:rPr lang="id-ID" sz="1200" u="none" strike="noStrike" dirty="0">
                          <a:solidFill>
                            <a:srgbClr val="000000"/>
                          </a:solidFill>
                          <a:effectLst/>
                          <a:latin typeface="Congenial Light"/>
                        </a:rPr>
                        <a:t>Fadhilah</a:t>
                      </a:r>
                    </a:p>
                  </a:txBody>
                  <a:tcPr marL="9525" marR="9525" marT="9525" marB="0" anchor="b"/>
                </a:tc>
                <a:tc>
                  <a:txBody>
                    <a:bodyPr/>
                    <a:lstStyle/>
                    <a:p>
                      <a:pPr lvl="0" algn="r">
                        <a:buNone/>
                      </a:pPr>
                      <a:r>
                        <a:rPr lang="id-ID" sz="1200" b="0" i="0" u="none" strike="noStrike" noProof="0" dirty="0">
                          <a:solidFill>
                            <a:srgbClr val="000000"/>
                          </a:solidFill>
                          <a:effectLst/>
                        </a:rPr>
                        <a:t>+62 822-8474-3566</a:t>
                      </a:r>
                      <a:endParaRPr lang="id-ID" dirty="0"/>
                    </a:p>
                  </a:txBody>
                  <a:tcPr marL="9524" marR="9524" marT="9524" marB="0" anchor="b"/>
                </a:tc>
                <a:extLst>
                  <a:ext uri="{0D108BD9-81ED-4DB2-BD59-A6C34878D82A}">
                    <a16:rowId xmlns:a16="http://schemas.microsoft.com/office/drawing/2014/main" val="1000867958"/>
                  </a:ext>
                </a:extLst>
              </a:tr>
              <a:tr h="268211">
                <a:tc>
                  <a:txBody>
                    <a:bodyPr/>
                    <a:lstStyle/>
                    <a:p>
                      <a:pPr algn="l" fontAlgn="b"/>
                      <a:r>
                        <a:rPr lang="id-ID" sz="1200" u="none" strike="noStrike" dirty="0">
                          <a:solidFill>
                            <a:srgbClr val="000000"/>
                          </a:solidFill>
                          <a:effectLst/>
                          <a:latin typeface="Congenial Light"/>
                        </a:rPr>
                        <a:t>SE 48 03 </a:t>
                      </a:r>
                    </a:p>
                  </a:txBody>
                  <a:tcPr marL="9525" marR="9525" marT="9525" marB="0" anchor="b"/>
                </a:tc>
                <a:tc>
                  <a:txBody>
                    <a:bodyPr/>
                    <a:lstStyle/>
                    <a:p>
                      <a:pPr lvl="0" algn="l">
                        <a:buNone/>
                      </a:pPr>
                      <a:r>
                        <a:rPr lang="id-ID" sz="1200" u="none" strike="noStrike" dirty="0">
                          <a:solidFill>
                            <a:srgbClr val="000000"/>
                          </a:solidFill>
                          <a:effectLst/>
                          <a:latin typeface="Congenial Light"/>
                        </a:rPr>
                        <a:t>IGR</a:t>
                      </a:r>
                    </a:p>
                  </a:txBody>
                  <a:tcPr marL="9524" marR="9524" marT="9524" marB="0" anchor="b"/>
                </a:tc>
                <a:tc>
                  <a:txBody>
                    <a:bodyPr/>
                    <a:lstStyle/>
                    <a:p>
                      <a:pPr algn="r" fontAlgn="b"/>
                      <a:r>
                        <a:rPr lang="id-ID" sz="1200" u="none" strike="noStrike" dirty="0">
                          <a:solidFill>
                            <a:srgbClr val="000000"/>
                          </a:solidFill>
                          <a:effectLst/>
                          <a:latin typeface="Congenial Light"/>
                        </a:rPr>
                        <a:t>Bintang </a:t>
                      </a:r>
                    </a:p>
                  </a:txBody>
                  <a:tcPr marL="9525" marR="9525" marT="9525" marB="0" anchor="b"/>
                </a:tc>
                <a:tc>
                  <a:txBody>
                    <a:bodyPr/>
                    <a:lstStyle/>
                    <a:p>
                      <a:pPr lvl="0" algn="r">
                        <a:buNone/>
                      </a:pPr>
                      <a:r>
                        <a:rPr lang="id-ID" sz="1200" u="none" strike="noStrike" dirty="0">
                          <a:solidFill>
                            <a:srgbClr val="000000"/>
                          </a:solidFill>
                          <a:effectLst/>
                          <a:latin typeface="Congenial Light"/>
                        </a:rPr>
                        <a:t>+62 812 2199 4631</a:t>
                      </a:r>
                    </a:p>
                  </a:txBody>
                  <a:tcPr marL="9524" marR="9524" marT="9524" marB="0" anchor="b"/>
                </a:tc>
                <a:extLst>
                  <a:ext uri="{0D108BD9-81ED-4DB2-BD59-A6C34878D82A}">
                    <a16:rowId xmlns:a16="http://schemas.microsoft.com/office/drawing/2014/main" val="602378727"/>
                  </a:ext>
                </a:extLst>
              </a:tr>
              <a:tr h="268211">
                <a:tc>
                  <a:txBody>
                    <a:bodyPr/>
                    <a:lstStyle/>
                    <a:p>
                      <a:pPr algn="l" fontAlgn="b"/>
                      <a:r>
                        <a:rPr lang="id-ID" sz="1200" u="none" strike="noStrike" dirty="0">
                          <a:solidFill>
                            <a:srgbClr val="000000"/>
                          </a:solidFill>
                          <a:effectLst/>
                          <a:latin typeface="Congenial Light"/>
                        </a:rPr>
                        <a:t>SE 48 04 </a:t>
                      </a:r>
                    </a:p>
                  </a:txBody>
                  <a:tcPr marL="9525" marR="9525" marT="9525" marB="0" anchor="b"/>
                </a:tc>
                <a:tc>
                  <a:txBody>
                    <a:bodyPr/>
                    <a:lstStyle/>
                    <a:p>
                      <a:pPr lvl="0" algn="l">
                        <a:buNone/>
                      </a:pPr>
                      <a:r>
                        <a:rPr lang="id-ID" sz="1200" u="none" strike="noStrike" dirty="0">
                          <a:solidFill>
                            <a:srgbClr val="000000"/>
                          </a:solidFill>
                          <a:effectLst/>
                          <a:latin typeface="Congenial Light"/>
                        </a:rPr>
                        <a:t>ZHH</a:t>
                      </a:r>
                    </a:p>
                  </a:txBody>
                  <a:tcPr marL="9524" marR="9524" marT="9524" marB="0" anchor="b"/>
                </a:tc>
                <a:tc>
                  <a:txBody>
                    <a:bodyPr/>
                    <a:lstStyle/>
                    <a:p>
                      <a:pPr algn="r" fontAlgn="b"/>
                      <a:r>
                        <a:rPr lang="id-ID" sz="1200" u="none" strike="noStrike" dirty="0">
                          <a:solidFill>
                            <a:srgbClr val="000000"/>
                          </a:solidFill>
                          <a:effectLst/>
                          <a:latin typeface="Congenial Light"/>
                        </a:rPr>
                        <a:t>Novia</a:t>
                      </a:r>
                    </a:p>
                  </a:txBody>
                  <a:tcPr marL="9525" marR="9525" marT="9525" marB="0" anchor="b"/>
                </a:tc>
                <a:tc>
                  <a:txBody>
                    <a:bodyPr/>
                    <a:lstStyle/>
                    <a:p>
                      <a:pPr lvl="0" algn="r">
                        <a:buNone/>
                      </a:pPr>
                      <a:r>
                        <a:rPr lang="id-ID" sz="1200" b="0" i="0" u="none" strike="noStrike" noProof="0" dirty="0">
                          <a:solidFill>
                            <a:srgbClr val="000000"/>
                          </a:solidFill>
                          <a:effectLst/>
                        </a:rPr>
                        <a:t>+62 812-1998-9117</a:t>
                      </a:r>
                      <a:endParaRPr lang="id-ID" dirty="0"/>
                    </a:p>
                  </a:txBody>
                  <a:tcPr marL="9524" marR="9524" marT="9524" marB="0" anchor="b"/>
                </a:tc>
                <a:extLst>
                  <a:ext uri="{0D108BD9-81ED-4DB2-BD59-A6C34878D82A}">
                    <a16:rowId xmlns:a16="http://schemas.microsoft.com/office/drawing/2014/main" val="3119827854"/>
                  </a:ext>
                </a:extLst>
              </a:tr>
            </a:tbl>
          </a:graphicData>
        </a:graphic>
      </p:graphicFrame>
      <p:sp>
        <p:nvSpPr>
          <p:cNvPr id="2" name="Kotak Teks 1">
            <a:extLst>
              <a:ext uri="{FF2B5EF4-FFF2-40B4-BE49-F238E27FC236}">
                <a16:creationId xmlns:a16="http://schemas.microsoft.com/office/drawing/2014/main" id="{727BFEBA-F5DD-6EB3-18BA-2A33ADD8C015}"/>
              </a:ext>
            </a:extLst>
          </p:cNvPr>
          <p:cNvSpPr txBox="1"/>
          <p:nvPr/>
        </p:nvSpPr>
        <p:spPr>
          <a:xfrm>
            <a:off x="983078" y="4402267"/>
            <a:ext cx="656464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just"/>
            <a:r>
              <a:rPr lang="en-US" dirty="0">
                <a:ea typeface="+mn-lt"/>
                <a:cs typeface="+mn-lt"/>
              </a:rPr>
              <a:t>8 BAP </a:t>
            </a:r>
            <a:r>
              <a:rPr lang="en-US" dirty="0" err="1">
                <a:ea typeface="+mn-lt"/>
                <a:cs typeface="+mn-lt"/>
              </a:rPr>
              <a:t>ekuiv</a:t>
            </a:r>
            <a:r>
              <a:rPr lang="en-US" dirty="0">
                <a:ea typeface="+mn-lt"/>
                <a:cs typeface="+mn-lt"/>
              </a:rPr>
              <a:t> </a:t>
            </a:r>
            <a:endParaRPr lang="id-ID" dirty="0">
              <a:latin typeface="Arial"/>
              <a:cs typeface="Arial"/>
            </a:endParaRPr>
          </a:p>
          <a:p>
            <a:pPr lvl="1" algn="just">
              <a:buFont typeface="Arial"/>
              <a:buChar char="•"/>
            </a:pPr>
            <a:r>
              <a:rPr lang="en-US" dirty="0">
                <a:ea typeface="+mn-lt"/>
                <a:cs typeface="+mn-lt"/>
              </a:rPr>
              <a:t>    2x </a:t>
            </a:r>
            <a:r>
              <a:rPr lang="en-US" dirty="0" err="1">
                <a:ea typeface="+mn-lt"/>
                <a:cs typeface="+mn-lt"/>
              </a:rPr>
              <a:t>Koreksi</a:t>
            </a:r>
            <a:r>
              <a:rPr lang="en-US" dirty="0">
                <a:ea typeface="+mn-lt"/>
                <a:cs typeface="+mn-lt"/>
              </a:rPr>
              <a:t> Quiz </a:t>
            </a:r>
            <a:endParaRPr lang="en-US" dirty="0"/>
          </a:p>
          <a:p>
            <a:pPr lvl="1" algn="just">
              <a:buFont typeface="Arial"/>
              <a:buChar char="•"/>
            </a:pPr>
            <a:r>
              <a:rPr lang="en-US" dirty="0">
                <a:ea typeface="+mn-lt"/>
                <a:cs typeface="+mn-lt"/>
              </a:rPr>
              <a:t>    2x </a:t>
            </a:r>
            <a:r>
              <a:rPr lang="en-US" dirty="0" err="1">
                <a:ea typeface="+mn-lt"/>
                <a:cs typeface="+mn-lt"/>
              </a:rPr>
              <a:t>Mengawas</a:t>
            </a:r>
            <a:r>
              <a:rPr lang="en-US" dirty="0">
                <a:ea typeface="+mn-lt"/>
                <a:cs typeface="+mn-lt"/>
              </a:rPr>
              <a:t> Quiz </a:t>
            </a:r>
            <a:r>
              <a:rPr lang="en-US" dirty="0" err="1">
                <a:ea typeface="+mn-lt"/>
                <a:cs typeface="+mn-lt"/>
              </a:rPr>
              <a:t>Serentak</a:t>
            </a:r>
            <a:r>
              <a:rPr lang="en-US" dirty="0">
                <a:ea typeface="+mn-lt"/>
                <a:cs typeface="+mn-lt"/>
              </a:rPr>
              <a:t>  </a:t>
            </a:r>
            <a:endParaRPr lang="en-US" dirty="0"/>
          </a:p>
          <a:p>
            <a:pPr lvl="1" algn="just">
              <a:buFont typeface="Arial"/>
              <a:buChar char="•"/>
            </a:pPr>
            <a:r>
              <a:rPr lang="en-US" dirty="0">
                <a:ea typeface="+mn-lt"/>
                <a:cs typeface="+mn-lt"/>
              </a:rPr>
              <a:t>    3x </a:t>
            </a:r>
            <a:r>
              <a:rPr lang="en-US" dirty="0" err="1">
                <a:ea typeface="+mn-lt"/>
                <a:cs typeface="+mn-lt"/>
              </a:rPr>
              <a:t>Koreksi</a:t>
            </a:r>
            <a:r>
              <a:rPr lang="en-US" dirty="0">
                <a:ea typeface="+mn-lt"/>
                <a:cs typeface="+mn-lt"/>
              </a:rPr>
              <a:t> </a:t>
            </a:r>
            <a:r>
              <a:rPr lang="en-US" dirty="0" err="1">
                <a:ea typeface="+mn-lt"/>
                <a:cs typeface="+mn-lt"/>
              </a:rPr>
              <a:t>Tugas</a:t>
            </a:r>
            <a:r>
              <a:rPr lang="en-US" dirty="0">
                <a:ea typeface="+mn-lt"/>
                <a:cs typeface="+mn-lt"/>
              </a:rPr>
              <a:t> </a:t>
            </a:r>
            <a:r>
              <a:rPr lang="en-US" dirty="0" err="1">
                <a:ea typeface="+mn-lt"/>
                <a:cs typeface="+mn-lt"/>
              </a:rPr>
              <a:t>Individu</a:t>
            </a:r>
            <a:endParaRPr lang="en-US" dirty="0">
              <a:ea typeface="+mn-lt"/>
              <a:cs typeface="+mn-lt"/>
            </a:endParaRPr>
          </a:p>
          <a:p>
            <a:pPr lvl="1" algn="just">
              <a:buFont typeface="Arial"/>
              <a:buChar char="•"/>
            </a:pPr>
            <a:r>
              <a:rPr lang="en-US" dirty="0">
                <a:cs typeface="Arial"/>
              </a:rPr>
              <a:t>    3x </a:t>
            </a:r>
            <a:r>
              <a:rPr lang="en-US" dirty="0" err="1">
                <a:cs typeface="Arial"/>
              </a:rPr>
              <a:t>Penilaian</a:t>
            </a:r>
            <a:r>
              <a:rPr lang="en-US" dirty="0">
                <a:cs typeface="Arial"/>
              </a:rPr>
              <a:t> Progress Report</a:t>
            </a:r>
          </a:p>
        </p:txBody>
      </p:sp>
      <p:sp>
        <p:nvSpPr>
          <p:cNvPr id="5" name="Google Shape;44;p1">
            <a:extLst>
              <a:ext uri="{FF2B5EF4-FFF2-40B4-BE49-F238E27FC236}">
                <a16:creationId xmlns:a16="http://schemas.microsoft.com/office/drawing/2014/main" id="{EEF80986-BA80-3D9E-1CAF-7AA1D8B904FC}"/>
              </a:ext>
            </a:extLst>
          </p:cNvPr>
          <p:cNvSpPr txBox="1"/>
          <p:nvPr/>
        </p:nvSpPr>
        <p:spPr>
          <a:xfrm>
            <a:off x="1393824" y="3984590"/>
            <a:ext cx="6852222" cy="323165"/>
          </a:xfrm>
          <a:prstGeom prst="rect">
            <a:avLst/>
          </a:prstGeom>
          <a:noFill/>
          <a:ln>
            <a:noFill/>
          </a:ln>
        </p:spPr>
        <p:txBody>
          <a:bodyPr spcFirstLastPara="1" wrap="square" lIns="0" tIns="0" rIns="0" bIns="0" anchor="t" anchorCtr="0">
            <a:spAutoFit/>
          </a:bodyPr>
          <a:lstStyle/>
          <a:p>
            <a:r>
              <a:rPr lang="en-US" sz="2100" dirty="0">
                <a:solidFill>
                  <a:srgbClr val="404040"/>
                </a:solidFill>
                <a:cs typeface="Arial"/>
              </a:rPr>
              <a:t>Job Desk</a:t>
            </a:r>
            <a:endParaRPr lang="id-ID" dirty="0"/>
          </a:p>
        </p:txBody>
      </p:sp>
      <p:graphicFrame>
        <p:nvGraphicFramePr>
          <p:cNvPr id="10" name="Tabel 9">
            <a:extLst>
              <a:ext uri="{FF2B5EF4-FFF2-40B4-BE49-F238E27FC236}">
                <a16:creationId xmlns:a16="http://schemas.microsoft.com/office/drawing/2014/main" id="{C384FE0C-BBD0-A4BB-79DB-34398D93711A}"/>
              </a:ext>
            </a:extLst>
          </p:cNvPr>
          <p:cNvGraphicFramePr>
            <a:graphicFrameLocks noGrp="1"/>
          </p:cNvGraphicFramePr>
          <p:nvPr>
            <p:extLst>
              <p:ext uri="{D42A27DB-BD31-4B8C-83A1-F6EECF244321}">
                <p14:modId xmlns:p14="http://schemas.microsoft.com/office/powerpoint/2010/main" val="554239240"/>
              </p:ext>
            </p:extLst>
          </p:nvPr>
        </p:nvGraphicFramePr>
        <p:xfrm>
          <a:off x="4738750" y="2383216"/>
          <a:ext cx="3335388" cy="266529"/>
        </p:xfrm>
        <a:graphic>
          <a:graphicData uri="http://schemas.openxmlformats.org/drawingml/2006/table">
            <a:tbl>
              <a:tblPr bandRow="1">
                <a:tableStyleId>{5C22544A-7EE6-4342-B048-85BDC9FD1C3A}</a:tableStyleId>
              </a:tblPr>
              <a:tblGrid>
                <a:gridCol w="1667694">
                  <a:extLst>
                    <a:ext uri="{9D8B030D-6E8A-4147-A177-3AD203B41FA5}">
                      <a16:colId xmlns:a16="http://schemas.microsoft.com/office/drawing/2014/main" val="2695255426"/>
                    </a:ext>
                  </a:extLst>
                </a:gridCol>
                <a:gridCol w="1667694">
                  <a:extLst>
                    <a:ext uri="{9D8B030D-6E8A-4147-A177-3AD203B41FA5}">
                      <a16:colId xmlns:a16="http://schemas.microsoft.com/office/drawing/2014/main" val="58907178"/>
                    </a:ext>
                  </a:extLst>
                </a:gridCol>
              </a:tblGrid>
              <a:tr h="266529">
                <a:tc>
                  <a:txBody>
                    <a:bodyPr/>
                    <a:lstStyle/>
                    <a:p>
                      <a:pPr algn="r" rtl="0" fontAlgn="base">
                        <a:lnSpc>
                          <a:spcPts val="1350"/>
                        </a:lnSpc>
                        <a:buNone/>
                      </a:pPr>
                      <a:r>
                        <a:rPr lang="id-ID" sz="1200" b="0" i="0" u="none" strike="noStrike">
                          <a:solidFill>
                            <a:srgbClr val="000000"/>
                          </a:solidFill>
                          <a:effectLst/>
                          <a:latin typeface="Congenial Light" panose="02000503040000020004" pitchFamily="2" charset="0"/>
                        </a:rPr>
                        <a:t>Fadhilah</a:t>
                      </a:r>
                      <a:endParaRPr lang="id-ID" b="0" i="0">
                        <a:solidFill>
                          <a:srgbClr val="000000"/>
                        </a:solidFill>
                        <a:effectLst/>
                      </a:endParaRPr>
                    </a:p>
                  </a:txBody>
                  <a:tcPr marL="8849" marR="8849" marT="8849" anchor="b">
                    <a:lnL w="11792" cap="flat" cmpd="sng" algn="ctr">
                      <a:solidFill>
                        <a:srgbClr val="FFFFFF"/>
                      </a:solidFill>
                      <a:prstDash val="solid"/>
                      <a:round/>
                      <a:headEnd type="none" w="med" len="med"/>
                      <a:tailEnd type="none" w="med" len="med"/>
                    </a:lnL>
                    <a:lnR w="11792" cap="flat" cmpd="sng" algn="ctr">
                      <a:solidFill>
                        <a:srgbClr val="FFFFFF"/>
                      </a:solidFill>
                      <a:prstDash val="solid"/>
                      <a:round/>
                      <a:headEnd type="none" w="med" len="med"/>
                      <a:tailEnd type="none" w="med" len="med"/>
                    </a:lnR>
                    <a:lnT w="11792" cap="flat" cmpd="sng" algn="ctr">
                      <a:solidFill>
                        <a:srgbClr val="FFFFFF"/>
                      </a:solidFill>
                      <a:prstDash val="solid"/>
                      <a:round/>
                      <a:headEnd type="none" w="med" len="med"/>
                      <a:tailEnd type="none" w="med" len="med"/>
                    </a:lnT>
                    <a:lnB w="11792" cap="flat" cmpd="sng" algn="ctr">
                      <a:solidFill>
                        <a:srgbClr val="FFFFFF"/>
                      </a:solidFill>
                      <a:prstDash val="solid"/>
                      <a:round/>
                      <a:headEnd type="none" w="med" len="med"/>
                      <a:tailEnd type="none" w="med" len="med"/>
                    </a:lnB>
                    <a:noFill/>
                  </a:tcPr>
                </a:tc>
                <a:tc>
                  <a:txBody>
                    <a:bodyPr/>
                    <a:lstStyle/>
                    <a:p>
                      <a:pPr algn="r" rtl="0" fontAlgn="base">
                        <a:lnSpc>
                          <a:spcPts val="1350"/>
                        </a:lnSpc>
                        <a:buNone/>
                      </a:pPr>
                      <a:r>
                        <a:rPr lang="id-ID" sz="1200" b="0" i="0" u="none" strike="noStrike">
                          <a:solidFill>
                            <a:srgbClr val="000000"/>
                          </a:solidFill>
                          <a:effectLst/>
                          <a:latin typeface="Arial" panose="020B0604020202020204" pitchFamily="34" charset="0"/>
                        </a:rPr>
                        <a:t>+62 822-8474-3566</a:t>
                      </a:r>
                      <a:endParaRPr lang="id-ID" b="0" i="0">
                        <a:solidFill>
                          <a:srgbClr val="000000"/>
                        </a:solidFill>
                        <a:effectLst/>
                      </a:endParaRPr>
                    </a:p>
                  </a:txBody>
                  <a:tcPr marL="8849" marR="8849" marT="8849" anchor="b">
                    <a:lnL w="11792" cap="flat" cmpd="sng" algn="ctr">
                      <a:solidFill>
                        <a:srgbClr val="FFFFFF"/>
                      </a:solidFill>
                      <a:prstDash val="solid"/>
                      <a:round/>
                      <a:headEnd type="none" w="med" len="med"/>
                      <a:tailEnd type="none" w="med" len="med"/>
                    </a:lnL>
                    <a:lnR w="11792" cap="flat" cmpd="sng" algn="ctr">
                      <a:solidFill>
                        <a:srgbClr val="FFFFFF"/>
                      </a:solidFill>
                      <a:prstDash val="solid"/>
                      <a:round/>
                      <a:headEnd type="none" w="med" len="med"/>
                      <a:tailEnd type="none" w="med" len="med"/>
                    </a:lnR>
                    <a:lnT w="11792" cap="flat" cmpd="sng" algn="ctr">
                      <a:solidFill>
                        <a:srgbClr val="FFFFFF"/>
                      </a:solidFill>
                      <a:prstDash val="solid"/>
                      <a:round/>
                      <a:headEnd type="none" w="med" len="med"/>
                      <a:tailEnd type="none" w="med" len="med"/>
                    </a:lnT>
                    <a:lnB w="11792"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887153051"/>
                  </a:ext>
                </a:extLst>
              </a:tr>
            </a:tbl>
          </a:graphicData>
        </a:graphic>
      </p:graphicFrame>
    </p:spTree>
    <p:extLst>
      <p:ext uri="{BB962C8B-B14F-4D97-AF65-F5344CB8AC3E}">
        <p14:creationId xmlns:p14="http://schemas.microsoft.com/office/powerpoint/2010/main" val="3876710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2;p1">
            <a:extLst>
              <a:ext uri="{FF2B5EF4-FFF2-40B4-BE49-F238E27FC236}">
                <a16:creationId xmlns:a16="http://schemas.microsoft.com/office/drawing/2014/main" id="{87BAD896-B89D-0132-7B7C-93A3FA4410C5}"/>
              </a:ext>
            </a:extLst>
          </p:cNvPr>
          <p:cNvSpPr txBox="1"/>
          <p:nvPr/>
        </p:nvSpPr>
        <p:spPr>
          <a:xfrm>
            <a:off x="1393798" y="837614"/>
            <a:ext cx="4887912" cy="508000"/>
          </a:xfrm>
          <a:prstGeom prst="rect">
            <a:avLst/>
          </a:prstGeom>
          <a:noFill/>
          <a:ln>
            <a:noFill/>
          </a:ln>
        </p:spPr>
        <p:txBody>
          <a:bodyPr spcFirstLastPara="1" wrap="square" lIns="0" tIns="0" rIns="0" bIns="0" anchor="t" anchorCtr="0">
            <a:spAutoFit/>
          </a:bodyPr>
          <a:lstStyle/>
          <a:p>
            <a:r>
              <a:rPr lang="en-US" sz="3300" b="1" dirty="0">
                <a:solidFill>
                  <a:srgbClr val="262626"/>
                </a:solidFill>
                <a:latin typeface="Arial"/>
                <a:cs typeface="Arial"/>
                <a:sym typeface="Arial"/>
              </a:rPr>
              <a:t>Let's Start</a:t>
            </a:r>
            <a:endParaRPr lang="id-ID" dirty="0"/>
          </a:p>
        </p:txBody>
      </p:sp>
    </p:spTree>
    <p:extLst>
      <p:ext uri="{BB962C8B-B14F-4D97-AF65-F5344CB8AC3E}">
        <p14:creationId xmlns:p14="http://schemas.microsoft.com/office/powerpoint/2010/main" val="1774326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3"/>
          <p:cNvSpPr txBox="1"/>
          <p:nvPr/>
        </p:nvSpPr>
        <p:spPr>
          <a:xfrm>
            <a:off x="1285875" y="803275"/>
            <a:ext cx="4640262" cy="50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C5003D"/>
              </a:buClr>
              <a:buSzPts val="3300"/>
              <a:buFont typeface="Arial"/>
              <a:buNone/>
            </a:pPr>
            <a:r>
              <a:rPr lang="en-US" sz="3300" b="1" i="0" u="none">
                <a:solidFill>
                  <a:srgbClr val="C5003D"/>
                </a:solidFill>
                <a:latin typeface="Arial"/>
                <a:ea typeface="Arial"/>
                <a:cs typeface="Arial"/>
                <a:sym typeface="Arial"/>
              </a:rPr>
              <a:t>Apa itu Programming?</a:t>
            </a:r>
            <a:endParaRPr/>
          </a:p>
        </p:txBody>
      </p:sp>
      <p:sp>
        <p:nvSpPr>
          <p:cNvPr id="58" name="Google Shape;58;p3"/>
          <p:cNvSpPr txBox="1"/>
          <p:nvPr/>
        </p:nvSpPr>
        <p:spPr>
          <a:xfrm>
            <a:off x="201612" y="803275"/>
            <a:ext cx="1030287" cy="663575"/>
          </a:xfrm>
          <a:prstGeom prst="rect">
            <a:avLst/>
          </a:prstGeom>
          <a:noFill/>
          <a:ln>
            <a:noFill/>
          </a:ln>
        </p:spPr>
        <p:txBody>
          <a:bodyPr spcFirstLastPara="1" wrap="square" lIns="86450" tIns="43225" rIns="86450" bIns="43225" anchor="t" anchorCtr="0">
            <a:noAutofit/>
          </a:bodyPr>
          <a:lstStyle/>
          <a:p>
            <a:pPr marL="0" marR="0" lvl="0" indent="0" algn="ctr" rtl="0">
              <a:lnSpc>
                <a:spcPct val="100000"/>
              </a:lnSpc>
              <a:spcBef>
                <a:spcPts val="0"/>
              </a:spcBef>
              <a:spcAft>
                <a:spcPts val="0"/>
              </a:spcAft>
              <a:buClr>
                <a:schemeClr val="lt1"/>
              </a:buClr>
              <a:buSzPts val="2800"/>
              <a:buFont typeface="Arial"/>
              <a:buNone/>
            </a:pPr>
            <a:r>
              <a:rPr lang="en-US" sz="2800" b="1" i="0" u="none">
                <a:solidFill>
                  <a:schemeClr val="lt1"/>
                </a:solidFill>
                <a:latin typeface="Arial"/>
                <a:ea typeface="Arial"/>
                <a:cs typeface="Arial"/>
                <a:sym typeface="Arial"/>
              </a:rPr>
              <a:t>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6"/>
          <p:cNvSpPr txBox="1"/>
          <p:nvPr/>
        </p:nvSpPr>
        <p:spPr>
          <a:xfrm>
            <a:off x="123825" y="49212"/>
            <a:ext cx="3935412"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300"/>
              <a:buFont typeface="Arial"/>
              <a:buNone/>
            </a:pPr>
            <a:r>
              <a:rPr lang="en-US" sz="2300" b="1" i="0" u="none">
                <a:solidFill>
                  <a:schemeClr val="lt1"/>
                </a:solidFill>
                <a:latin typeface="Arial"/>
                <a:ea typeface="Arial"/>
                <a:cs typeface="Arial"/>
                <a:sym typeface="Arial"/>
              </a:rPr>
              <a:t>Apa itu programming?</a:t>
            </a:r>
            <a:endParaRPr/>
          </a:p>
        </p:txBody>
      </p:sp>
      <p:sp>
        <p:nvSpPr>
          <p:cNvPr id="108" name="Google Shape;108;p6"/>
          <p:cNvSpPr txBox="1"/>
          <p:nvPr/>
        </p:nvSpPr>
        <p:spPr>
          <a:xfrm>
            <a:off x="1227137" y="2246312"/>
            <a:ext cx="6689725" cy="2549525"/>
          </a:xfrm>
          <a:prstGeom prst="rect">
            <a:avLst/>
          </a:prstGeom>
          <a:noFill/>
          <a:ln>
            <a:noFill/>
          </a:ln>
        </p:spPr>
        <p:txBody>
          <a:bodyPr spcFirstLastPara="1" wrap="square" lIns="86450" tIns="43225" rIns="86450" bIns="43225" anchor="t" anchorCtr="0">
            <a:spAutoFit/>
          </a:bodyPr>
          <a:lstStyle/>
          <a:p>
            <a:pPr marL="266700" marR="0" lvl="0" indent="-266700" algn="ctr" rtl="0">
              <a:lnSpc>
                <a:spcPct val="100000"/>
              </a:lnSpc>
              <a:spcBef>
                <a:spcPts val="0"/>
              </a:spcBef>
              <a:spcAft>
                <a:spcPts val="0"/>
              </a:spcAft>
              <a:buClr>
                <a:schemeClr val="dk1"/>
              </a:buClr>
              <a:buSzPts val="4000"/>
              <a:buFont typeface="Arial"/>
              <a:buNone/>
            </a:pPr>
            <a:r>
              <a:rPr lang="en-US" sz="4000" b="1" i="0" u="none">
                <a:solidFill>
                  <a:schemeClr val="dk1"/>
                </a:solidFill>
                <a:latin typeface="Arial"/>
                <a:ea typeface="Arial"/>
                <a:cs typeface="Arial"/>
                <a:sym typeface="Arial"/>
              </a:rPr>
              <a:t>Programing adalah program proses penulisan menggunakan Bahasa komputer.</a:t>
            </a:r>
            <a:endParaRPr/>
          </a:p>
        </p:txBody>
      </p:sp>
    </p:spTree>
    <p:extLst>
      <p:ext uri="{BB962C8B-B14F-4D97-AF65-F5344CB8AC3E}">
        <p14:creationId xmlns:p14="http://schemas.microsoft.com/office/powerpoint/2010/main" val="3128823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7"/>
          <p:cNvSpPr txBox="1"/>
          <p:nvPr/>
        </p:nvSpPr>
        <p:spPr>
          <a:xfrm>
            <a:off x="1285875" y="803275"/>
            <a:ext cx="6061075" cy="50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C5003D"/>
              </a:buClr>
              <a:buSzPts val="3300"/>
              <a:buFont typeface="Arial"/>
              <a:buNone/>
            </a:pPr>
            <a:r>
              <a:rPr lang="en-US" sz="3300" b="1" i="0" u="none">
                <a:solidFill>
                  <a:srgbClr val="C5003D"/>
                </a:solidFill>
                <a:latin typeface="Arial"/>
                <a:ea typeface="Arial"/>
                <a:cs typeface="Arial"/>
                <a:sym typeface="Arial"/>
              </a:rPr>
              <a:t>Istilah yang harus diketahui</a:t>
            </a:r>
            <a:endParaRPr/>
          </a:p>
        </p:txBody>
      </p:sp>
      <p:sp>
        <p:nvSpPr>
          <p:cNvPr id="115" name="Google Shape;115;p7"/>
          <p:cNvSpPr txBox="1"/>
          <p:nvPr/>
        </p:nvSpPr>
        <p:spPr>
          <a:xfrm>
            <a:off x="201612" y="803275"/>
            <a:ext cx="1030287" cy="663575"/>
          </a:xfrm>
          <a:prstGeom prst="rect">
            <a:avLst/>
          </a:prstGeom>
          <a:noFill/>
          <a:ln>
            <a:noFill/>
          </a:ln>
        </p:spPr>
        <p:txBody>
          <a:bodyPr spcFirstLastPara="1" wrap="square" lIns="86450" tIns="43225" rIns="86450" bIns="43225" anchor="t" anchorCtr="0">
            <a:noAutofit/>
          </a:bodyPr>
          <a:lstStyle/>
          <a:p>
            <a:pPr marL="0" marR="0" lvl="0" indent="0" algn="ctr" rtl="0">
              <a:lnSpc>
                <a:spcPct val="100000"/>
              </a:lnSpc>
              <a:spcBef>
                <a:spcPts val="0"/>
              </a:spcBef>
              <a:spcAft>
                <a:spcPts val="0"/>
              </a:spcAft>
              <a:buClr>
                <a:schemeClr val="lt1"/>
              </a:buClr>
              <a:buSzPts val="2800"/>
              <a:buFont typeface="Arial"/>
              <a:buNone/>
            </a:pPr>
            <a:r>
              <a:rPr lang="en-US" sz="2800" b="1" i="0" u="none">
                <a:solidFill>
                  <a:schemeClr val="lt1"/>
                </a:solidFill>
                <a:latin typeface="Arial"/>
                <a:ea typeface="Arial"/>
                <a:cs typeface="Arial"/>
                <a:sym typeface="Arial"/>
              </a:rPr>
              <a:t>1.2</a:t>
            </a:r>
            <a:endParaRPr/>
          </a:p>
        </p:txBody>
      </p:sp>
      <p:cxnSp>
        <p:nvCxnSpPr>
          <p:cNvPr id="116" name="Google Shape;116;p7"/>
          <p:cNvCxnSpPr/>
          <p:nvPr/>
        </p:nvCxnSpPr>
        <p:spPr>
          <a:xfrm>
            <a:off x="0" y="1466850"/>
            <a:ext cx="1231900" cy="0"/>
          </a:xfrm>
          <a:prstGeom prst="straightConnector1">
            <a:avLst/>
          </a:prstGeom>
          <a:noFill/>
          <a:ln w="38100" cap="flat" cmpd="sng">
            <a:solidFill>
              <a:schemeClr val="lt1"/>
            </a:solidFill>
            <a:prstDash val="solid"/>
            <a:miter lim="800000"/>
            <a:headEnd type="none" w="med" len="med"/>
            <a:tailEnd type="none" w="med" len="med"/>
          </a:ln>
        </p:spPr>
      </p:cxnSp>
      <p:cxnSp>
        <p:nvCxnSpPr>
          <p:cNvPr id="117" name="Google Shape;117;p7"/>
          <p:cNvCxnSpPr/>
          <p:nvPr/>
        </p:nvCxnSpPr>
        <p:spPr>
          <a:xfrm>
            <a:off x="1271587" y="1466850"/>
            <a:ext cx="4319587" cy="0"/>
          </a:xfrm>
          <a:prstGeom prst="straightConnector1">
            <a:avLst/>
          </a:prstGeom>
          <a:noFill/>
          <a:ln w="38100" cap="flat" cmpd="sng">
            <a:solidFill>
              <a:srgbClr val="404040"/>
            </a:solidFill>
            <a:prstDash val="solid"/>
            <a:miter lim="800000"/>
            <a:headEnd type="none" w="med" len="med"/>
            <a:tailEnd type="none" w="med" len="med"/>
          </a:ln>
        </p:spPr>
      </p:cxnSp>
    </p:spTree>
    <p:extLst>
      <p:ext uri="{BB962C8B-B14F-4D97-AF65-F5344CB8AC3E}">
        <p14:creationId xmlns:p14="http://schemas.microsoft.com/office/powerpoint/2010/main" val="3627938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9"/>
          <p:cNvSpPr txBox="1"/>
          <p:nvPr/>
        </p:nvSpPr>
        <p:spPr>
          <a:xfrm>
            <a:off x="123825" y="49212"/>
            <a:ext cx="5407025"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1600"/>
              <a:buFont typeface="Arial"/>
              <a:buNone/>
            </a:pPr>
            <a:r>
              <a:rPr lang="en-US" sz="1600" b="1" i="0" u="none">
                <a:solidFill>
                  <a:schemeClr val="lt1"/>
                </a:solidFill>
                <a:latin typeface="Arial"/>
                <a:ea typeface="Arial"/>
                <a:cs typeface="Arial"/>
                <a:sym typeface="Arial"/>
              </a:rPr>
              <a:t>Mulai dari penulisan hingga menjalankan program</a:t>
            </a:r>
            <a:endParaRPr/>
          </a:p>
        </p:txBody>
      </p:sp>
      <p:sp>
        <p:nvSpPr>
          <p:cNvPr id="138" name="Google Shape;138;p9"/>
          <p:cNvSpPr/>
          <p:nvPr/>
        </p:nvSpPr>
        <p:spPr>
          <a:xfrm>
            <a:off x="350837" y="1160462"/>
            <a:ext cx="8442325" cy="2954337"/>
          </a:xfrm>
          <a:prstGeom prst="roundRect">
            <a:avLst>
              <a:gd name="adj" fmla="val 1940"/>
            </a:avLst>
          </a:prstGeom>
          <a:noFill/>
          <a:ln w="25400" cap="flat" cmpd="sng">
            <a:solidFill>
              <a:srgbClr val="C5003D"/>
            </a:solidFill>
            <a:prstDash val="solid"/>
            <a:miter lim="800000"/>
            <a:headEnd type="none" w="sm" len="sm"/>
            <a:tailEnd type="none" w="sm" len="sm"/>
          </a:ln>
        </p:spPr>
        <p:txBody>
          <a:bodyPr spcFirstLastPara="1" wrap="square" lIns="136150" tIns="102100" rIns="136150" bIns="1021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pic>
        <p:nvPicPr>
          <p:cNvPr id="139" name="Google Shape;139;p9" descr="Man Red icon"/>
          <p:cNvPicPr preferRelativeResize="0"/>
          <p:nvPr/>
        </p:nvPicPr>
        <p:blipFill rotWithShape="1">
          <a:blip r:embed="rId3">
            <a:alphaModFix/>
          </a:blip>
          <a:srcRect/>
          <a:stretch/>
        </p:blipFill>
        <p:spPr>
          <a:xfrm>
            <a:off x="231775" y="1436687"/>
            <a:ext cx="2438400" cy="2438400"/>
          </a:xfrm>
          <a:prstGeom prst="rect">
            <a:avLst/>
          </a:prstGeom>
          <a:noFill/>
          <a:ln>
            <a:noFill/>
          </a:ln>
        </p:spPr>
      </p:pic>
      <p:pic>
        <p:nvPicPr>
          <p:cNvPr id="140" name="Google Shape;140;p9" descr="run icon"/>
          <p:cNvPicPr preferRelativeResize="0"/>
          <p:nvPr/>
        </p:nvPicPr>
        <p:blipFill rotWithShape="1">
          <a:blip r:embed="rId4">
            <a:alphaModFix/>
          </a:blip>
          <a:srcRect/>
          <a:stretch/>
        </p:blipFill>
        <p:spPr>
          <a:xfrm>
            <a:off x="6996112" y="1931987"/>
            <a:ext cx="1608137" cy="1608137"/>
          </a:xfrm>
          <a:prstGeom prst="rect">
            <a:avLst/>
          </a:prstGeom>
          <a:noFill/>
          <a:ln>
            <a:noFill/>
          </a:ln>
        </p:spPr>
      </p:pic>
      <p:grpSp>
        <p:nvGrpSpPr>
          <p:cNvPr id="141" name="Google Shape;141;p9"/>
          <p:cNvGrpSpPr/>
          <p:nvPr/>
        </p:nvGrpSpPr>
        <p:grpSpPr>
          <a:xfrm>
            <a:off x="2413000" y="1627187"/>
            <a:ext cx="1109662" cy="960437"/>
            <a:chOff x="888513" y="1912126"/>
            <a:chExt cx="1656250" cy="1432183"/>
          </a:xfrm>
        </p:grpSpPr>
        <p:pic>
          <p:nvPicPr>
            <p:cNvPr id="142" name="Google Shape;142;p9" descr="Mimetypes source java icon"/>
            <p:cNvPicPr preferRelativeResize="0"/>
            <p:nvPr/>
          </p:nvPicPr>
          <p:blipFill rotWithShape="1">
            <a:blip r:embed="rId5">
              <a:alphaModFix/>
            </a:blip>
            <a:srcRect/>
            <a:stretch/>
          </p:blipFill>
          <p:spPr>
            <a:xfrm>
              <a:off x="1325563" y="1912126"/>
              <a:ext cx="1219200" cy="1219201"/>
            </a:xfrm>
            <a:prstGeom prst="rect">
              <a:avLst/>
            </a:prstGeom>
            <a:noFill/>
            <a:ln>
              <a:noFill/>
            </a:ln>
          </p:spPr>
        </p:pic>
        <p:pic>
          <p:nvPicPr>
            <p:cNvPr id="143" name="Google Shape;143;p9" descr="File Types Text Document Default icon"/>
            <p:cNvPicPr preferRelativeResize="0"/>
            <p:nvPr/>
          </p:nvPicPr>
          <p:blipFill rotWithShape="1">
            <a:blip r:embed="rId6">
              <a:alphaModFix/>
            </a:blip>
            <a:srcRect/>
            <a:stretch/>
          </p:blipFill>
          <p:spPr>
            <a:xfrm>
              <a:off x="888513" y="2125109"/>
              <a:ext cx="1219201" cy="1219200"/>
            </a:xfrm>
            <a:prstGeom prst="rect">
              <a:avLst/>
            </a:prstGeom>
            <a:noFill/>
            <a:ln>
              <a:noFill/>
            </a:ln>
          </p:spPr>
        </p:pic>
      </p:grpSp>
      <p:grpSp>
        <p:nvGrpSpPr>
          <p:cNvPr id="144" name="Google Shape;144;p9"/>
          <p:cNvGrpSpPr/>
          <p:nvPr/>
        </p:nvGrpSpPr>
        <p:grpSpPr>
          <a:xfrm>
            <a:off x="5543550" y="1625600"/>
            <a:ext cx="1123950" cy="958850"/>
            <a:chOff x="3773866" y="1912126"/>
            <a:chExt cx="1714232" cy="1465265"/>
          </a:xfrm>
        </p:grpSpPr>
        <p:pic>
          <p:nvPicPr>
            <p:cNvPr id="145" name="Google Shape;145;p9" descr="Mimetype binary icon"/>
            <p:cNvPicPr preferRelativeResize="0"/>
            <p:nvPr/>
          </p:nvPicPr>
          <p:blipFill rotWithShape="1">
            <a:blip r:embed="rId7">
              <a:alphaModFix/>
            </a:blip>
            <a:srcRect/>
            <a:stretch/>
          </p:blipFill>
          <p:spPr>
            <a:xfrm>
              <a:off x="4268898" y="1912126"/>
              <a:ext cx="1219200" cy="1219201"/>
            </a:xfrm>
            <a:prstGeom prst="rect">
              <a:avLst/>
            </a:prstGeom>
            <a:noFill/>
            <a:ln>
              <a:noFill/>
            </a:ln>
          </p:spPr>
        </p:pic>
        <p:pic>
          <p:nvPicPr>
            <p:cNvPr id="146" name="Google Shape;146;p9" descr="File Types Text Document Default icon"/>
            <p:cNvPicPr preferRelativeResize="0"/>
            <p:nvPr/>
          </p:nvPicPr>
          <p:blipFill rotWithShape="1">
            <a:blip r:embed="rId6">
              <a:alphaModFix/>
            </a:blip>
            <a:srcRect/>
            <a:stretch/>
          </p:blipFill>
          <p:spPr>
            <a:xfrm>
              <a:off x="3773866" y="2158189"/>
              <a:ext cx="1219197" cy="1219202"/>
            </a:xfrm>
            <a:prstGeom prst="rect">
              <a:avLst/>
            </a:prstGeom>
            <a:noFill/>
            <a:ln>
              <a:noFill/>
            </a:ln>
          </p:spPr>
        </p:pic>
      </p:grpSp>
      <p:pic>
        <p:nvPicPr>
          <p:cNvPr id="147" name="Google Shape;147;p9" descr="robot screen settings icon"/>
          <p:cNvPicPr preferRelativeResize="0"/>
          <p:nvPr/>
        </p:nvPicPr>
        <p:blipFill rotWithShape="1">
          <a:blip r:embed="rId8">
            <a:alphaModFix/>
          </a:blip>
          <a:srcRect/>
          <a:stretch/>
        </p:blipFill>
        <p:spPr>
          <a:xfrm>
            <a:off x="3868737" y="1925637"/>
            <a:ext cx="1482725" cy="1482725"/>
          </a:xfrm>
          <a:prstGeom prst="rect">
            <a:avLst/>
          </a:prstGeom>
          <a:noFill/>
          <a:ln>
            <a:noFill/>
          </a:ln>
        </p:spPr>
      </p:pic>
      <p:sp>
        <p:nvSpPr>
          <p:cNvPr id="148" name="Google Shape;148;p9"/>
          <p:cNvSpPr/>
          <p:nvPr/>
        </p:nvSpPr>
        <p:spPr>
          <a:xfrm>
            <a:off x="2392362" y="2532062"/>
            <a:ext cx="1233487" cy="409575"/>
          </a:xfrm>
          <a:prstGeom prst="rightArrow">
            <a:avLst>
              <a:gd name="adj1" fmla="val 17284"/>
              <a:gd name="adj2" fmla="val 50000"/>
            </a:avLst>
          </a:prstGeom>
          <a:solidFill>
            <a:srgbClr val="FCD5B5"/>
          </a:solidFill>
          <a:ln w="25400" cap="flat" cmpd="sng">
            <a:solidFill>
              <a:srgbClr val="E46C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149" name="Google Shape;149;p9"/>
          <p:cNvSpPr/>
          <p:nvPr/>
        </p:nvSpPr>
        <p:spPr>
          <a:xfrm>
            <a:off x="5530850" y="2532062"/>
            <a:ext cx="1233487" cy="409575"/>
          </a:xfrm>
          <a:prstGeom prst="rightArrow">
            <a:avLst>
              <a:gd name="adj1" fmla="val 17284"/>
              <a:gd name="adj2" fmla="val 50000"/>
            </a:avLst>
          </a:prstGeom>
          <a:solidFill>
            <a:srgbClr val="FCD5B5"/>
          </a:solidFill>
          <a:ln w="25400" cap="flat" cmpd="sng">
            <a:solidFill>
              <a:srgbClr val="E46C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150" name="Google Shape;150;p9"/>
          <p:cNvSpPr txBox="1"/>
          <p:nvPr/>
        </p:nvSpPr>
        <p:spPr>
          <a:xfrm>
            <a:off x="2222500" y="2974975"/>
            <a:ext cx="1571625" cy="646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1" i="0" u="none">
                <a:solidFill>
                  <a:schemeClr val="dk1"/>
                </a:solidFill>
                <a:latin typeface="Arial"/>
                <a:ea typeface="Arial"/>
                <a:cs typeface="Arial"/>
                <a:sym typeface="Arial"/>
              </a:rPr>
              <a:t>Source Code</a:t>
            </a:r>
            <a:endParaRPr/>
          </a:p>
          <a:p>
            <a:pPr marL="0" marR="0" lvl="0" indent="0" algn="ctr" rtl="0">
              <a:lnSpc>
                <a:spcPct val="100000"/>
              </a:lnSpc>
              <a:spcBef>
                <a:spcPts val="0"/>
              </a:spcBef>
              <a:spcAft>
                <a:spcPts val="0"/>
              </a:spcAft>
              <a:buClr>
                <a:schemeClr val="dk1"/>
              </a:buClr>
              <a:buSzPts val="1800"/>
              <a:buFont typeface="Arial"/>
              <a:buNone/>
            </a:pPr>
            <a:r>
              <a:rPr lang="en-US" sz="1800" b="1" i="0" u="none">
                <a:solidFill>
                  <a:schemeClr val="dk1"/>
                </a:solidFill>
                <a:latin typeface="Arial"/>
                <a:ea typeface="Arial"/>
                <a:cs typeface="Arial"/>
                <a:sym typeface="Arial"/>
              </a:rPr>
              <a:t>XXX.java</a:t>
            </a:r>
            <a:endParaRPr/>
          </a:p>
        </p:txBody>
      </p:sp>
      <p:sp>
        <p:nvSpPr>
          <p:cNvPr id="151" name="Google Shape;151;p9"/>
          <p:cNvSpPr txBox="1"/>
          <p:nvPr/>
        </p:nvSpPr>
        <p:spPr>
          <a:xfrm>
            <a:off x="5378450" y="2974975"/>
            <a:ext cx="1536700" cy="646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1" i="0" u="none">
                <a:solidFill>
                  <a:schemeClr val="dk1"/>
                </a:solidFill>
                <a:latin typeface="Arial"/>
                <a:ea typeface="Arial"/>
                <a:cs typeface="Arial"/>
                <a:sym typeface="Arial"/>
              </a:rPr>
              <a:t>Native Code</a:t>
            </a:r>
            <a:endParaRPr/>
          </a:p>
          <a:p>
            <a:pPr marL="0" marR="0" lvl="0" indent="0" algn="ctr" rtl="0">
              <a:lnSpc>
                <a:spcPct val="100000"/>
              </a:lnSpc>
              <a:spcBef>
                <a:spcPts val="0"/>
              </a:spcBef>
              <a:spcAft>
                <a:spcPts val="0"/>
              </a:spcAft>
              <a:buClr>
                <a:schemeClr val="dk1"/>
              </a:buClr>
              <a:buSzPts val="1800"/>
              <a:buFont typeface="Arial"/>
              <a:buNone/>
            </a:pPr>
            <a:r>
              <a:rPr lang="en-US" sz="1800" b="1" i="0" u="none">
                <a:solidFill>
                  <a:schemeClr val="dk1"/>
                </a:solidFill>
                <a:latin typeface="Arial"/>
                <a:ea typeface="Arial"/>
                <a:cs typeface="Arial"/>
                <a:sym typeface="Arial"/>
              </a:rPr>
              <a:t>XXX.class</a:t>
            </a:r>
            <a:endParaRPr/>
          </a:p>
        </p:txBody>
      </p:sp>
      <p:sp>
        <p:nvSpPr>
          <p:cNvPr id="152" name="Google Shape;152;p9"/>
          <p:cNvSpPr txBox="1"/>
          <p:nvPr/>
        </p:nvSpPr>
        <p:spPr>
          <a:xfrm>
            <a:off x="350837" y="4298950"/>
            <a:ext cx="8442325" cy="2111375"/>
          </a:xfrm>
          <a:prstGeom prst="rect">
            <a:avLst/>
          </a:prstGeom>
          <a:noFill/>
          <a:ln>
            <a:noFill/>
          </a:ln>
        </p:spPr>
        <p:txBody>
          <a:bodyPr spcFirstLastPara="1" wrap="square" lIns="86450" tIns="43225" rIns="86450" bIns="43225" anchor="t" anchorCtr="0">
            <a:spAutoFit/>
          </a:bodyPr>
          <a:lstStyle/>
          <a:p>
            <a:pPr marL="269875" marR="0" lvl="0" indent="-269875" algn="l" rtl="0">
              <a:lnSpc>
                <a:spcPct val="150000"/>
              </a:lnSpc>
              <a:spcBef>
                <a:spcPts val="0"/>
              </a:spcBef>
              <a:spcAft>
                <a:spcPts val="0"/>
              </a:spcAft>
              <a:buClr>
                <a:schemeClr val="dk1"/>
              </a:buClr>
              <a:buSzPts val="1800"/>
              <a:buFont typeface="Noto Sans Symbols"/>
              <a:buChar char="⮚"/>
            </a:pPr>
            <a:r>
              <a:rPr lang="en-US" sz="1800" b="0" i="0" u="none">
                <a:solidFill>
                  <a:schemeClr val="dk1"/>
                </a:solidFill>
                <a:latin typeface="Arial"/>
                <a:ea typeface="Arial"/>
                <a:cs typeface="Arial"/>
                <a:sym typeface="Arial"/>
              </a:rPr>
              <a:t>Source Code : kode program yang ditulis kedalam Bahasa pemrograman tertentu.</a:t>
            </a:r>
            <a:endParaRPr/>
          </a:p>
          <a:p>
            <a:pPr marL="269875" marR="0" lvl="0" indent="-269875" algn="l" rtl="0">
              <a:lnSpc>
                <a:spcPct val="150000"/>
              </a:lnSpc>
              <a:spcBef>
                <a:spcPts val="0"/>
              </a:spcBef>
              <a:spcAft>
                <a:spcPts val="0"/>
              </a:spcAft>
              <a:buClr>
                <a:schemeClr val="dk1"/>
              </a:buClr>
              <a:buSzPts val="1800"/>
              <a:buFont typeface="Noto Sans Symbols"/>
              <a:buChar char="⮚"/>
            </a:pPr>
            <a:r>
              <a:rPr lang="en-US" sz="1800" b="0" i="0" u="none">
                <a:solidFill>
                  <a:schemeClr val="dk1"/>
                </a:solidFill>
                <a:latin typeface="Arial"/>
                <a:ea typeface="Arial"/>
                <a:cs typeface="Arial"/>
                <a:sym typeface="Arial"/>
              </a:rPr>
              <a:t>Native Code : Kode yang bisa dipahami Komputer.</a:t>
            </a:r>
            <a:endParaRPr/>
          </a:p>
          <a:p>
            <a:pPr marL="269875" marR="0" lvl="0" indent="-269875" algn="l" rtl="0">
              <a:lnSpc>
                <a:spcPct val="150000"/>
              </a:lnSpc>
              <a:spcBef>
                <a:spcPts val="0"/>
              </a:spcBef>
              <a:spcAft>
                <a:spcPts val="0"/>
              </a:spcAft>
              <a:buClr>
                <a:schemeClr val="dk1"/>
              </a:buClr>
              <a:buSzPts val="1800"/>
              <a:buFont typeface="Noto Sans Symbols"/>
              <a:buChar char="⮚"/>
            </a:pPr>
            <a:r>
              <a:rPr lang="en-US" sz="1800" b="0" i="0" u="none">
                <a:solidFill>
                  <a:schemeClr val="dk1"/>
                </a:solidFill>
                <a:latin typeface="Arial"/>
                <a:ea typeface="Arial"/>
                <a:cs typeface="Arial"/>
                <a:sym typeface="Arial"/>
              </a:rPr>
              <a:t>Compile : membuat kode Bahasa mesin bekerja di komputer</a:t>
            </a:r>
            <a:endParaRPr/>
          </a:p>
          <a:p>
            <a:pPr marL="269875" marR="0" lvl="0" indent="-269875" algn="l" rtl="0">
              <a:lnSpc>
                <a:spcPct val="150000"/>
              </a:lnSpc>
              <a:spcBef>
                <a:spcPts val="0"/>
              </a:spcBef>
              <a:spcAft>
                <a:spcPts val="0"/>
              </a:spcAft>
              <a:buClr>
                <a:schemeClr val="dk1"/>
              </a:buClr>
              <a:buSzPts val="1800"/>
              <a:buFont typeface="Noto Sans Symbols"/>
              <a:buChar char="⮚"/>
            </a:pPr>
            <a:r>
              <a:rPr lang="en-US" sz="1800" b="0" i="0" u="none">
                <a:solidFill>
                  <a:schemeClr val="dk1"/>
                </a:solidFill>
                <a:latin typeface="Arial"/>
                <a:ea typeface="Arial"/>
                <a:cs typeface="Arial"/>
                <a:sym typeface="Arial"/>
              </a:rPr>
              <a:t>Run : Membuat kode mesin bekerja di komputer</a:t>
            </a:r>
            <a:endParaRPr/>
          </a:p>
        </p:txBody>
      </p:sp>
    </p:spTree>
    <p:extLst>
      <p:ext uri="{BB962C8B-B14F-4D97-AF65-F5344CB8AC3E}">
        <p14:creationId xmlns:p14="http://schemas.microsoft.com/office/powerpoint/2010/main" val="3265894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5">
            <a:extLst>
              <a:ext uri="{FF2B5EF4-FFF2-40B4-BE49-F238E27FC236}">
                <a16:creationId xmlns:a16="http://schemas.microsoft.com/office/drawing/2014/main" id="{786DA1EB-5F0F-F74A-E886-20F207568CE1}"/>
              </a:ext>
            </a:extLst>
          </p:cNvPr>
          <p:cNvSpPr>
            <a:spLocks/>
          </p:cNvSpPr>
          <p:nvPr/>
        </p:nvSpPr>
        <p:spPr bwMode="auto">
          <a:xfrm>
            <a:off x="123825" y="49213"/>
            <a:ext cx="44862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ID" altLang="ko-KR" sz="2300" b="1">
                <a:solidFill>
                  <a:schemeClr val="bg1"/>
                </a:solidFill>
                <a:latin typeface="LG스마트체2.0 Regular" pitchFamily="50" charset="-127"/>
                <a:ea typeface="LG스마트체2.0 Regular" pitchFamily="50" charset="-127"/>
              </a:rPr>
              <a:t>Cara kerja Java</a:t>
            </a:r>
            <a:endParaRPr kumimoji="0" lang="en-US" altLang="ko-KR" sz="2300" b="1">
              <a:solidFill>
                <a:schemeClr val="bg1"/>
              </a:solidFill>
              <a:latin typeface="LG스마트체2.0 Regular" pitchFamily="50" charset="-127"/>
              <a:ea typeface="LG스마트체2.0 Regular" pitchFamily="50" charset="-127"/>
            </a:endParaRPr>
          </a:p>
        </p:txBody>
      </p:sp>
      <p:graphicFrame>
        <p:nvGraphicFramePr>
          <p:cNvPr id="4" name="표 3">
            <a:extLst>
              <a:ext uri="{FF2B5EF4-FFF2-40B4-BE49-F238E27FC236}">
                <a16:creationId xmlns:a16="http://schemas.microsoft.com/office/drawing/2014/main" id="{A5BA3995-1949-A6D0-FC7D-CC243CB4C79A}"/>
              </a:ext>
            </a:extLst>
          </p:cNvPr>
          <p:cNvGraphicFramePr>
            <a:graphicFrameLocks noGrp="1"/>
          </p:cNvGraphicFramePr>
          <p:nvPr/>
        </p:nvGraphicFramePr>
        <p:xfrm>
          <a:off x="339725" y="1060450"/>
          <a:ext cx="8453440" cy="5684850"/>
        </p:xfrm>
        <a:graphic>
          <a:graphicData uri="http://schemas.openxmlformats.org/drawingml/2006/table">
            <a:tbl>
              <a:tblPr firstRow="1" bandRow="1">
                <a:tableStyleId>{5940675A-B579-460E-94D1-54222C63F5DA}</a:tableStyleId>
              </a:tblPr>
              <a:tblGrid>
                <a:gridCol w="2113360">
                  <a:extLst>
                    <a:ext uri="{9D8B030D-6E8A-4147-A177-3AD203B41FA5}">
                      <a16:colId xmlns:a16="http://schemas.microsoft.com/office/drawing/2014/main" val="20000"/>
                    </a:ext>
                  </a:extLst>
                </a:gridCol>
                <a:gridCol w="2113360">
                  <a:extLst>
                    <a:ext uri="{9D8B030D-6E8A-4147-A177-3AD203B41FA5}">
                      <a16:colId xmlns:a16="http://schemas.microsoft.com/office/drawing/2014/main" val="20001"/>
                    </a:ext>
                  </a:extLst>
                </a:gridCol>
                <a:gridCol w="2113360">
                  <a:extLst>
                    <a:ext uri="{9D8B030D-6E8A-4147-A177-3AD203B41FA5}">
                      <a16:colId xmlns:a16="http://schemas.microsoft.com/office/drawing/2014/main" val="20002"/>
                    </a:ext>
                  </a:extLst>
                </a:gridCol>
                <a:gridCol w="2113360">
                  <a:extLst>
                    <a:ext uri="{9D8B030D-6E8A-4147-A177-3AD203B41FA5}">
                      <a16:colId xmlns:a16="http://schemas.microsoft.com/office/drawing/2014/main" val="20003"/>
                    </a:ext>
                  </a:extLst>
                </a:gridCol>
              </a:tblGrid>
              <a:tr h="1692240">
                <a:tc>
                  <a:txBody>
                    <a:bodyPr/>
                    <a:lstStyle/>
                    <a:p>
                      <a:pPr latinLnBrk="1"/>
                      <a:endParaRPr lang="ko-KR" altLang="en-US" sz="1500">
                        <a:latin typeface="LG스마트체2.0 Regular" panose="020B0600000101010101" pitchFamily="50" charset="-127"/>
                        <a:ea typeface="LG스마트체2.0 Regular" panose="020B0600000101010101" pitchFamily="50" charset="-127"/>
                      </a:endParaRPr>
                    </a:p>
                  </a:txBody>
                  <a:tcPr marL="91438" marR="91438" marT="43497" marB="4349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latinLnBrk="1"/>
                      <a:endParaRPr lang="ko-KR" altLang="en-US" sz="1500">
                        <a:latin typeface="LG스마트체2.0 Regular" panose="020B0600000101010101" pitchFamily="50" charset="-127"/>
                        <a:ea typeface="LG스마트체2.0 Regular" panose="020B0600000101010101" pitchFamily="50" charset="-127"/>
                      </a:endParaRPr>
                    </a:p>
                  </a:txBody>
                  <a:tcPr marL="91438" marR="91438" marT="43497" marB="4349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latinLnBrk="1"/>
                      <a:endParaRPr lang="ko-KR" altLang="en-US" sz="1500">
                        <a:latin typeface="LG스마트체2.0 Regular" panose="020B0600000101010101" pitchFamily="50" charset="-127"/>
                        <a:ea typeface="LG스마트체2.0 Regular" panose="020B0600000101010101" pitchFamily="50" charset="-127"/>
                      </a:endParaRPr>
                    </a:p>
                  </a:txBody>
                  <a:tcPr marL="91438" marR="91438" marT="43497" marB="4349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latinLnBrk="1"/>
                      <a:endParaRPr lang="ko-KR" altLang="en-US" sz="1500">
                        <a:latin typeface="LG스마트체2.0 Regular" panose="020B0600000101010101" pitchFamily="50" charset="-127"/>
                        <a:ea typeface="LG스마트체2.0 Regular" panose="020B0600000101010101" pitchFamily="50" charset="-127"/>
                      </a:endParaRPr>
                    </a:p>
                  </a:txBody>
                  <a:tcPr marL="91438" marR="91438" marT="43497" marB="4349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000"/>
                  </a:ext>
                </a:extLst>
              </a:tr>
              <a:tr h="352800">
                <a:tc>
                  <a:txBody>
                    <a:bodyPr/>
                    <a:lstStyle/>
                    <a:p>
                      <a:pPr algn="ctr" latinLnBrk="1"/>
                      <a:r>
                        <a:rPr lang="en-US" altLang="ko-KR" sz="1500" b="1">
                          <a:solidFill>
                            <a:srgbClr val="C5003D"/>
                          </a:solidFill>
                          <a:latin typeface="LG스마트체2.0 Regular" panose="020B0600000101010101" pitchFamily="50" charset="-127"/>
                          <a:ea typeface="LG스마트체2.0 Regular" panose="020B0600000101010101" pitchFamily="50" charset="-127"/>
                        </a:rPr>
                        <a:t>Step 1.</a:t>
                      </a:r>
                      <a:endParaRPr lang="ko-KR" altLang="en-US" sz="1500" b="1">
                        <a:solidFill>
                          <a:srgbClr val="C5003D"/>
                        </a:solidFill>
                        <a:latin typeface="LG스마트체2.0 Regular" panose="020B0600000101010101" pitchFamily="50" charset="-127"/>
                        <a:ea typeface="LG스마트체2.0 Regular" panose="020B0600000101010101" pitchFamily="50" charset="-127"/>
                      </a:endParaRPr>
                    </a:p>
                  </a:txBody>
                  <a:tcPr marL="91438" marR="91438" marT="43497" marB="43497">
                    <a:lnB w="12700" cap="flat" cmpd="sng" algn="ctr">
                      <a:noFill/>
                      <a:prstDash val="solid"/>
                      <a:round/>
                      <a:headEnd type="none" w="med" len="med"/>
                      <a:tailEnd type="none" w="med" len="med"/>
                    </a:lnB>
                  </a:tcPr>
                </a:tc>
                <a:tc>
                  <a:txBody>
                    <a:bodyPr/>
                    <a:lstStyle/>
                    <a:p>
                      <a:pPr algn="ctr" latinLnBrk="1"/>
                      <a:r>
                        <a:rPr lang="en-US" altLang="ko-KR" sz="1500" b="1">
                          <a:solidFill>
                            <a:srgbClr val="C5003D"/>
                          </a:solidFill>
                          <a:latin typeface="LG스마트체2.0 Regular" panose="020B0600000101010101" pitchFamily="50" charset="-127"/>
                          <a:ea typeface="LG스마트체2.0 Regular" panose="020B0600000101010101" pitchFamily="50" charset="-127"/>
                        </a:rPr>
                        <a:t>Step 2.</a:t>
                      </a:r>
                      <a:endParaRPr lang="ko-KR" altLang="en-US" sz="1500" b="1">
                        <a:solidFill>
                          <a:srgbClr val="C5003D"/>
                        </a:solidFill>
                        <a:latin typeface="LG스마트체2.0 Regular" panose="020B0600000101010101" pitchFamily="50" charset="-127"/>
                        <a:ea typeface="LG스마트체2.0 Regular" panose="020B0600000101010101" pitchFamily="50" charset="-127"/>
                      </a:endParaRPr>
                    </a:p>
                  </a:txBody>
                  <a:tcPr marL="91438" marR="91438" marT="43497" marB="43497">
                    <a:lnB w="12700" cap="flat" cmpd="sng" algn="ctr">
                      <a:noFill/>
                      <a:prstDash val="solid"/>
                      <a:round/>
                      <a:headEnd type="none" w="med" len="med"/>
                      <a:tailEnd type="none" w="med" len="med"/>
                    </a:lnB>
                  </a:tcPr>
                </a:tc>
                <a:tc>
                  <a:txBody>
                    <a:bodyPr/>
                    <a:lstStyle/>
                    <a:p>
                      <a:pPr algn="ctr" latinLnBrk="1"/>
                      <a:r>
                        <a:rPr lang="en-US" altLang="ko-KR" sz="1500" b="1">
                          <a:solidFill>
                            <a:srgbClr val="C5003D"/>
                          </a:solidFill>
                          <a:latin typeface="LG스마트체2.0 Regular" panose="020B0600000101010101" pitchFamily="50" charset="-127"/>
                          <a:ea typeface="LG스마트체2.0 Regular" panose="020B0600000101010101" pitchFamily="50" charset="-127"/>
                        </a:rPr>
                        <a:t>Step 3.</a:t>
                      </a:r>
                      <a:endParaRPr lang="ko-KR" altLang="en-US" sz="1500" b="1">
                        <a:solidFill>
                          <a:srgbClr val="C5003D"/>
                        </a:solidFill>
                        <a:latin typeface="LG스마트체2.0 Regular" panose="020B0600000101010101" pitchFamily="50" charset="-127"/>
                        <a:ea typeface="LG스마트체2.0 Regular" panose="020B0600000101010101" pitchFamily="50" charset="-127"/>
                      </a:endParaRPr>
                    </a:p>
                  </a:txBody>
                  <a:tcPr marL="91438" marR="91438" marT="43497" marB="43497">
                    <a:lnB w="12700" cap="flat" cmpd="sng" algn="ctr">
                      <a:noFill/>
                      <a:prstDash val="solid"/>
                      <a:round/>
                      <a:headEnd type="none" w="med" len="med"/>
                      <a:tailEnd type="none" w="med" len="med"/>
                    </a:lnB>
                  </a:tcPr>
                </a:tc>
                <a:tc>
                  <a:txBody>
                    <a:bodyPr/>
                    <a:lstStyle/>
                    <a:p>
                      <a:pPr algn="ctr" latinLnBrk="1"/>
                      <a:r>
                        <a:rPr lang="en-US" altLang="ko-KR" sz="1500" b="1">
                          <a:solidFill>
                            <a:srgbClr val="C5003D"/>
                          </a:solidFill>
                          <a:latin typeface="LG스마트체2.0 Regular" panose="020B0600000101010101" pitchFamily="50" charset="-127"/>
                          <a:ea typeface="LG스마트체2.0 Regular" panose="020B0600000101010101" pitchFamily="50" charset="-127"/>
                        </a:rPr>
                        <a:t>Step 4.</a:t>
                      </a:r>
                      <a:endParaRPr lang="ko-KR" altLang="en-US" sz="1500" b="1">
                        <a:solidFill>
                          <a:srgbClr val="C5003D"/>
                        </a:solidFill>
                        <a:latin typeface="LG스마트체2.0 Regular" panose="020B0600000101010101" pitchFamily="50" charset="-127"/>
                        <a:ea typeface="LG스마트체2.0 Regular" panose="020B0600000101010101" pitchFamily="50" charset="-127"/>
                      </a:endParaRPr>
                    </a:p>
                  </a:txBody>
                  <a:tcPr marL="91438" marR="91438" marT="43497" marB="43497">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864231">
                <a:tc>
                  <a:txBody>
                    <a:bodyPr/>
                    <a:lstStyle/>
                    <a:p>
                      <a:pPr algn="ctr" latinLnBrk="1"/>
                      <a:r>
                        <a:rPr lang="en-US" altLang="ko-KR" sz="1500" b="1" err="1">
                          <a:latin typeface="LG스마트체2.0 Regular" panose="020B0600000101010101" pitchFamily="50" charset="-127"/>
                          <a:ea typeface="LG스마트체2.0 Regular" panose="020B0600000101010101" pitchFamily="50" charset="-127"/>
                        </a:rPr>
                        <a:t>Membuat</a:t>
                      </a:r>
                      <a:r>
                        <a:rPr lang="en-US" altLang="ko-KR" sz="1500" b="1">
                          <a:latin typeface="LG스마트체2.0 Regular" panose="020B0600000101010101" pitchFamily="50" charset="-127"/>
                          <a:ea typeface="LG스마트체2.0 Regular" panose="020B0600000101010101" pitchFamily="50" charset="-127"/>
                        </a:rPr>
                        <a:t> source code</a:t>
                      </a:r>
                    </a:p>
                    <a:p>
                      <a:pPr algn="ctr" latinLnBrk="1"/>
                      <a:r>
                        <a:rPr lang="en-US" altLang="ko-KR" sz="1500" b="1">
                          <a:latin typeface="LG스마트체2.0 Regular" panose="020B0600000101010101" pitchFamily="50" charset="-127"/>
                          <a:ea typeface="LG스마트체2.0 Regular" panose="020B0600000101010101" pitchFamily="50" charset="-127"/>
                        </a:rPr>
                        <a:t>(</a:t>
                      </a:r>
                      <a:r>
                        <a:rPr lang="en-ID" altLang="ko-KR" sz="1500" b="1" err="1">
                          <a:latin typeface="LG스마트체2.0 Regular" panose="020B0600000101010101" pitchFamily="50" charset="-127"/>
                          <a:ea typeface="LG스마트체2.0 Regular" panose="020B0600000101010101" pitchFamily="50" charset="-127"/>
                        </a:rPr>
                        <a:t>nama</a:t>
                      </a:r>
                      <a:r>
                        <a:rPr lang="ko-KR" altLang="en-US" sz="1500" b="1">
                          <a:latin typeface="LG스마트체2.0 Regular" panose="020B0600000101010101" pitchFamily="50" charset="-127"/>
                          <a:ea typeface="LG스마트체2.0 Regular" panose="020B0600000101010101" pitchFamily="50" charset="-127"/>
                        </a:rPr>
                        <a:t> </a:t>
                      </a:r>
                      <a:r>
                        <a:rPr lang="en-ID" altLang="ko-KR" sz="1500" b="1">
                          <a:latin typeface="LG스마트체2.0 Regular" panose="020B0600000101010101" pitchFamily="50" charset="-127"/>
                          <a:ea typeface="LG스마트체2.0 Regular" panose="020B0600000101010101" pitchFamily="50" charset="-127"/>
                        </a:rPr>
                        <a:t>file</a:t>
                      </a:r>
                      <a:r>
                        <a:rPr lang="en-US" altLang="ko-KR" sz="1500" b="1">
                          <a:latin typeface="LG스마트체2.0 Regular" panose="020B0600000101010101" pitchFamily="50" charset="-127"/>
                          <a:ea typeface="LG스마트체2.0 Regular" panose="020B0600000101010101" pitchFamily="50" charset="-127"/>
                        </a:rPr>
                        <a:t>.java)</a:t>
                      </a:r>
                    </a:p>
                    <a:p>
                      <a:pPr algn="ctr" latinLnBrk="1"/>
                      <a:endParaRPr lang="ko-KR" altLang="en-US" sz="600" b="1">
                        <a:latin typeface="LG스마트체2.0 Regular" panose="020B0600000101010101" pitchFamily="50" charset="-127"/>
                        <a:ea typeface="LG스마트체2.0 Regular" panose="020B0600000101010101" pitchFamily="50" charset="-127"/>
                      </a:endParaRPr>
                    </a:p>
                  </a:txBody>
                  <a:tcPr marL="91438" marR="91438" marT="43497" marB="43497">
                    <a:lnT w="12700" cap="flat" cmpd="sng" algn="ctr">
                      <a:noFill/>
                      <a:prstDash val="solid"/>
                      <a:round/>
                      <a:headEnd type="none" w="med" len="med"/>
                      <a:tailEnd type="none" w="med" len="med"/>
                    </a:lnT>
                  </a:tcPr>
                </a:tc>
                <a:tc>
                  <a:txBody>
                    <a:bodyPr/>
                    <a:lstStyle/>
                    <a:p>
                      <a:pPr algn="ctr" latinLnBrk="1"/>
                      <a:r>
                        <a:rPr lang="en-US" altLang="ko-KR" sz="1500" b="1">
                          <a:latin typeface="LG스마트체2.0 Regular" panose="020B0600000101010101" pitchFamily="50" charset="-127"/>
                          <a:ea typeface="LG스마트체2.0 Regular" panose="020B0600000101010101" pitchFamily="50" charset="-127"/>
                        </a:rPr>
                        <a:t>Compile source code Java</a:t>
                      </a:r>
                      <a:endParaRPr lang="ko-KR" altLang="en-US" sz="1500" b="1">
                        <a:latin typeface="LG스마트체2.0 Regular" panose="020B0600000101010101" pitchFamily="50" charset="-127"/>
                        <a:ea typeface="LG스마트체2.0 Regular" panose="020B0600000101010101" pitchFamily="50" charset="-127"/>
                      </a:endParaRPr>
                    </a:p>
                  </a:txBody>
                  <a:tcPr marL="91438" marR="91438" marT="43497" marB="43497">
                    <a:lnT w="12700" cap="flat" cmpd="sng" algn="ctr">
                      <a:noFill/>
                      <a:prstDash val="solid"/>
                      <a:round/>
                      <a:headEnd type="none" w="med" len="med"/>
                      <a:tailEnd type="none" w="med" len="med"/>
                    </a:lnT>
                  </a:tcPr>
                </a:tc>
                <a:tc>
                  <a:txBody>
                    <a:bodyPr/>
                    <a:lstStyle/>
                    <a:p>
                      <a:pPr algn="ctr" latinLnBrk="1"/>
                      <a:r>
                        <a:rPr lang="en-US" altLang="ko-KR" sz="1500" b="1">
                          <a:latin typeface="LG스마트체2.0 Regular" panose="020B0600000101010101" pitchFamily="50" charset="-127"/>
                          <a:ea typeface="LG스마트체2.0 Regular" panose="020B0600000101010101" pitchFamily="50" charset="-127"/>
                        </a:rPr>
                        <a:t>Java </a:t>
                      </a:r>
                      <a:r>
                        <a:rPr lang="en-ID" altLang="ko-KR" sz="1500" b="1">
                          <a:latin typeface="LG스마트체2.0 Regular" panose="020B0600000101010101" pitchFamily="50" charset="-127"/>
                          <a:ea typeface="LG스마트체2.0 Regular" panose="020B0600000101010101" pitchFamily="50" charset="-127"/>
                        </a:rPr>
                        <a:t>File </a:t>
                      </a:r>
                      <a:r>
                        <a:rPr lang="en-ID" altLang="ko-KR" sz="1500" b="1" err="1">
                          <a:latin typeface="LG스마트체2.0 Regular" panose="020B0600000101010101" pitchFamily="50" charset="-127"/>
                          <a:ea typeface="LG스마트체2.0 Regular" panose="020B0600000101010101" pitchFamily="50" charset="-127"/>
                        </a:rPr>
                        <a:t>eksekusi</a:t>
                      </a:r>
                      <a:endParaRPr lang="en-US" altLang="ko-KR" sz="1500" b="1">
                        <a:latin typeface="LG스마트체2.0 Regular" panose="020B0600000101010101" pitchFamily="50" charset="-127"/>
                        <a:ea typeface="LG스마트체2.0 Regular" panose="020B0600000101010101" pitchFamily="50" charset="-127"/>
                      </a:endParaRPr>
                    </a:p>
                    <a:p>
                      <a:pPr algn="ctr" latinLnBrk="1"/>
                      <a:r>
                        <a:rPr lang="en-US" altLang="ko-KR" sz="1500" b="1">
                          <a:latin typeface="LG스마트체2.0 Regular" panose="020B0600000101010101" pitchFamily="50" charset="-127"/>
                          <a:ea typeface="LG스마트체2.0 Regular" panose="020B0600000101010101" pitchFamily="50" charset="-127"/>
                        </a:rPr>
                        <a:t>(</a:t>
                      </a:r>
                      <a:r>
                        <a:rPr lang="en-ID" altLang="ko-KR" sz="1500" b="1" err="1">
                          <a:latin typeface="LG스마트체2.0 Regular" panose="020B0600000101010101" pitchFamily="50" charset="-127"/>
                          <a:ea typeface="LG스마트체2.0 Regular" panose="020B0600000101010101" pitchFamily="50" charset="-127"/>
                        </a:rPr>
                        <a:t>nama</a:t>
                      </a:r>
                      <a:r>
                        <a:rPr lang="en-ID" altLang="ko-KR" sz="1500" b="1">
                          <a:latin typeface="LG스마트체2.0 Regular" panose="020B0600000101010101" pitchFamily="50" charset="-127"/>
                          <a:ea typeface="LG스마트체2.0 Regular" panose="020B0600000101010101" pitchFamily="50" charset="-127"/>
                        </a:rPr>
                        <a:t> file</a:t>
                      </a:r>
                      <a:r>
                        <a:rPr lang="en-US" altLang="ko-KR" sz="1500" b="1">
                          <a:latin typeface="LG스마트체2.0 Regular" panose="020B0600000101010101" pitchFamily="50" charset="-127"/>
                          <a:ea typeface="LG스마트체2.0 Regular" panose="020B0600000101010101" pitchFamily="50" charset="-127"/>
                        </a:rPr>
                        <a:t>.class)</a:t>
                      </a:r>
                      <a:endParaRPr lang="ko-KR" altLang="en-US" sz="1500" b="1">
                        <a:latin typeface="LG스마트체2.0 Regular" panose="020B0600000101010101" pitchFamily="50" charset="-127"/>
                        <a:ea typeface="LG스마트체2.0 Regular" panose="020B0600000101010101" pitchFamily="50" charset="-127"/>
                      </a:endParaRPr>
                    </a:p>
                  </a:txBody>
                  <a:tcPr marL="91438" marR="91438" marT="43497" marB="43497">
                    <a:lnT w="12700" cap="flat" cmpd="sng" algn="ctr">
                      <a:noFill/>
                      <a:prstDash val="solid"/>
                      <a:round/>
                      <a:headEnd type="none" w="med" len="med"/>
                      <a:tailEnd type="none" w="med" len="med"/>
                    </a:lnT>
                  </a:tcPr>
                </a:tc>
                <a:tc>
                  <a:txBody>
                    <a:bodyPr/>
                    <a:lstStyle/>
                    <a:p>
                      <a:pPr algn="ctr" latinLnBrk="1"/>
                      <a:r>
                        <a:rPr lang="en-US" altLang="ko-KR" sz="1500" b="1" err="1">
                          <a:latin typeface="LG스마트체2.0 Regular" panose="020B0600000101010101" pitchFamily="50" charset="-127"/>
                          <a:ea typeface="LG스마트체2.0 Regular" panose="020B0600000101010101" pitchFamily="50" charset="-127"/>
                        </a:rPr>
                        <a:t>Eksekusi</a:t>
                      </a:r>
                      <a:r>
                        <a:rPr lang="en-US" altLang="ko-KR" sz="1500" b="1">
                          <a:latin typeface="LG스마트체2.0 Regular" panose="020B0600000101010101" pitchFamily="50" charset="-127"/>
                          <a:ea typeface="LG스마트체2.0 Regular" panose="020B0600000101010101" pitchFamily="50" charset="-127"/>
                        </a:rPr>
                        <a:t> program Java</a:t>
                      </a:r>
                      <a:endParaRPr lang="ko-KR" altLang="en-US" sz="1500" b="1">
                        <a:latin typeface="LG스마트체2.0 Regular" panose="020B0600000101010101" pitchFamily="50" charset="-127"/>
                        <a:ea typeface="LG스마트체2.0 Regular" panose="020B0600000101010101" pitchFamily="50" charset="-127"/>
                      </a:endParaRPr>
                    </a:p>
                  </a:txBody>
                  <a:tcPr marL="91438" marR="91438" marT="43497" marB="43497">
                    <a:lnT w="12700" cap="flat" cmpd="sng" algn="ctr">
                      <a:noFill/>
                      <a:prstDash val="solid"/>
                      <a:round/>
                      <a:headEnd type="none" w="med" len="med"/>
                      <a:tailEnd type="none" w="med" len="med"/>
                    </a:lnT>
                  </a:tcPr>
                </a:tc>
                <a:extLst>
                  <a:ext uri="{0D108BD9-81ED-4DB2-BD59-A6C34878D82A}">
                    <a16:rowId xmlns:a16="http://schemas.microsoft.com/office/drawing/2014/main" val="10002"/>
                  </a:ext>
                </a:extLst>
              </a:tr>
              <a:tr h="2775567">
                <a:tc>
                  <a:txBody>
                    <a:bodyPr/>
                    <a:lstStyle/>
                    <a:p>
                      <a:pPr latinLnBrk="1"/>
                      <a:r>
                        <a:rPr lang="en-US" altLang="ko-KR" sz="1500" err="1">
                          <a:latin typeface="LG스마트체2.0 Regular" panose="020B0600000101010101" pitchFamily="50" charset="-127"/>
                          <a:ea typeface="LG스마트체2.0 Regular" panose="020B0600000101010101" pitchFamily="50" charset="-127"/>
                        </a:rPr>
                        <a:t>Buatlah</a:t>
                      </a:r>
                      <a:r>
                        <a:rPr lang="en-US" altLang="ko-KR" sz="1500">
                          <a:latin typeface="LG스마트체2.0 Regular" panose="020B0600000101010101" pitchFamily="50" charset="-127"/>
                          <a:ea typeface="LG스마트체2.0 Regular" panose="020B0600000101010101" pitchFamily="50" charset="-127"/>
                        </a:rPr>
                        <a:t> source code Java </a:t>
                      </a:r>
                      <a:r>
                        <a:rPr lang="en-US" altLang="ko-KR" sz="1500" err="1">
                          <a:latin typeface="LG스마트체2.0 Regular" panose="020B0600000101010101" pitchFamily="50" charset="-127"/>
                          <a:ea typeface="LG스마트체2.0 Regular" panose="020B0600000101010101" pitchFamily="50" charset="-127"/>
                        </a:rPr>
                        <a:t>sesuai</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dengan</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seperangkat</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aturan</a:t>
                      </a:r>
                      <a:r>
                        <a:rPr lang="en-US" altLang="ko-KR" sz="1500">
                          <a:latin typeface="LG스마트체2.0 Regular" panose="020B0600000101010101" pitchFamily="50" charset="-127"/>
                          <a:ea typeface="LG스마트체2.0 Regular" panose="020B0600000101010101" pitchFamily="50" charset="-127"/>
                        </a:rPr>
                        <a:t> (grammar)</a:t>
                      </a:r>
                      <a:endParaRPr lang="ko-KR" altLang="en-US" sz="1500">
                        <a:latin typeface="LG스마트체2.0 Regular" panose="020B0600000101010101" pitchFamily="50" charset="-127"/>
                        <a:ea typeface="LG스마트체2.0 Regular" panose="020B0600000101010101" pitchFamily="50" charset="-127"/>
                      </a:endParaRPr>
                    </a:p>
                  </a:txBody>
                  <a:tcPr marL="137157" marR="137157" marT="130488" marB="130488"/>
                </a:tc>
                <a:tc>
                  <a:txBody>
                    <a:bodyPr/>
                    <a:lstStyle/>
                    <a:p>
                      <a:pPr latinLnBrk="1"/>
                      <a:r>
                        <a:rPr lang="en-US" altLang="ko-KR" sz="1500" baseline="0">
                          <a:latin typeface="LG스마트체2.0 Regular" panose="020B0600000101010101" pitchFamily="50" charset="-127"/>
                          <a:ea typeface="LG스마트체2.0 Regular" panose="020B0600000101010101" pitchFamily="50" charset="-127"/>
                        </a:rPr>
                        <a:t>Kode java yang </a:t>
                      </a:r>
                      <a:r>
                        <a:rPr lang="en-US" altLang="ko-KR" sz="1500" baseline="0" err="1">
                          <a:latin typeface="LG스마트체2.0 Regular" panose="020B0600000101010101" pitchFamily="50" charset="-127"/>
                          <a:ea typeface="LG스마트체2.0 Regular" panose="020B0600000101010101" pitchFamily="50" charset="-127"/>
                        </a:rPr>
                        <a:t>dibuat</a:t>
                      </a:r>
                      <a:r>
                        <a:rPr lang="en-US" altLang="ko-KR" sz="1500" baseline="0">
                          <a:latin typeface="LG스마트체2.0 Regular" panose="020B0600000101010101" pitchFamily="50" charset="-127"/>
                          <a:ea typeface="LG스마트체2.0 Regular" panose="020B0600000101010101" pitchFamily="50" charset="-127"/>
                        </a:rPr>
                        <a:t> </a:t>
                      </a:r>
                      <a:r>
                        <a:rPr lang="en-US" altLang="ko-KR" sz="1500" baseline="0" err="1">
                          <a:latin typeface="LG스마트체2.0 Regular" panose="020B0600000101010101" pitchFamily="50" charset="-127"/>
                          <a:ea typeface="LG스마트체2.0 Regular" panose="020B0600000101010101" pitchFamily="50" charset="-127"/>
                        </a:rPr>
                        <a:t>akan</a:t>
                      </a:r>
                      <a:r>
                        <a:rPr lang="en-US" altLang="ko-KR" sz="1500" baseline="0">
                          <a:latin typeface="LG스마트체2.0 Regular" panose="020B0600000101010101" pitchFamily="50" charset="-127"/>
                          <a:ea typeface="LG스마트체2.0 Regular" panose="020B0600000101010101" pitchFamily="50" charset="-127"/>
                        </a:rPr>
                        <a:t> </a:t>
                      </a:r>
                      <a:r>
                        <a:rPr lang="en-US" altLang="ko-KR" sz="1500" baseline="0" err="1">
                          <a:latin typeface="LG스마트체2.0 Regular" panose="020B0600000101010101" pitchFamily="50" charset="-127"/>
                          <a:ea typeface="LG스마트체2.0 Regular" panose="020B0600000101010101" pitchFamily="50" charset="-127"/>
                        </a:rPr>
                        <a:t>diproses</a:t>
                      </a:r>
                      <a:r>
                        <a:rPr lang="en-US" altLang="ko-KR" sz="1500" baseline="0">
                          <a:latin typeface="LG스마트체2.0 Regular" panose="020B0600000101010101" pitchFamily="50" charset="-127"/>
                          <a:ea typeface="LG스마트체2.0 Regular" panose="020B0600000101010101" pitchFamily="50" charset="-127"/>
                        </a:rPr>
                        <a:t> oleh Compiler (</a:t>
                      </a:r>
                      <a:r>
                        <a:rPr lang="en-US" altLang="ko-KR" sz="1500" baseline="0" err="1">
                          <a:latin typeface="LG스마트체2.0 Regular" panose="020B0600000101010101" pitchFamily="50" charset="-127"/>
                          <a:ea typeface="LG스마트체2.0 Regular" panose="020B0600000101010101" pitchFamily="50" charset="-127"/>
                        </a:rPr>
                        <a:t>dikompilasi</a:t>
                      </a:r>
                      <a:r>
                        <a:rPr lang="en-US" altLang="ko-KR" sz="1500" baseline="0">
                          <a:latin typeface="LG스마트체2.0 Regular" panose="020B0600000101010101" pitchFamily="50" charset="-127"/>
                          <a:ea typeface="LG스마트체2.0 Regular" panose="020B0600000101010101" pitchFamily="50" charset="-127"/>
                        </a:rPr>
                        <a:t>)</a:t>
                      </a:r>
                    </a:p>
                    <a:p>
                      <a:pPr latinLnBrk="1"/>
                      <a:r>
                        <a:rPr lang="en-ID" altLang="ko-KR" sz="1500" baseline="0" err="1">
                          <a:latin typeface="LG스마트체2.0 Regular" panose="020B0600000101010101" pitchFamily="50" charset="-127"/>
                          <a:ea typeface="LG스마트체2.0 Regular" panose="020B0600000101010101" pitchFamily="50" charset="-127"/>
                        </a:rPr>
                        <a:t>copiler</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akan</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memeriksa</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kesalahan</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lalu</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jika</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tidak</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ada</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eror</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maka</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akan</a:t>
                      </a:r>
                      <a:r>
                        <a:rPr lang="en-ID" altLang="ko-KR" sz="1500" baseline="0">
                          <a:latin typeface="LG스마트체2.0 Regular" panose="020B0600000101010101" pitchFamily="50" charset="-127"/>
                          <a:ea typeface="LG스마트체2.0 Regular" panose="020B0600000101010101" pitchFamily="50" charset="-127"/>
                        </a:rPr>
                        <a:t> </a:t>
                      </a:r>
                      <a:r>
                        <a:rPr lang="en-ID" altLang="ko-KR" sz="1500" baseline="0" err="1">
                          <a:latin typeface="LG스마트체2.0 Regular" panose="020B0600000101010101" pitchFamily="50" charset="-127"/>
                          <a:ea typeface="LG스마트체2.0 Regular" panose="020B0600000101010101" pitchFamily="50" charset="-127"/>
                        </a:rPr>
                        <a:t>membuatkan</a:t>
                      </a:r>
                      <a:r>
                        <a:rPr lang="en-ID" altLang="ko-KR" sz="1500" baseline="0">
                          <a:latin typeface="LG스마트체2.0 Regular" panose="020B0600000101010101" pitchFamily="50" charset="-127"/>
                          <a:ea typeface="LG스마트체2.0 Regular" panose="020B0600000101010101" pitchFamily="50" charset="-127"/>
                        </a:rPr>
                        <a:t> file yang </a:t>
                      </a:r>
                      <a:r>
                        <a:rPr lang="en-ID" altLang="ko-KR" sz="1500" baseline="0" err="1">
                          <a:latin typeface="LG스마트체2.0 Regular" panose="020B0600000101010101" pitchFamily="50" charset="-127"/>
                          <a:ea typeface="LG스마트체2.0 Regular" panose="020B0600000101010101" pitchFamily="50" charset="-127"/>
                        </a:rPr>
                        <a:t>dapat</a:t>
                      </a:r>
                      <a:r>
                        <a:rPr lang="en-ID" altLang="ko-KR" sz="1500" baseline="0">
                          <a:latin typeface="LG스마트체2.0 Regular" panose="020B0600000101010101" pitchFamily="50" charset="-127"/>
                          <a:ea typeface="LG스마트체2.0 Regular" panose="020B0600000101010101" pitchFamily="50" charset="-127"/>
                        </a:rPr>
                        <a:t> di </a:t>
                      </a:r>
                      <a:r>
                        <a:rPr lang="en-ID" altLang="ko-KR" sz="1500" baseline="0" err="1">
                          <a:latin typeface="LG스마트체2.0 Regular" panose="020B0600000101010101" pitchFamily="50" charset="-127"/>
                          <a:ea typeface="LG스마트체2.0 Regular" panose="020B0600000101010101" pitchFamily="50" charset="-127"/>
                        </a:rPr>
                        <a:t>eksekusi</a:t>
                      </a:r>
                      <a:r>
                        <a:rPr lang="en-US" altLang="ko-KR" sz="1500" baseline="0">
                          <a:latin typeface="LG스마트체2.0 Regular" panose="020B0600000101010101" pitchFamily="50" charset="-127"/>
                          <a:ea typeface="LG스마트체2.0 Regular" panose="020B0600000101010101" pitchFamily="50" charset="-127"/>
                        </a:rPr>
                        <a:t>. </a:t>
                      </a:r>
                      <a:endParaRPr lang="ko-KR" altLang="en-US" sz="1500">
                        <a:latin typeface="LG스마트체2.0 Regular" panose="020B0600000101010101" pitchFamily="50" charset="-127"/>
                        <a:ea typeface="LG스마트체2.0 Regular" panose="020B0600000101010101" pitchFamily="50" charset="-127"/>
                      </a:endParaRPr>
                    </a:p>
                  </a:txBody>
                  <a:tcPr marL="137157" marR="137157" marT="130488" marB="130488"/>
                </a:tc>
                <a:tc>
                  <a:txBody>
                    <a:bodyPr/>
                    <a:lstStyle/>
                    <a:p>
                      <a:pPr latinLnBrk="1"/>
                      <a:r>
                        <a:rPr lang="en-US" altLang="ko-KR" sz="1500">
                          <a:latin typeface="LG스마트체2.0 Regular" panose="020B0600000101010101" pitchFamily="50" charset="-127"/>
                          <a:ea typeface="LG스마트체2.0 Regular" panose="020B0600000101010101" pitchFamily="50" charset="-127"/>
                        </a:rPr>
                        <a:t>File yang </a:t>
                      </a:r>
                      <a:r>
                        <a:rPr lang="en-US" altLang="ko-KR" sz="1500" err="1">
                          <a:latin typeface="LG스마트체2.0 Regular" panose="020B0600000101010101" pitchFamily="50" charset="-127"/>
                          <a:ea typeface="LG스마트체2.0 Regular" panose="020B0600000101010101" pitchFamily="50" charset="-127"/>
                        </a:rPr>
                        <a:t>dibuat</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sebagai</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hasil</a:t>
                      </a:r>
                      <a:r>
                        <a:rPr lang="en-US" altLang="ko-KR" sz="1500">
                          <a:latin typeface="LG스마트체2.0 Regular" panose="020B0600000101010101" pitchFamily="50" charset="-127"/>
                          <a:ea typeface="LG스마트체2.0 Regular" panose="020B0600000101010101" pitchFamily="50" charset="-127"/>
                        </a:rPr>
                        <a:t> Compile.</a:t>
                      </a:r>
                    </a:p>
                    <a:p>
                      <a:pPr latinLnBrk="1"/>
                      <a:r>
                        <a:rPr lang="en-ID" altLang="ko-KR" sz="1500">
                          <a:latin typeface="LG스마트체2.0 Regular" panose="020B0600000101010101" pitchFamily="50" charset="-127"/>
                          <a:ea typeface="LG스마트체2.0 Regular" panose="020B0600000101010101" pitchFamily="50" charset="-127"/>
                        </a:rPr>
                        <a:t>Pada </a:t>
                      </a:r>
                      <a:r>
                        <a:rPr lang="en-ID" altLang="ko-KR" sz="1500" err="1">
                          <a:latin typeface="LG스마트체2.0 Regular" panose="020B0600000101010101" pitchFamily="50" charset="-127"/>
                          <a:ea typeface="LG스마트체2.0 Regular" panose="020B0600000101010101" pitchFamily="50" charset="-127"/>
                        </a:rPr>
                        <a:t>perangkat</a:t>
                      </a:r>
                      <a:r>
                        <a:rPr lang="en-ID" altLang="ko-KR" sz="1500">
                          <a:latin typeface="LG스마트체2.0 Regular" panose="020B0600000101010101" pitchFamily="50" charset="-127"/>
                          <a:ea typeface="LG스마트체2.0 Regular" panose="020B0600000101010101" pitchFamily="50" charset="-127"/>
                        </a:rPr>
                        <a:t> yang </a:t>
                      </a:r>
                      <a:r>
                        <a:rPr lang="en-ID" altLang="ko-KR" sz="1500" err="1">
                          <a:latin typeface="LG스마트체2.0 Regular" panose="020B0600000101010101" pitchFamily="50" charset="-127"/>
                          <a:ea typeface="LG스마트체2.0 Regular" panose="020B0600000101010101" pitchFamily="50" charset="-127"/>
                        </a:rPr>
                        <a:t>dapat</a:t>
                      </a:r>
                      <a:r>
                        <a:rPr lang="en-ID" altLang="ko-KR" sz="1500">
                          <a:latin typeface="LG스마트체2.0 Regular" panose="020B0600000101010101" pitchFamily="50" charset="-127"/>
                          <a:ea typeface="LG스마트체2.0 Regular" panose="020B0600000101010101" pitchFamily="50" charset="-127"/>
                        </a:rPr>
                        <a:t> </a:t>
                      </a:r>
                      <a:r>
                        <a:rPr lang="en-ID" altLang="ko-KR" sz="1500" err="1">
                          <a:latin typeface="LG스마트체2.0 Regular" panose="020B0600000101010101" pitchFamily="50" charset="-127"/>
                          <a:ea typeface="LG스마트체2.0 Regular" panose="020B0600000101010101" pitchFamily="50" charset="-127"/>
                        </a:rPr>
                        <a:t>menjalankan</a:t>
                      </a:r>
                      <a:r>
                        <a:rPr lang="en-ID" altLang="ko-KR" sz="1500">
                          <a:latin typeface="LG스마트체2.0 Regular" panose="020B0600000101010101" pitchFamily="50" charset="-127"/>
                          <a:ea typeface="LG스마트체2.0 Regular" panose="020B0600000101010101" pitchFamily="50" charset="-127"/>
                        </a:rPr>
                        <a:t> Java, file </a:t>
                      </a:r>
                      <a:r>
                        <a:rPr lang="en-ID" altLang="ko-KR" sz="1500" err="1">
                          <a:latin typeface="LG스마트체2.0 Regular" panose="020B0600000101010101" pitchFamily="50" charset="-127"/>
                          <a:ea typeface="LG스마트체2.0 Regular" panose="020B0600000101010101" pitchFamily="50" charset="-127"/>
                        </a:rPr>
                        <a:t>ini</a:t>
                      </a:r>
                      <a:r>
                        <a:rPr lang="en-ID" altLang="ko-KR" sz="1500">
                          <a:latin typeface="LG스마트체2.0 Regular" panose="020B0600000101010101" pitchFamily="50" charset="-127"/>
                          <a:ea typeface="LG스마트체2.0 Regular" panose="020B0600000101010101" pitchFamily="50" charset="-127"/>
                        </a:rPr>
                        <a:t> </a:t>
                      </a:r>
                      <a:r>
                        <a:rPr lang="en-ID" altLang="ko-KR" sz="1500" err="1">
                          <a:latin typeface="LG스마트체2.0 Regular" panose="020B0600000101010101" pitchFamily="50" charset="-127"/>
                          <a:ea typeface="LG스마트체2.0 Regular" panose="020B0600000101010101" pitchFamily="50" charset="-127"/>
                        </a:rPr>
                        <a:t>akan</a:t>
                      </a:r>
                      <a:r>
                        <a:rPr lang="en-ID" altLang="ko-KR" sz="1500">
                          <a:latin typeface="LG스마트체2.0 Regular" panose="020B0600000101010101" pitchFamily="50" charset="-127"/>
                          <a:ea typeface="LG스마트체2.0 Regular" panose="020B0600000101010101" pitchFamily="50" charset="-127"/>
                        </a:rPr>
                        <a:t> </a:t>
                      </a:r>
                      <a:r>
                        <a:rPr lang="en-ID" altLang="ko-KR" sz="1500" err="1">
                          <a:latin typeface="LG스마트체2.0 Regular" panose="020B0600000101010101" pitchFamily="50" charset="-127"/>
                          <a:ea typeface="LG스마트체2.0 Regular" panose="020B0600000101010101" pitchFamily="50" charset="-127"/>
                        </a:rPr>
                        <a:t>ditafsirkan</a:t>
                      </a:r>
                      <a:r>
                        <a:rPr lang="en-ID" altLang="ko-KR" sz="1500">
                          <a:latin typeface="LG스마트체2.0 Regular" panose="020B0600000101010101" pitchFamily="50" charset="-127"/>
                          <a:ea typeface="LG스마트체2.0 Regular" panose="020B0600000101010101" pitchFamily="50" charset="-127"/>
                        </a:rPr>
                        <a:t> dan </a:t>
                      </a:r>
                      <a:r>
                        <a:rPr lang="en-ID" altLang="ko-KR" sz="1500" err="1">
                          <a:latin typeface="LG스마트체2.0 Regular" panose="020B0600000101010101" pitchFamily="50" charset="-127"/>
                          <a:ea typeface="LG스마트체2.0 Regular" panose="020B0600000101010101" pitchFamily="50" charset="-127"/>
                        </a:rPr>
                        <a:t>dieksekusi</a:t>
                      </a:r>
                      <a:r>
                        <a:rPr lang="en-ID" altLang="ko-KR" sz="1500">
                          <a:latin typeface="LG스마트체2.0 Regular" panose="020B0600000101010101" pitchFamily="50" charset="-127"/>
                          <a:ea typeface="LG스마트체2.0 Regular" panose="020B0600000101010101" pitchFamily="50" charset="-127"/>
                        </a:rPr>
                        <a:t>.</a:t>
                      </a:r>
                      <a:endParaRPr lang="ko-KR" altLang="en-US" sz="1500">
                        <a:latin typeface="LG스마트체2.0 Regular" panose="020B0600000101010101" pitchFamily="50" charset="-127"/>
                        <a:ea typeface="LG스마트체2.0 Regular" panose="020B0600000101010101" pitchFamily="50" charset="-127"/>
                      </a:endParaRPr>
                    </a:p>
                  </a:txBody>
                  <a:tcPr marL="137157" marR="137157" marT="130488" marB="130488"/>
                </a:tc>
                <a:tc>
                  <a:txBody>
                    <a:bodyPr/>
                    <a:lstStyle/>
                    <a:p>
                      <a:pPr latinLnBrk="1"/>
                      <a:r>
                        <a:rPr lang="en-US" altLang="ko-KR" sz="1500">
                          <a:latin typeface="LG스마트체2.0 Regular" panose="020B0600000101010101" pitchFamily="50" charset="-127"/>
                          <a:ea typeface="LG스마트체2.0 Regular" panose="020B0600000101010101" pitchFamily="50" charset="-127"/>
                        </a:rPr>
                        <a:t>Anda </a:t>
                      </a:r>
                      <a:r>
                        <a:rPr lang="en-US" altLang="ko-KR" sz="1500" err="1">
                          <a:latin typeface="LG스마트체2.0 Regular" panose="020B0600000101010101" pitchFamily="50" charset="-127"/>
                          <a:ea typeface="LG스마트체2.0 Regular" panose="020B0600000101010101" pitchFamily="50" charset="-127"/>
                        </a:rPr>
                        <a:t>dapat</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menjalankan</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eksekusi</a:t>
                      </a:r>
                      <a:r>
                        <a:rPr lang="en-US" altLang="ko-KR" sz="1500">
                          <a:latin typeface="LG스마트체2.0 Regular" panose="020B0600000101010101" pitchFamily="50" charset="-127"/>
                          <a:ea typeface="LG스마트체2.0 Regular" panose="020B0600000101010101" pitchFamily="50" charset="-127"/>
                        </a:rPr>
                        <a:t> Java (*.Class) pada </a:t>
                      </a:r>
                      <a:r>
                        <a:rPr lang="en-US" altLang="ko-KR" sz="1500" err="1">
                          <a:latin typeface="LG스마트체2.0 Regular" panose="020B0600000101010101" pitchFamily="50" charset="-127"/>
                          <a:ea typeface="LG스마트체2.0 Regular" panose="020B0600000101010101" pitchFamily="50" charset="-127"/>
                        </a:rPr>
                        <a:t>mesin</a:t>
                      </a:r>
                      <a:r>
                        <a:rPr lang="en-US" altLang="ko-KR" sz="1500">
                          <a:latin typeface="LG스마트체2.0 Regular" panose="020B0600000101010101" pitchFamily="50" charset="-127"/>
                          <a:ea typeface="LG스마트체2.0 Regular" panose="020B0600000101010101" pitchFamily="50" charset="-127"/>
                        </a:rPr>
                        <a:t> virtual (JVM) yang </a:t>
                      </a:r>
                      <a:r>
                        <a:rPr lang="en-US" altLang="ko-KR" sz="1500" err="1">
                          <a:latin typeface="LG스마트체2.0 Regular" panose="020B0600000101010101" pitchFamily="50" charset="-127"/>
                          <a:ea typeface="LG스마트체2.0 Regular" panose="020B0600000101010101" pitchFamily="50" charset="-127"/>
                        </a:rPr>
                        <a:t>dapat</a:t>
                      </a:r>
                      <a:r>
                        <a:rPr lang="en-US" altLang="ko-KR" sz="1500">
                          <a:latin typeface="LG스마트체2.0 Regular" panose="020B0600000101010101" pitchFamily="50" charset="-127"/>
                          <a:ea typeface="LG스마트체2.0 Regular" panose="020B0600000101010101" pitchFamily="50" charset="-127"/>
                        </a:rPr>
                        <a:t> </a:t>
                      </a:r>
                      <a:r>
                        <a:rPr lang="en-US" altLang="ko-KR" sz="1500" err="1">
                          <a:latin typeface="LG스마트체2.0 Regular" panose="020B0600000101010101" pitchFamily="50" charset="-127"/>
                          <a:ea typeface="LG스마트체2.0 Regular" panose="020B0600000101010101" pitchFamily="50" charset="-127"/>
                        </a:rPr>
                        <a:t>menjalankan</a:t>
                      </a:r>
                      <a:r>
                        <a:rPr lang="en-US" altLang="ko-KR" sz="1500">
                          <a:latin typeface="LG스마트체2.0 Regular" panose="020B0600000101010101" pitchFamily="50" charset="-127"/>
                          <a:ea typeface="LG스마트체2.0 Regular" panose="020B0600000101010101" pitchFamily="50" charset="-127"/>
                        </a:rPr>
                        <a:t> java</a:t>
                      </a:r>
                      <a:endParaRPr lang="ko-KR" altLang="en-US" sz="1500">
                        <a:latin typeface="LG스마트체2.0 Regular" panose="020B0600000101010101" pitchFamily="50" charset="-127"/>
                        <a:ea typeface="LG스마트체2.0 Regular" panose="020B0600000101010101" pitchFamily="50" charset="-127"/>
                      </a:endParaRPr>
                    </a:p>
                  </a:txBody>
                  <a:tcPr marL="137157" marR="137157" marT="130488" marB="130488"/>
                </a:tc>
                <a:extLst>
                  <a:ext uri="{0D108BD9-81ED-4DB2-BD59-A6C34878D82A}">
                    <a16:rowId xmlns:a16="http://schemas.microsoft.com/office/drawing/2014/main" val="10003"/>
                  </a:ext>
                </a:extLst>
              </a:tr>
            </a:tbl>
          </a:graphicData>
        </a:graphic>
      </p:graphicFrame>
      <p:pic>
        <p:nvPicPr>
          <p:cNvPr id="20508" name="Picture 8" descr="run icon">
            <a:extLst>
              <a:ext uri="{FF2B5EF4-FFF2-40B4-BE49-F238E27FC236}">
                <a16:creationId xmlns:a16="http://schemas.microsoft.com/office/drawing/2014/main" id="{9499FEDE-FA13-9CE8-B822-3D7E6BED87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6925" y="1417638"/>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509" name="그룹 1">
            <a:extLst>
              <a:ext uri="{FF2B5EF4-FFF2-40B4-BE49-F238E27FC236}">
                <a16:creationId xmlns:a16="http://schemas.microsoft.com/office/drawing/2014/main" id="{568DCA6C-3D6C-8CD9-0E23-90E7DB60AFEC}"/>
              </a:ext>
            </a:extLst>
          </p:cNvPr>
          <p:cNvGrpSpPr>
            <a:grpSpLocks/>
          </p:cNvGrpSpPr>
          <p:nvPr/>
        </p:nvGrpSpPr>
        <p:grpSpPr bwMode="auto">
          <a:xfrm>
            <a:off x="574675" y="1417638"/>
            <a:ext cx="1468438" cy="1219200"/>
            <a:chOff x="715963" y="1912126"/>
            <a:chExt cx="1828800" cy="1518463"/>
          </a:xfrm>
        </p:grpSpPr>
        <p:pic>
          <p:nvPicPr>
            <p:cNvPr id="20517" name="Picture 2" descr="Mimetypes source java icon">
              <a:extLst>
                <a:ext uri="{FF2B5EF4-FFF2-40B4-BE49-F238E27FC236}">
                  <a16:creationId xmlns:a16="http://schemas.microsoft.com/office/drawing/2014/main" id="{EBEC4580-3E33-E832-E478-3B7087E062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563" y="1912126"/>
              <a:ext cx="1219200" cy="1219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8" name="Picture 10" descr="File Types Text Document Default icon">
              <a:extLst>
                <a:ext uri="{FF2B5EF4-FFF2-40B4-BE49-F238E27FC236}">
                  <a16:creationId xmlns:a16="http://schemas.microsoft.com/office/drawing/2014/main" id="{9F1E817F-4A64-C068-B70B-54AD69CDCB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963" y="2211388"/>
              <a:ext cx="1219200" cy="1219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510" name="그룹 2">
            <a:extLst>
              <a:ext uri="{FF2B5EF4-FFF2-40B4-BE49-F238E27FC236}">
                <a16:creationId xmlns:a16="http://schemas.microsoft.com/office/drawing/2014/main" id="{3B296A25-1505-39C4-C08C-F2AF2CB5C708}"/>
              </a:ext>
            </a:extLst>
          </p:cNvPr>
          <p:cNvGrpSpPr>
            <a:grpSpLocks/>
          </p:cNvGrpSpPr>
          <p:nvPr/>
        </p:nvGrpSpPr>
        <p:grpSpPr bwMode="auto">
          <a:xfrm>
            <a:off x="4913313" y="1417638"/>
            <a:ext cx="1484312" cy="1219200"/>
            <a:chOff x="3597386" y="1912126"/>
            <a:chExt cx="1890712" cy="1553537"/>
          </a:xfrm>
        </p:grpSpPr>
        <p:pic>
          <p:nvPicPr>
            <p:cNvPr id="20515" name="Picture 12" descr="Mimetype binary icon">
              <a:extLst>
                <a:ext uri="{FF2B5EF4-FFF2-40B4-BE49-F238E27FC236}">
                  <a16:creationId xmlns:a16="http://schemas.microsoft.com/office/drawing/2014/main" id="{5D2709BD-15A7-B874-3E69-E836FF3403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8898" y="1912126"/>
              <a:ext cx="1219200" cy="1219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6" name="Picture 10" descr="File Types Text Document Default icon">
              <a:extLst>
                <a:ext uri="{FF2B5EF4-FFF2-40B4-BE49-F238E27FC236}">
                  <a16:creationId xmlns:a16="http://schemas.microsoft.com/office/drawing/2014/main" id="{D62D0D69-703A-F2F8-0D7F-DAF9852C6E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7386" y="2246462"/>
              <a:ext cx="1219200" cy="1219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0511" name="Picture 14" descr="robot screen settings icon">
            <a:extLst>
              <a:ext uri="{FF2B5EF4-FFF2-40B4-BE49-F238E27FC236}">
                <a16:creationId xmlns:a16="http://schemas.microsoft.com/office/drawing/2014/main" id="{3C9C3563-6CA1-86DC-0750-333BA0819B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65425" y="1285875"/>
            <a:ext cx="1482725"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2" name="Picture 4" descr="http://icons.iconarchive.com/icons/saki/snowish/128/Arrow-double-right-icon.png">
            <a:extLst>
              <a:ext uri="{FF2B5EF4-FFF2-40B4-BE49-F238E27FC236}">
                <a16:creationId xmlns:a16="http://schemas.microsoft.com/office/drawing/2014/main" id="{1B09CE22-1566-6893-04E9-3723583B8E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1363" y="1697038"/>
            <a:ext cx="8032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3" name="Picture 4" descr="http://icons.iconarchive.com/icons/saki/snowish/128/Arrow-double-right-icon.png">
            <a:extLst>
              <a:ext uri="{FF2B5EF4-FFF2-40B4-BE49-F238E27FC236}">
                <a16:creationId xmlns:a16="http://schemas.microsoft.com/office/drawing/2014/main" id="{537B8DF2-B7D7-CA1F-D846-F084B61B28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8463" y="1697038"/>
            <a:ext cx="8032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4" name="Picture 4" descr="http://icons.iconarchive.com/icons/saki/snowish/128/Arrow-double-right-icon.png">
            <a:extLst>
              <a:ext uri="{FF2B5EF4-FFF2-40B4-BE49-F238E27FC236}">
                <a16:creationId xmlns:a16="http://schemas.microsoft.com/office/drawing/2014/main" id="{803F6C9D-A813-FB87-F28D-780EEC46ED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3013" y="1697038"/>
            <a:ext cx="8032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모서리가 둥근 직사각형 1">
            <a:extLst>
              <a:ext uri="{FF2B5EF4-FFF2-40B4-BE49-F238E27FC236}">
                <a16:creationId xmlns:a16="http://schemas.microsoft.com/office/drawing/2014/main" id="{8F1BEE78-3B2D-C11C-B068-62233722A6C0}"/>
              </a:ext>
            </a:extLst>
          </p:cNvPr>
          <p:cNvSpPr/>
          <p:nvPr/>
        </p:nvSpPr>
        <p:spPr>
          <a:xfrm>
            <a:off x="350838" y="1017588"/>
            <a:ext cx="8442325" cy="5381625"/>
          </a:xfrm>
          <a:prstGeom prst="roundRect">
            <a:avLst>
              <a:gd name="adj" fmla="val 3530"/>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102114" rIns="136152" bIns="102114"/>
          <a:lstStyle/>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Nama Package</a:t>
            </a:r>
            <a:r>
              <a:rPr lang="ko-KR" altLang="en-US" b="1">
                <a:solidFill>
                  <a:schemeClr val="tx1"/>
                </a:solidFill>
                <a:latin typeface="LG스마트체2.0 Regular" panose="020B0600000101010101" pitchFamily="50" charset="-127"/>
                <a:ea typeface="LG스마트체2.0 Regular" panose="020B0600000101010101" pitchFamily="50" charset="-127"/>
              </a:rPr>
              <a:t> </a:t>
            </a:r>
            <a:r>
              <a:rPr lang="en-US" altLang="ko-KR" b="1">
                <a:solidFill>
                  <a:schemeClr val="tx1"/>
                </a:solidFill>
                <a:latin typeface="LG스마트체2.0 Regular" panose="020B0600000101010101" pitchFamily="50" charset="-127"/>
                <a:ea typeface="LG스마트체2.0 Regular" panose="020B0600000101010101" pitchFamily="50" charset="-127"/>
              </a:rPr>
              <a:t>: </a:t>
            </a:r>
            <a:r>
              <a:rPr lang="en-US" altLang="ko-KR">
                <a:solidFill>
                  <a:schemeClr val="tx1"/>
                </a:solidFill>
                <a:latin typeface="나눔고딕코딩" pitchFamily="49" charset="-127"/>
                <a:ea typeface="나눔고딕코딩" pitchFamily="49" charset="-127"/>
              </a:rPr>
              <a:t>com.lgcns.chapter02</a:t>
            </a: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Nama Class</a:t>
            </a:r>
            <a:r>
              <a:rPr lang="ko-KR" altLang="en-US" b="1">
                <a:solidFill>
                  <a:schemeClr val="tx1"/>
                </a:solidFill>
                <a:latin typeface="LG스마트체2.0 Regular" panose="020B0600000101010101" pitchFamily="50" charset="-127"/>
                <a:ea typeface="LG스마트체2.0 Regular" panose="020B0600000101010101" pitchFamily="50" charset="-127"/>
              </a:rPr>
              <a:t> </a:t>
            </a:r>
            <a:r>
              <a:rPr lang="en-US" altLang="ko-KR" b="1">
                <a:solidFill>
                  <a:schemeClr val="tx1"/>
                </a:solidFill>
                <a:latin typeface="LG스마트체2.0 Regular" panose="020B0600000101010101" pitchFamily="50" charset="-127"/>
                <a:ea typeface="LG스마트체2.0 Regular" panose="020B0600000101010101" pitchFamily="50" charset="-127"/>
              </a:rPr>
              <a:t>: </a:t>
            </a:r>
            <a:r>
              <a:rPr lang="en-US" altLang="ko-KR">
                <a:solidFill>
                  <a:schemeClr val="tx1"/>
                </a:solidFill>
                <a:latin typeface="나눔고딕코딩" pitchFamily="49" charset="-127"/>
                <a:ea typeface="나눔고딕코딩" pitchFamily="49" charset="-127"/>
              </a:rPr>
              <a:t>HelloWorld</a:t>
            </a:r>
          </a:p>
          <a:p>
            <a:pPr eaLnBrk="1" hangingPunct="1">
              <a:spcAft>
                <a:spcPts val="567"/>
              </a:spcAft>
              <a:defRPr/>
            </a:pP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324212" indent="-324212" eaLnBrk="1" hangingPunct="1">
              <a:spcAft>
                <a:spcPts val="567"/>
              </a:spcAft>
              <a:buFont typeface="Wingdings" pitchFamily="2" charset="2"/>
              <a:buChar char="Ø"/>
              <a:defRPr/>
            </a:pPr>
            <a:r>
              <a:rPr lang="en-ID" altLang="ko-KR" b="1" err="1">
                <a:solidFill>
                  <a:schemeClr val="tx1"/>
                </a:solidFill>
                <a:latin typeface="LG스마트체2.0 Regular" panose="020B0600000101010101" pitchFamily="50" charset="-127"/>
                <a:ea typeface="LG스마트체2.0 Regular" panose="020B0600000101010101" pitchFamily="50" charset="-127"/>
              </a:rPr>
              <a:t>Rincian</a:t>
            </a:r>
            <a:r>
              <a:rPr lang="en-ID" altLang="ko-KR" b="1">
                <a:solidFill>
                  <a:schemeClr val="tx1"/>
                </a:solidFill>
                <a:latin typeface="LG스마트체2.0 Regular" panose="020B0600000101010101" pitchFamily="50" charset="-127"/>
                <a:ea typeface="LG스마트체2.0 Regular" panose="020B0600000101010101" pitchFamily="50" charset="-127"/>
              </a:rPr>
              <a:t> </a:t>
            </a:r>
            <a:r>
              <a:rPr lang="en-ID" altLang="ko-KR" b="1" err="1">
                <a:solidFill>
                  <a:schemeClr val="tx1"/>
                </a:solidFill>
                <a:latin typeface="LG스마트체2.0 Regular" panose="020B0600000101010101" pitchFamily="50" charset="-127"/>
                <a:ea typeface="LG스마트체2.0 Regular" panose="020B0600000101010101" pitchFamily="50" charset="-127"/>
              </a:rPr>
              <a:t>Implementasi</a:t>
            </a: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US" altLang="ko-KR" err="1">
                <a:solidFill>
                  <a:schemeClr val="tx1"/>
                </a:solidFill>
                <a:latin typeface="LG스마트체2.0 Regular" panose="020B0600000101010101" pitchFamily="50" charset="-127"/>
                <a:ea typeface="LG스마트체2.0 Regular" panose="020B0600000101010101" pitchFamily="50" charset="-127"/>
              </a:rPr>
              <a:t>Tulislah</a:t>
            </a:r>
            <a:r>
              <a:rPr lang="en-US" altLang="ko-KR">
                <a:solidFill>
                  <a:schemeClr val="tx1"/>
                </a:solidFill>
                <a:latin typeface="LG스마트체2.0 Regular" panose="020B0600000101010101" pitchFamily="50" charset="-127"/>
                <a:ea typeface="LG스마트체2.0 Regular" panose="020B0600000101010101" pitchFamily="50" charset="-127"/>
              </a:rPr>
              <a:t> program yang </a:t>
            </a:r>
            <a:r>
              <a:rPr lang="en-US" altLang="ko-KR" err="1">
                <a:solidFill>
                  <a:schemeClr val="tx1"/>
                </a:solidFill>
                <a:latin typeface="LG스마트체2.0 Regular" panose="020B0600000101010101" pitchFamily="50" charset="-127"/>
                <a:ea typeface="LG스마트체2.0 Regular" panose="020B0600000101010101" pitchFamily="50" charset="-127"/>
              </a:rPr>
              <a:t>mengeluarkan</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sebuah</a:t>
            </a:r>
            <a:r>
              <a:rPr lang="en-US" altLang="ko-KR">
                <a:solidFill>
                  <a:schemeClr val="tx1"/>
                </a:solidFill>
                <a:latin typeface="LG스마트체2.0 Regular" panose="020B0600000101010101" pitchFamily="50" charset="-127"/>
                <a:ea typeface="LG스마트체2.0 Regular" panose="020B0600000101010101" pitchFamily="50" charset="-127"/>
              </a:rPr>
              <a:t> string Bernama “Hello, World~”</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Ketika </a:t>
            </a:r>
            <a:r>
              <a:rPr lang="en-US" altLang="ko-KR" err="1">
                <a:solidFill>
                  <a:schemeClr val="tx1"/>
                </a:solidFill>
                <a:latin typeface="LG스마트체2.0 Regular" panose="020B0600000101010101" pitchFamily="50" charset="-127"/>
                <a:ea typeface="LG스마트체2.0 Regular" panose="020B0600000101010101" pitchFamily="50" charset="-127"/>
              </a:rPr>
              <a:t>anda</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menjalankan</a:t>
            </a:r>
            <a:r>
              <a:rPr lang="en-US" altLang="ko-KR">
                <a:solidFill>
                  <a:schemeClr val="tx1"/>
                </a:solidFill>
                <a:latin typeface="LG스마트체2.0 Regular" panose="020B0600000101010101" pitchFamily="50" charset="-127"/>
                <a:ea typeface="LG스마트체2.0 Regular" panose="020B0600000101010101" pitchFamily="50" charset="-127"/>
              </a:rPr>
              <a:t> program yang </a:t>
            </a:r>
            <a:r>
              <a:rPr lang="en-US" altLang="ko-KR" err="1">
                <a:solidFill>
                  <a:schemeClr val="tx1"/>
                </a:solidFill>
                <a:latin typeface="LG스마트체2.0 Regular" panose="020B0600000101010101" pitchFamily="50" charset="-127"/>
                <a:ea typeface="LG스마트체2.0 Regular" panose="020B0600000101010101" pitchFamily="50" charset="-127"/>
              </a:rPr>
              <a:t>diimplementasikan</a:t>
            </a:r>
            <a:r>
              <a:rPr lang="en-US" altLang="ko-KR">
                <a:solidFill>
                  <a:schemeClr val="tx1"/>
                </a:solidFill>
                <a:latin typeface="LG스마트체2.0 Regular" panose="020B0600000101010101" pitchFamily="50" charset="-127"/>
                <a:ea typeface="LG스마트체2.0 Regular" panose="020B0600000101010101" pitchFamily="50" charset="-127"/>
              </a:rPr>
              <a:t> pada Java, </a:t>
            </a:r>
            <a:r>
              <a:rPr lang="en-US" altLang="ko-KR" err="1">
                <a:solidFill>
                  <a:schemeClr val="tx1"/>
                </a:solidFill>
                <a:latin typeface="LG스마트체2.0 Regular" panose="020B0600000101010101" pitchFamily="50" charset="-127"/>
                <a:ea typeface="LG스마트체2.0 Regular" panose="020B0600000101010101" pitchFamily="50" charset="-127"/>
              </a:rPr>
              <a:t>bagaimana</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anda</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membuatnya</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terlihat</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persis</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seperti</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dibawah</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ini</a:t>
            </a:r>
            <a:r>
              <a:rPr lang="en-US" altLang="ko-KR">
                <a:solidFill>
                  <a:schemeClr val="tx1"/>
                </a:solidFill>
                <a:latin typeface="LG스마트체2.0 Regular" panose="020B0600000101010101" pitchFamily="50" charset="-127"/>
                <a:ea typeface="LG스마트체2.0 Regular" panose="020B0600000101010101" pitchFamily="50" charset="-127"/>
              </a:rPr>
              <a:t>? </a:t>
            </a:r>
          </a:p>
          <a:p>
            <a:pPr eaLnBrk="1" hangingPunct="1">
              <a:spcAft>
                <a:spcPts val="567"/>
              </a:spcAft>
              <a:defRPr/>
            </a:pP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Hasil </a:t>
            </a:r>
            <a:r>
              <a:rPr lang="en-ID" altLang="ko-KR" b="1" err="1">
                <a:solidFill>
                  <a:schemeClr val="tx1"/>
                </a:solidFill>
                <a:latin typeface="LG스마트체2.0 Regular" panose="020B0600000101010101" pitchFamily="50" charset="-127"/>
                <a:ea typeface="LG스마트체2.0 Regular" panose="020B0600000101010101" pitchFamily="50" charset="-127"/>
              </a:rPr>
              <a:t>eksekusi</a:t>
            </a: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Hello, World~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모서리가 둥근 직사각형 1">
            <a:extLst>
              <a:ext uri="{FF2B5EF4-FFF2-40B4-BE49-F238E27FC236}">
                <a16:creationId xmlns:a16="http://schemas.microsoft.com/office/drawing/2014/main" id="{735D6488-52AC-5B07-A29C-6AC49FA70915}"/>
              </a:ext>
            </a:extLst>
          </p:cNvPr>
          <p:cNvSpPr/>
          <p:nvPr/>
        </p:nvSpPr>
        <p:spPr>
          <a:xfrm>
            <a:off x="350838" y="1017588"/>
            <a:ext cx="8442325" cy="5400675"/>
          </a:xfrm>
          <a:prstGeom prst="roundRect">
            <a:avLst>
              <a:gd name="adj" fmla="val 3782"/>
            </a:avLst>
          </a:prstGeom>
          <a:solidFill>
            <a:schemeClr val="accent5">
              <a:lumMod val="20000"/>
              <a:lumOff val="80000"/>
              <a:alpha val="7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lstStyle/>
          <a:p>
            <a:pPr eaLnBrk="1" hangingPunct="1">
              <a:spcAft>
                <a:spcPts val="567"/>
              </a:spcAft>
              <a:defRPr/>
            </a:pPr>
            <a:r>
              <a:rPr lang="en-US" altLang="ko-KR" sz="1400">
                <a:solidFill>
                  <a:schemeClr val="tx1"/>
                </a:solidFill>
                <a:latin typeface="나눔고딕코딩" pitchFamily="49" charset="-127"/>
                <a:ea typeface="나눔고딕코딩" pitchFamily="49" charset="-127"/>
              </a:rPr>
              <a:t>package com.lgcns.chapter02;</a:t>
            </a:r>
          </a:p>
          <a:p>
            <a:pPr eaLnBrk="1" hangingPunct="1">
              <a:spcAft>
                <a:spcPts val="567"/>
              </a:spcAft>
              <a:defRPr/>
            </a:pPr>
            <a:endParaRPr lang="en-US" altLang="ko-KR" sz="14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400">
                <a:solidFill>
                  <a:schemeClr val="tx1"/>
                </a:solidFill>
                <a:latin typeface="나눔고딕코딩" pitchFamily="49" charset="-127"/>
                <a:ea typeface="나눔고딕코딩" pitchFamily="49" charset="-127"/>
              </a:rPr>
              <a:t>public class HelloWorld {</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    </a:t>
            </a:r>
            <a:r>
              <a:rPr lang="en-US" altLang="ko-KR" sz="1400">
                <a:solidFill>
                  <a:srgbClr val="C5003D"/>
                </a:solidFill>
                <a:latin typeface="나눔고딕코딩" pitchFamily="49" charset="-127"/>
                <a:ea typeface="나눔고딕코딩" pitchFamily="49" charset="-127"/>
              </a:rPr>
              <a:t>/**</a:t>
            </a:r>
          </a:p>
          <a:p>
            <a:pPr eaLnBrk="1" hangingPunct="1">
              <a:spcAft>
                <a:spcPts val="567"/>
              </a:spcAft>
              <a:defRPr/>
            </a:pPr>
            <a:r>
              <a:rPr lang="en-US" altLang="ko-KR" sz="1400">
                <a:solidFill>
                  <a:srgbClr val="C5003D"/>
                </a:solidFill>
                <a:latin typeface="나눔고딕코딩" pitchFamily="49" charset="-127"/>
                <a:ea typeface="나눔고딕코딩" pitchFamily="49" charset="-127"/>
              </a:rPr>
              <a:t>      * </a:t>
            </a:r>
            <a:r>
              <a:rPr lang="en-US" altLang="ko-KR" sz="1400" err="1">
                <a:solidFill>
                  <a:srgbClr val="C5003D"/>
                </a:solidFill>
                <a:latin typeface="나눔고딕코딩" pitchFamily="49" charset="-127"/>
                <a:ea typeface="나눔고딕코딩" pitchFamily="49" charset="-127"/>
              </a:rPr>
              <a:t>Buat</a:t>
            </a:r>
            <a:r>
              <a:rPr lang="en-US" altLang="ko-KR" sz="1400">
                <a:solidFill>
                  <a:srgbClr val="C5003D"/>
                </a:solidFill>
                <a:latin typeface="나눔고딕코딩" pitchFamily="49" charset="-127"/>
                <a:ea typeface="나눔고딕코딩" pitchFamily="49" charset="-127"/>
              </a:rPr>
              <a:t> </a:t>
            </a:r>
            <a:r>
              <a:rPr lang="en-US" altLang="ko-KR" sz="1400" err="1">
                <a:solidFill>
                  <a:srgbClr val="C5003D"/>
                </a:solidFill>
                <a:latin typeface="나눔고딕코딩" pitchFamily="49" charset="-127"/>
                <a:ea typeface="나눔고딕코딩" pitchFamily="49" charset="-127"/>
              </a:rPr>
              <a:t>ulasan</a:t>
            </a:r>
            <a:r>
              <a:rPr lang="en-US" altLang="ko-KR" sz="1400">
                <a:solidFill>
                  <a:srgbClr val="C5003D"/>
                </a:solidFill>
                <a:latin typeface="나눔고딕코딩" pitchFamily="49" charset="-127"/>
                <a:ea typeface="나눔고딕코딩" pitchFamily="49" charset="-127"/>
              </a:rPr>
              <a:t> </a:t>
            </a:r>
            <a:r>
              <a:rPr lang="en-US" altLang="ko-KR" sz="1400" err="1">
                <a:solidFill>
                  <a:srgbClr val="C5003D"/>
                </a:solidFill>
                <a:latin typeface="나눔고딕코딩" pitchFamily="49" charset="-127"/>
                <a:ea typeface="나눔고딕코딩" pitchFamily="49" charset="-127"/>
              </a:rPr>
              <a:t>untuk</a:t>
            </a:r>
            <a:r>
              <a:rPr lang="en-US" altLang="ko-KR" sz="1400">
                <a:solidFill>
                  <a:srgbClr val="C5003D"/>
                </a:solidFill>
                <a:latin typeface="나눔고딕코딩" pitchFamily="49" charset="-127"/>
                <a:ea typeface="나눔고딕코딩" pitchFamily="49" charset="-127"/>
              </a:rPr>
              <a:t> </a:t>
            </a:r>
            <a:r>
              <a:rPr lang="en-US" altLang="ko-KR" sz="1400" err="1">
                <a:solidFill>
                  <a:srgbClr val="C5003D"/>
                </a:solidFill>
                <a:latin typeface="나눔고딕코딩" pitchFamily="49" charset="-127"/>
                <a:ea typeface="나눔고딕코딩" pitchFamily="49" charset="-127"/>
              </a:rPr>
              <a:t>membuat</a:t>
            </a:r>
            <a:r>
              <a:rPr lang="en-US" altLang="ko-KR" sz="1400">
                <a:solidFill>
                  <a:srgbClr val="C5003D"/>
                </a:solidFill>
                <a:latin typeface="나눔고딕코딩" pitchFamily="49" charset="-127"/>
                <a:ea typeface="나눔고딕코딩" pitchFamily="49" charset="-127"/>
              </a:rPr>
              <a:t> Java Document</a:t>
            </a:r>
          </a:p>
          <a:p>
            <a:pPr eaLnBrk="1" hangingPunct="1">
              <a:spcAft>
                <a:spcPts val="567"/>
              </a:spcAft>
              <a:defRPr/>
            </a:pPr>
            <a:r>
              <a:rPr lang="en-US" altLang="ko-KR" sz="1400">
                <a:solidFill>
                  <a:srgbClr val="C5003D"/>
                </a:solidFill>
                <a:latin typeface="나눔고딕코딩" pitchFamily="49" charset="-127"/>
                <a:ea typeface="나눔고딕코딩" pitchFamily="49" charset="-127"/>
              </a:rPr>
              <a:t>      * </a:t>
            </a:r>
            <a:r>
              <a:rPr lang="en-US" altLang="ko-KR" sz="1400" err="1">
                <a:solidFill>
                  <a:srgbClr val="C5003D"/>
                </a:solidFill>
                <a:latin typeface="나눔고딕코딩" pitchFamily="49" charset="-127"/>
                <a:ea typeface="나눔고딕코딩" pitchFamily="49" charset="-127"/>
              </a:rPr>
              <a:t>Ulasan</a:t>
            </a:r>
            <a:r>
              <a:rPr lang="en-US" altLang="ko-KR" sz="1400">
                <a:solidFill>
                  <a:srgbClr val="C5003D"/>
                </a:solidFill>
                <a:latin typeface="나눔고딕코딩" pitchFamily="49" charset="-127"/>
                <a:ea typeface="나눔고딕코딩" pitchFamily="49" charset="-127"/>
              </a:rPr>
              <a:t> </a:t>
            </a:r>
            <a:r>
              <a:rPr lang="en-US" altLang="ko-KR" sz="1400" err="1">
                <a:solidFill>
                  <a:srgbClr val="C5003D"/>
                </a:solidFill>
                <a:latin typeface="나눔고딕코딩" pitchFamily="49" charset="-127"/>
                <a:ea typeface="나눔고딕코딩" pitchFamily="49" charset="-127"/>
              </a:rPr>
              <a:t>untuk</a:t>
            </a:r>
            <a:r>
              <a:rPr lang="en-US" altLang="ko-KR" sz="1400">
                <a:solidFill>
                  <a:srgbClr val="C5003D"/>
                </a:solidFill>
                <a:latin typeface="나눔고딕코딩" pitchFamily="49" charset="-127"/>
                <a:ea typeface="나눔고딕코딩" pitchFamily="49" charset="-127"/>
              </a:rPr>
              <a:t> </a:t>
            </a:r>
            <a:r>
              <a:rPr lang="en-US" altLang="ko-KR" sz="1400" err="1">
                <a:solidFill>
                  <a:srgbClr val="C5003D"/>
                </a:solidFill>
                <a:latin typeface="나눔고딕코딩" pitchFamily="49" charset="-127"/>
                <a:ea typeface="나눔고딕코딩" pitchFamily="49" charset="-127"/>
              </a:rPr>
              <a:t>menjelaskan</a:t>
            </a:r>
            <a:r>
              <a:rPr lang="en-US" altLang="ko-KR" sz="1400">
                <a:solidFill>
                  <a:srgbClr val="C5003D"/>
                </a:solidFill>
                <a:latin typeface="나눔고딕코딩" pitchFamily="49" charset="-127"/>
                <a:ea typeface="나눔고딕코딩" pitchFamily="49" charset="-127"/>
              </a:rPr>
              <a:t> Method </a:t>
            </a:r>
            <a:r>
              <a:rPr lang="en-US" altLang="ko-KR" sz="1400" err="1">
                <a:solidFill>
                  <a:srgbClr val="C5003D"/>
                </a:solidFill>
                <a:latin typeface="나눔고딕코딩" pitchFamily="49" charset="-127"/>
                <a:ea typeface="나눔고딕코딩" pitchFamily="49" charset="-127"/>
              </a:rPr>
              <a:t>atau</a:t>
            </a:r>
            <a:r>
              <a:rPr lang="en-US" altLang="ko-KR" sz="1400">
                <a:solidFill>
                  <a:srgbClr val="C5003D"/>
                </a:solidFill>
                <a:latin typeface="나눔고딕코딩" pitchFamily="49" charset="-127"/>
                <a:ea typeface="나눔고딕코딩" pitchFamily="49" charset="-127"/>
              </a:rPr>
              <a:t> Class.</a:t>
            </a:r>
          </a:p>
          <a:p>
            <a:pPr eaLnBrk="1" hangingPunct="1">
              <a:spcAft>
                <a:spcPts val="567"/>
              </a:spcAft>
              <a:defRPr/>
            </a:pPr>
            <a:r>
              <a:rPr lang="en-US" altLang="ko-KR" sz="1400">
                <a:solidFill>
                  <a:srgbClr val="C5003D"/>
                </a:solidFill>
                <a:latin typeface="나눔고딕코딩" pitchFamily="49" charset="-127"/>
                <a:ea typeface="나눔고딕코딩" pitchFamily="49" charset="-127"/>
              </a:rPr>
              <a:t>      */</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    public static void main( String[] </a:t>
            </a:r>
            <a:r>
              <a:rPr lang="en-US" altLang="ko-KR" sz="1400" err="1">
                <a:solidFill>
                  <a:schemeClr val="tx1"/>
                </a:solidFill>
                <a:latin typeface="나눔고딕코딩" pitchFamily="49" charset="-127"/>
                <a:ea typeface="나눔고딕코딩" pitchFamily="49" charset="-127"/>
              </a:rPr>
              <a:t>args</a:t>
            </a:r>
            <a:r>
              <a:rPr lang="en-US" altLang="ko-KR" sz="1400">
                <a:solidFill>
                  <a:schemeClr val="tx1"/>
                </a:solidFill>
                <a:latin typeface="나눔고딕코딩" pitchFamily="49" charset="-127"/>
                <a:ea typeface="나눔고딕코딩" pitchFamily="49" charset="-127"/>
              </a:rPr>
              <a:t> ) {</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        </a:t>
            </a:r>
            <a:r>
              <a:rPr lang="en-US" altLang="ko-KR" sz="1400">
                <a:solidFill>
                  <a:srgbClr val="C5003D"/>
                </a:solidFill>
                <a:latin typeface="나눔고딕코딩" pitchFamily="49" charset="-127"/>
                <a:ea typeface="나눔고딕코딩" pitchFamily="49" charset="-127"/>
              </a:rPr>
              <a:t>/*</a:t>
            </a:r>
          </a:p>
          <a:p>
            <a:pPr eaLnBrk="1" hangingPunct="1">
              <a:spcAft>
                <a:spcPts val="567"/>
              </a:spcAft>
              <a:defRPr/>
            </a:pPr>
            <a:r>
              <a:rPr lang="en-US" altLang="ko-KR" sz="1400">
                <a:solidFill>
                  <a:srgbClr val="C5003D"/>
                </a:solidFill>
                <a:latin typeface="나눔고딕코딩" pitchFamily="49" charset="-127"/>
                <a:ea typeface="나눔고딕코딩" pitchFamily="49" charset="-127"/>
              </a:rPr>
              <a:t>         * </a:t>
            </a:r>
            <a:r>
              <a:rPr lang="en-ID" altLang="ko-KR" sz="1400" err="1">
                <a:solidFill>
                  <a:srgbClr val="C5003D"/>
                </a:solidFill>
                <a:latin typeface="나눔고딕코딩" pitchFamily="49" charset="-127"/>
                <a:ea typeface="나눔고딕코딩" pitchFamily="49" charset="-127"/>
              </a:rPr>
              <a:t>Tulis</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komentar</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dalam</a:t>
            </a:r>
            <a:r>
              <a:rPr lang="en-ID" altLang="ko-KR" sz="1400">
                <a:solidFill>
                  <a:srgbClr val="C5003D"/>
                </a:solidFill>
                <a:latin typeface="나눔고딕코딩" pitchFamily="49" charset="-127"/>
                <a:ea typeface="나눔고딕코딩" pitchFamily="49" charset="-127"/>
              </a:rPr>
              <a:t> Blok</a:t>
            </a:r>
            <a:r>
              <a:rPr lang="en-US" altLang="ko-KR" sz="1400">
                <a:solidFill>
                  <a:srgbClr val="C5003D"/>
                </a:solidFill>
                <a:latin typeface="나눔고딕코딩" pitchFamily="49" charset="-127"/>
                <a:ea typeface="나눔고딕코딩" pitchFamily="49" charset="-127"/>
              </a:rPr>
              <a:t>.</a:t>
            </a:r>
          </a:p>
          <a:p>
            <a:pPr eaLnBrk="1" hangingPunct="1">
              <a:spcAft>
                <a:spcPts val="567"/>
              </a:spcAft>
              <a:defRPr/>
            </a:pPr>
            <a:r>
              <a:rPr lang="en-US" altLang="ko-KR" sz="1400">
                <a:solidFill>
                  <a:srgbClr val="C5003D"/>
                </a:solidFill>
                <a:latin typeface="나눔고딕코딩" pitchFamily="49" charset="-127"/>
                <a:ea typeface="나눔고딕코딩" pitchFamily="49" charset="-127"/>
              </a:rPr>
              <a:t>         * </a:t>
            </a:r>
            <a:r>
              <a:rPr lang="en-ID" altLang="ko-KR" sz="1400" err="1">
                <a:solidFill>
                  <a:srgbClr val="C5003D"/>
                </a:solidFill>
                <a:latin typeface="나눔고딕코딩" pitchFamily="49" charset="-127"/>
                <a:ea typeface="나눔고딕코딩" pitchFamily="49" charset="-127"/>
              </a:rPr>
              <a:t>Tulis</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komentar</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dalam</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beberapa</a:t>
            </a:r>
            <a:r>
              <a:rPr lang="en-ID" altLang="ko-KR" sz="1400">
                <a:solidFill>
                  <a:srgbClr val="C5003D"/>
                </a:solidFill>
                <a:latin typeface="나눔고딕코딩" pitchFamily="49" charset="-127"/>
                <a:ea typeface="나눔고딕코딩" pitchFamily="49" charset="-127"/>
              </a:rPr>
              <a:t> baris</a:t>
            </a:r>
            <a:r>
              <a:rPr lang="en-US" altLang="ko-KR" sz="1400">
                <a:solidFill>
                  <a:srgbClr val="C5003D"/>
                </a:solidFill>
                <a:latin typeface="나눔고딕코딩" pitchFamily="49" charset="-127"/>
                <a:ea typeface="나눔고딕코딩" pitchFamily="49" charset="-127"/>
              </a:rPr>
              <a:t>.</a:t>
            </a:r>
          </a:p>
          <a:p>
            <a:pPr eaLnBrk="1" hangingPunct="1">
              <a:spcAft>
                <a:spcPts val="567"/>
              </a:spcAft>
              <a:defRPr/>
            </a:pPr>
            <a:r>
              <a:rPr lang="en-US" altLang="ko-KR" sz="1400">
                <a:solidFill>
                  <a:srgbClr val="C5003D"/>
                </a:solidFill>
                <a:latin typeface="나눔고딕코딩" pitchFamily="49" charset="-127"/>
                <a:ea typeface="나눔고딕코딩" pitchFamily="49" charset="-127"/>
              </a:rPr>
              <a:t>         */</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        </a:t>
            </a:r>
            <a:r>
              <a:rPr lang="en-US" altLang="ko-KR" sz="1400" err="1">
                <a:solidFill>
                  <a:schemeClr val="tx1"/>
                </a:solidFill>
                <a:latin typeface="나눔고딕코딩" pitchFamily="49" charset="-127"/>
                <a:ea typeface="나눔고딕코딩" pitchFamily="49" charset="-127"/>
              </a:rPr>
              <a:t>System.out.println</a:t>
            </a:r>
            <a:r>
              <a:rPr lang="en-US" altLang="ko-KR" sz="1400">
                <a:solidFill>
                  <a:schemeClr val="tx1"/>
                </a:solidFill>
                <a:latin typeface="나눔고딕코딩" pitchFamily="49" charset="-127"/>
                <a:ea typeface="나눔고딕코딩" pitchFamily="49" charset="-127"/>
              </a:rPr>
              <a:t>(“Hello, World~”);    </a:t>
            </a:r>
            <a:r>
              <a:rPr lang="en-US"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Pernyataan</a:t>
            </a:r>
            <a:r>
              <a:rPr lang="en-ID" altLang="ko-KR" sz="1400">
                <a:solidFill>
                  <a:srgbClr val="C5003D"/>
                </a:solidFill>
                <a:latin typeface="나눔고딕코딩" pitchFamily="49" charset="-127"/>
                <a:ea typeface="나눔고딕코딩" pitchFamily="49" charset="-127"/>
              </a:rPr>
              <a:t> output </a:t>
            </a:r>
            <a:r>
              <a:rPr lang="en-ID" altLang="ko-KR" sz="1400" err="1">
                <a:solidFill>
                  <a:srgbClr val="C5003D"/>
                </a:solidFill>
                <a:latin typeface="나눔고딕코딩" pitchFamily="49" charset="-127"/>
                <a:ea typeface="나눔고딕코딩" pitchFamily="49" charset="-127"/>
              </a:rPr>
              <a:t>sederhana</a:t>
            </a:r>
            <a:endParaRPr lang="en-US" altLang="ko-KR" sz="1400">
              <a:solidFill>
                <a:srgbClr val="C5003D"/>
              </a:solidFill>
              <a:latin typeface="나눔고딕코딩" pitchFamily="49" charset="-127"/>
              <a:ea typeface="나눔고딕코딩" pitchFamily="49" charset="-127"/>
            </a:endParaRPr>
          </a:p>
          <a:p>
            <a:pPr eaLnBrk="1" hangingPunct="1">
              <a:spcAft>
                <a:spcPts val="567"/>
              </a:spcAft>
              <a:defRPr/>
            </a:pPr>
            <a:r>
              <a:rPr lang="en-US" altLang="ko-KR" sz="1400">
                <a:solidFill>
                  <a:schemeClr val="tx1"/>
                </a:solidFill>
                <a:latin typeface="나눔고딕코딩" pitchFamily="49" charset="-127"/>
                <a:ea typeface="나눔고딕코딩" pitchFamily="49" charset="-127"/>
              </a:rPr>
              <a:t>        </a:t>
            </a:r>
            <a:r>
              <a:rPr lang="en-US"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Tuliskan</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ulasan</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dalam</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satu</a:t>
            </a:r>
            <a:r>
              <a:rPr lang="en-ID" altLang="ko-KR" sz="1400">
                <a:solidFill>
                  <a:srgbClr val="C5003D"/>
                </a:solidFill>
                <a:latin typeface="나눔고딕코딩" pitchFamily="49" charset="-127"/>
                <a:ea typeface="나눔고딕코딩" pitchFamily="49" charset="-127"/>
              </a:rPr>
              <a:t> baris</a:t>
            </a:r>
            <a:r>
              <a:rPr lang="en-US" altLang="ko-KR" sz="1400">
                <a:solidFill>
                  <a:srgbClr val="C5003D"/>
                </a:solidFill>
                <a:latin typeface="나눔고딕코딩" pitchFamily="49" charset="-127"/>
                <a:ea typeface="나눔고딕코딩" pitchFamily="49" charset="-127"/>
              </a:rPr>
              <a:t>.</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        </a:t>
            </a:r>
            <a:r>
              <a:rPr lang="en-US" altLang="ko-KR" sz="1400">
                <a:solidFill>
                  <a:srgbClr val="C5003D"/>
                </a:solidFill>
                <a:latin typeface="나눔고딕코딩" pitchFamily="49" charset="-127"/>
                <a:ea typeface="나눔고딕코딩" pitchFamily="49" charset="-127"/>
              </a:rPr>
              <a:t>// </a:t>
            </a:r>
            <a:r>
              <a:rPr lang="en-ID" altLang="ko-KR" sz="1400">
                <a:solidFill>
                  <a:srgbClr val="C5003D"/>
                </a:solidFill>
                <a:latin typeface="나눔고딕코딩" pitchFamily="49" charset="-127"/>
                <a:ea typeface="나눔고딕코딩" pitchFamily="49" charset="-127"/>
              </a:rPr>
              <a:t>Jika </a:t>
            </a:r>
            <a:r>
              <a:rPr lang="en-ID" altLang="ko-KR" sz="1400" err="1">
                <a:solidFill>
                  <a:srgbClr val="C5003D"/>
                </a:solidFill>
                <a:latin typeface="나눔고딕코딩" pitchFamily="49" charset="-127"/>
                <a:ea typeface="나눔고딕코딩" pitchFamily="49" charset="-127"/>
              </a:rPr>
              <a:t>ingin</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menuliskan</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ulasan</a:t>
            </a:r>
            <a:r>
              <a:rPr lang="en-ID"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dalam</a:t>
            </a:r>
            <a:r>
              <a:rPr lang="en-ID" altLang="ko-KR" sz="1400">
                <a:solidFill>
                  <a:srgbClr val="C5003D"/>
                </a:solidFill>
                <a:latin typeface="나눔고딕코딩" pitchFamily="49" charset="-127"/>
                <a:ea typeface="나눔고딕코딩" pitchFamily="49" charset="-127"/>
              </a:rPr>
              <a:t> baris </a:t>
            </a:r>
            <a:r>
              <a:rPr lang="en-ID" altLang="ko-KR" sz="1400" err="1">
                <a:solidFill>
                  <a:srgbClr val="C5003D"/>
                </a:solidFill>
                <a:latin typeface="나눔고딕코딩" pitchFamily="49" charset="-127"/>
                <a:ea typeface="나눔고딕코딩" pitchFamily="49" charset="-127"/>
              </a:rPr>
              <a:t>berikutnya</a:t>
            </a:r>
            <a:r>
              <a:rPr lang="en-US" altLang="ko-KR"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Ulangi</a:t>
            </a:r>
            <a:r>
              <a:rPr lang="ko-KR" altLang="en-US" sz="1400">
                <a:solidFill>
                  <a:srgbClr val="C5003D"/>
                </a:solidFill>
                <a:latin typeface="나눔고딕코딩" pitchFamily="49" charset="-127"/>
                <a:ea typeface="나눔고딕코딩" pitchFamily="49" charset="-127"/>
              </a:rPr>
              <a:t> </a:t>
            </a:r>
            <a:r>
              <a:rPr lang="en-ID" altLang="ko-KR" sz="1400" err="1">
                <a:solidFill>
                  <a:srgbClr val="C5003D"/>
                </a:solidFill>
                <a:latin typeface="나눔고딕코딩" pitchFamily="49" charset="-127"/>
                <a:ea typeface="나눔고딕코딩" pitchFamily="49" charset="-127"/>
              </a:rPr>
              <a:t>menuliskan</a:t>
            </a:r>
            <a:r>
              <a:rPr lang="en-ID" altLang="ko-KR" sz="1400">
                <a:solidFill>
                  <a:srgbClr val="C5003D"/>
                </a:solidFill>
                <a:latin typeface="나눔고딕코딩" pitchFamily="49" charset="-127"/>
                <a:ea typeface="나눔고딕코딩" pitchFamily="49" charset="-127"/>
              </a:rPr>
              <a:t> </a:t>
            </a:r>
            <a:r>
              <a:rPr lang="en-US" altLang="ko-KR" sz="1400">
                <a:solidFill>
                  <a:srgbClr val="C5003D"/>
                </a:solidFill>
                <a:latin typeface="나눔고딕코딩" pitchFamily="49" charset="-127"/>
                <a:ea typeface="나눔고딕코딩" pitchFamily="49" charset="-127"/>
              </a:rPr>
              <a:t>//.</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        </a:t>
            </a:r>
            <a:r>
              <a:rPr lang="en-US" altLang="ko-KR" sz="1400" err="1">
                <a:solidFill>
                  <a:schemeClr val="tx1"/>
                </a:solidFill>
                <a:latin typeface="나눔고딕코딩" pitchFamily="49" charset="-127"/>
                <a:ea typeface="나눔고딕코딩" pitchFamily="49" charset="-127"/>
              </a:rPr>
              <a:t>System.out.println</a:t>
            </a:r>
            <a:r>
              <a:rPr lang="en-US" altLang="ko-KR" sz="1400">
                <a:solidFill>
                  <a:schemeClr val="tx1"/>
                </a:solidFill>
                <a:latin typeface="나눔고딕코딩" pitchFamily="49" charset="-127"/>
                <a:ea typeface="나눔고딕코딩" pitchFamily="49" charset="-127"/>
              </a:rPr>
              <a:t>(“Hello, World~”);</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400">
                <a:solidFill>
                  <a:schemeClr val="tx1"/>
                </a:solidFill>
                <a:latin typeface="나눔고딕코딩" pitchFamily="49" charset="-127"/>
                <a:ea typeface="나눔고딕코딩" pitchFamily="49" charset="-127"/>
              </a:rPr>
              <a:t>}</a:t>
            </a:r>
          </a:p>
        </p:txBody>
      </p:sp>
      <p:sp>
        <p:nvSpPr>
          <p:cNvPr id="51203" name="제목 5">
            <a:extLst>
              <a:ext uri="{FF2B5EF4-FFF2-40B4-BE49-F238E27FC236}">
                <a16:creationId xmlns:a16="http://schemas.microsoft.com/office/drawing/2014/main" id="{124D4090-D8D8-E82F-91B3-67028D113559}"/>
              </a:ext>
            </a:extLst>
          </p:cNvPr>
          <p:cNvSpPr>
            <a:spLocks/>
          </p:cNvSpPr>
          <p:nvPr/>
        </p:nvSpPr>
        <p:spPr bwMode="auto">
          <a:xfrm>
            <a:off x="123825" y="49213"/>
            <a:ext cx="28971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indent="83820" eaLnBrk="1" latinLnBrk="1" hangingPunct="1"/>
            <a:r>
              <a:rPr kumimoji="0" lang="en-US" altLang="ko-KR" sz="2300" b="1">
                <a:solidFill>
                  <a:schemeClr val="bg1"/>
                </a:solidFill>
                <a:latin typeface="LG스마트체2.0 Regular" panose="020B0600000101010101" pitchFamily="50" charset="-127"/>
                <a:ea typeface="LG스마트체2.0 Regular"/>
              </a:rPr>
              <a:t>[</a:t>
            </a:r>
            <a:r>
              <a:rPr kumimoji="0" lang="en-ID" altLang="ko-KR" sz="2300" b="1" err="1">
                <a:solidFill>
                  <a:schemeClr val="bg1"/>
                </a:solidFill>
                <a:latin typeface="LG스마트체2.0 Regular" panose="020B0600000101010101" pitchFamily="50" charset="-127"/>
                <a:ea typeface="LG스마트체2.0 Regular"/>
              </a:rPr>
              <a:t>Contoh</a:t>
            </a:r>
            <a:r>
              <a:rPr kumimoji="0" lang="en-US" altLang="ko-KR" sz="2300" b="1">
                <a:solidFill>
                  <a:schemeClr val="bg1"/>
                </a:solidFill>
                <a:latin typeface="LG스마트체2.0 Regular" panose="020B0600000101010101" pitchFamily="50" charset="-127"/>
                <a:ea typeface="LG스마트체2.0 Regular"/>
              </a:rPr>
              <a:t>] </a:t>
            </a:r>
            <a:r>
              <a:rPr kumimoji="0" lang="en-US" altLang="ko-KR" sz="2300" b="1" err="1">
                <a:solidFill>
                  <a:schemeClr val="bg1"/>
                </a:solidFill>
                <a:latin typeface="LG스마트체2.0 Regular" panose="020B0600000101010101" pitchFamily="50" charset="-127"/>
                <a:ea typeface="LG스마트체2.0 Regular"/>
              </a:rPr>
              <a:t>Komentar</a:t>
            </a:r>
            <a:endParaRPr lang="en-US" altLang="ko-KR" sz="2300" b="1" err="1">
              <a:solidFill>
                <a:schemeClr val="bg1"/>
              </a:solidFill>
              <a:latin typeface="LG스마트체2.0 Regular" panose="020B0600000101010101" pitchFamily="50" charset="-127"/>
              <a:ea typeface="LG스마트체2.0 Regular" panose="020B0600000101010101" pitchFamily="50"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2" name="Google Shape;42;p1"/>
          <p:cNvSpPr txBox="1"/>
          <p:nvPr/>
        </p:nvSpPr>
        <p:spPr>
          <a:xfrm>
            <a:off x="1393798" y="803275"/>
            <a:ext cx="4887912" cy="508000"/>
          </a:xfrm>
          <a:prstGeom prst="rect">
            <a:avLst/>
          </a:prstGeom>
          <a:noFill/>
          <a:ln>
            <a:noFill/>
          </a:ln>
        </p:spPr>
        <p:txBody>
          <a:bodyPr spcFirstLastPara="1" wrap="square" lIns="0" tIns="0" rIns="0" bIns="0" anchor="t" anchorCtr="0">
            <a:spAutoFit/>
          </a:bodyPr>
          <a:lstStyle/>
          <a:p>
            <a:r>
              <a:rPr lang="en-US" sz="3300" b="1">
                <a:solidFill>
                  <a:srgbClr val="262626"/>
                </a:solidFill>
                <a:latin typeface="Arial"/>
                <a:cs typeface="Arial"/>
                <a:sym typeface="Arial"/>
              </a:rPr>
              <a:t>Review Material </a:t>
            </a:r>
            <a:endParaRPr lang="id-ID"/>
          </a:p>
        </p:txBody>
      </p:sp>
      <p:sp>
        <p:nvSpPr>
          <p:cNvPr id="43" name="Google Shape;43;p1"/>
          <p:cNvSpPr txBox="1"/>
          <p:nvPr/>
        </p:nvSpPr>
        <p:spPr>
          <a:xfrm>
            <a:off x="201612" y="473894"/>
            <a:ext cx="1030287" cy="663575"/>
          </a:xfrm>
          <a:prstGeom prst="rect">
            <a:avLst/>
          </a:prstGeom>
          <a:noFill/>
          <a:ln>
            <a:noFill/>
          </a:ln>
        </p:spPr>
        <p:txBody>
          <a:bodyPr spcFirstLastPara="1" wrap="square" lIns="86450" tIns="43225" rIns="86450" bIns="43225" anchor="t" anchorCtr="0">
            <a:noAutofit/>
          </a:bodyPr>
          <a:lstStyle/>
          <a:p>
            <a:pPr marL="0" marR="0" lvl="0" indent="0" algn="ctr">
              <a:lnSpc>
                <a:spcPct val="100000"/>
              </a:lnSpc>
              <a:spcBef>
                <a:spcPts val="0"/>
              </a:spcBef>
              <a:spcAft>
                <a:spcPts val="0"/>
              </a:spcAft>
              <a:buNone/>
            </a:pPr>
            <a:r>
              <a:rPr lang="en-US" sz="2800" b="1">
                <a:solidFill>
                  <a:schemeClr val="lt1"/>
                </a:solidFill>
                <a:latin typeface="Arial"/>
                <a:cs typeface="Arial"/>
                <a:sym typeface="Arial"/>
              </a:rPr>
              <a:t>W</a:t>
            </a:r>
          </a:p>
          <a:p>
            <a:pPr algn="ctr"/>
            <a:r>
              <a:rPr lang="en-US" sz="2800" b="1">
                <a:solidFill>
                  <a:schemeClr val="lt1"/>
                </a:solidFill>
                <a:cs typeface="Arial"/>
              </a:rPr>
              <a:t>1</a:t>
            </a:r>
          </a:p>
        </p:txBody>
      </p:sp>
      <p:sp>
        <p:nvSpPr>
          <p:cNvPr id="4" name="Google Shape;44;p1">
            <a:extLst>
              <a:ext uri="{FF2B5EF4-FFF2-40B4-BE49-F238E27FC236}">
                <a16:creationId xmlns:a16="http://schemas.microsoft.com/office/drawing/2014/main" id="{766C0BD2-BE4B-EC6A-7180-83F8140D7E21}"/>
              </a:ext>
            </a:extLst>
          </p:cNvPr>
          <p:cNvSpPr txBox="1"/>
          <p:nvPr/>
        </p:nvSpPr>
        <p:spPr>
          <a:xfrm>
            <a:off x="1393825" y="2135187"/>
            <a:ext cx="6852222" cy="2585323"/>
          </a:xfrm>
          <a:prstGeom prst="rect">
            <a:avLst/>
          </a:prstGeom>
          <a:noFill/>
          <a:ln>
            <a:noFill/>
          </a:ln>
        </p:spPr>
        <p:txBody>
          <a:bodyPr spcFirstLastPara="1" wrap="square" lIns="0" tIns="0" rIns="0" bIns="0" anchor="t" anchorCtr="0">
            <a:spAutoFit/>
          </a:bodyPr>
          <a:lstStyle/>
          <a:p>
            <a:pPr marL="342900" indent="-342900">
              <a:buFont typeface="Calibri"/>
              <a:buChar char="-"/>
            </a:pPr>
            <a:r>
              <a:rPr lang="en-US" sz="2100">
                <a:solidFill>
                  <a:srgbClr val="404040"/>
                </a:solidFill>
                <a:latin typeface="Arial"/>
                <a:cs typeface="Arial"/>
              </a:rPr>
              <a:t>Variable </a:t>
            </a:r>
          </a:p>
          <a:p>
            <a:pPr marL="342900" indent="-342900">
              <a:buFont typeface="Calibri"/>
              <a:buChar char="-"/>
            </a:pPr>
            <a:r>
              <a:rPr lang="en-US" sz="2100">
                <a:solidFill>
                  <a:srgbClr val="404040"/>
                </a:solidFill>
                <a:latin typeface="Arial"/>
                <a:cs typeface="Arial"/>
              </a:rPr>
              <a:t>Data Type </a:t>
            </a:r>
          </a:p>
          <a:p>
            <a:pPr marL="800100" lvl="1" indent="-342900">
              <a:buFont typeface="Courier New"/>
              <a:buChar char="o"/>
            </a:pPr>
            <a:r>
              <a:rPr lang="en-US" sz="2100">
                <a:solidFill>
                  <a:srgbClr val="404040"/>
                </a:solidFill>
                <a:latin typeface="Arial"/>
                <a:cs typeface="Arial"/>
              </a:rPr>
              <a:t>Default data type </a:t>
            </a:r>
          </a:p>
          <a:p>
            <a:pPr marL="800100" lvl="1" indent="-342900">
              <a:buFont typeface="Courier New"/>
              <a:buChar char="o"/>
            </a:pPr>
            <a:r>
              <a:rPr lang="en-US" sz="2100">
                <a:solidFill>
                  <a:srgbClr val="404040"/>
                </a:solidFill>
                <a:latin typeface="Arial"/>
                <a:cs typeface="Arial"/>
              </a:rPr>
              <a:t>String </a:t>
            </a:r>
          </a:p>
          <a:p>
            <a:pPr marL="342900" indent="-342900">
              <a:buFont typeface="Calibri"/>
              <a:buChar char="-"/>
            </a:pPr>
            <a:r>
              <a:rPr lang="en-US" sz="2100">
                <a:solidFill>
                  <a:srgbClr val="404040"/>
                </a:solidFill>
                <a:ea typeface="+mn-lt"/>
                <a:cs typeface="+mn-lt"/>
              </a:rPr>
              <a:t>Arithmetic </a:t>
            </a:r>
            <a:r>
              <a:rPr lang="en-US" sz="2100">
                <a:solidFill>
                  <a:srgbClr val="404040"/>
                </a:solidFill>
                <a:latin typeface="Arial"/>
                <a:cs typeface="Arial"/>
              </a:rPr>
              <a:t>Operator </a:t>
            </a:r>
          </a:p>
          <a:p>
            <a:pPr marL="342900" indent="-342900">
              <a:buFont typeface="Calibri"/>
              <a:buChar char="-"/>
            </a:pPr>
            <a:r>
              <a:rPr lang="en-US" sz="2100">
                <a:solidFill>
                  <a:srgbClr val="404040"/>
                </a:solidFill>
                <a:latin typeface="Arial"/>
                <a:cs typeface="Arial"/>
              </a:rPr>
              <a:t>Conditional Statement </a:t>
            </a:r>
          </a:p>
          <a:p>
            <a:pPr marL="342900" indent="-342900">
              <a:buFont typeface="Calibri"/>
              <a:buChar char="-"/>
            </a:pPr>
            <a:r>
              <a:rPr lang="en-US" sz="2100">
                <a:solidFill>
                  <a:srgbClr val="404040"/>
                </a:solidFill>
                <a:latin typeface="Arial"/>
                <a:cs typeface="Arial"/>
              </a:rPr>
              <a:t>Looping </a:t>
            </a:r>
          </a:p>
          <a:p>
            <a:pPr marL="342900" indent="-342900">
              <a:buFont typeface="Calibri"/>
              <a:buChar char="-"/>
            </a:pPr>
            <a:r>
              <a:rPr lang="en-US" sz="2100">
                <a:solidFill>
                  <a:srgbClr val="404040"/>
                </a:solidFill>
                <a:latin typeface="Arial"/>
                <a:cs typeface="Arial"/>
              </a:rPr>
              <a:t>Array</a:t>
            </a:r>
          </a:p>
        </p:txBody>
      </p:sp>
    </p:spTree>
    <p:extLst>
      <p:ext uri="{BB962C8B-B14F-4D97-AF65-F5344CB8AC3E}">
        <p14:creationId xmlns:p14="http://schemas.microsoft.com/office/powerpoint/2010/main" val="58736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6"/>
          <p:cNvSpPr txBox="1"/>
          <p:nvPr/>
        </p:nvSpPr>
        <p:spPr>
          <a:xfrm>
            <a:off x="123825" y="49212"/>
            <a:ext cx="5708650"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300"/>
              <a:buFont typeface="Arial"/>
              <a:buNone/>
            </a:pPr>
            <a:r>
              <a:rPr lang="en-US" sz="2300" b="1" i="0" u="none" strike="noStrike" cap="none">
                <a:solidFill>
                  <a:schemeClr val="lt1"/>
                </a:solidFill>
                <a:latin typeface="Arial"/>
                <a:ea typeface="Arial"/>
                <a:cs typeface="Arial"/>
                <a:sym typeface="Arial"/>
              </a:rPr>
              <a:t>Variabel adalah?</a:t>
            </a:r>
            <a:endParaRPr sz="1400" b="0" i="0" u="none" strike="noStrike" cap="none">
              <a:solidFill>
                <a:srgbClr val="000000"/>
              </a:solidFill>
              <a:latin typeface="Arial"/>
              <a:ea typeface="Arial"/>
              <a:cs typeface="Arial"/>
              <a:sym typeface="Arial"/>
            </a:endParaRPr>
          </a:p>
        </p:txBody>
      </p:sp>
      <p:sp>
        <p:nvSpPr>
          <p:cNvPr id="155" name="Google Shape;155;p6"/>
          <p:cNvSpPr txBox="1"/>
          <p:nvPr/>
        </p:nvSpPr>
        <p:spPr>
          <a:xfrm>
            <a:off x="1196975" y="2770187"/>
            <a:ext cx="6750050" cy="1317625"/>
          </a:xfrm>
          <a:prstGeom prst="rect">
            <a:avLst/>
          </a:prstGeom>
          <a:noFill/>
          <a:ln>
            <a:noFill/>
          </a:ln>
        </p:spPr>
        <p:txBody>
          <a:bodyPr spcFirstLastPara="1" wrap="square" lIns="86450" tIns="43225" rIns="86450" bIns="43225" anchor="t" anchorCtr="0">
            <a:spAutoFit/>
          </a:bodyPr>
          <a:lstStyle/>
          <a:p>
            <a:pPr marL="266700" marR="0" lvl="0" indent="-266700" algn="l" rtl="0">
              <a:lnSpc>
                <a:spcPct val="100000"/>
              </a:lnSpc>
              <a:spcBef>
                <a:spcPts val="0"/>
              </a:spcBef>
              <a:spcAft>
                <a:spcPts val="0"/>
              </a:spcAft>
              <a:buClr>
                <a:schemeClr val="dk1"/>
              </a:buClr>
              <a:buSzPts val="4000"/>
              <a:buFont typeface="Arial"/>
              <a:buNone/>
            </a:pPr>
            <a:r>
              <a:rPr lang="en-US" sz="4000" b="1" i="0" u="none" strike="noStrike" cap="none">
                <a:solidFill>
                  <a:schemeClr val="dk1"/>
                </a:solidFill>
                <a:latin typeface="Arial"/>
                <a:ea typeface="Arial"/>
                <a:cs typeface="Arial"/>
                <a:sym typeface="Arial"/>
              </a:rPr>
              <a:t>Variabel adalah Mangkuk yang </a:t>
            </a:r>
            <a:r>
              <a:rPr lang="en-US" sz="4000" b="1" i="0" u="none" strike="noStrike" cap="none">
                <a:solidFill>
                  <a:srgbClr val="FF0000"/>
                </a:solidFill>
                <a:latin typeface="Arial"/>
                <a:ea typeface="Arial"/>
                <a:cs typeface="Arial"/>
                <a:sym typeface="Arial"/>
              </a:rPr>
              <a:t>menyimpan data</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68266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5"/>
          <p:cNvSpPr txBox="1"/>
          <p:nvPr/>
        </p:nvSpPr>
        <p:spPr>
          <a:xfrm>
            <a:off x="123825" y="49212"/>
            <a:ext cx="5708650"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300"/>
              <a:buFont typeface="Arial"/>
              <a:buNone/>
            </a:pPr>
            <a:r>
              <a:rPr lang="en-US" sz="2300" b="1" i="0" u="none" strike="noStrike" cap="none">
                <a:solidFill>
                  <a:schemeClr val="lt1"/>
                </a:solidFill>
                <a:latin typeface="Arial"/>
                <a:ea typeface="Arial"/>
                <a:cs typeface="Arial"/>
                <a:sym typeface="Arial"/>
              </a:rPr>
              <a:t>Tipe data default</a:t>
            </a:r>
            <a:endParaRPr sz="1400" b="0" i="0" u="none" strike="noStrike" cap="none">
              <a:solidFill>
                <a:srgbClr val="000000"/>
              </a:solidFill>
              <a:latin typeface="Arial"/>
              <a:ea typeface="Arial"/>
              <a:cs typeface="Arial"/>
              <a:sym typeface="Arial"/>
            </a:endParaRPr>
          </a:p>
        </p:txBody>
      </p:sp>
      <p:graphicFrame>
        <p:nvGraphicFramePr>
          <p:cNvPr id="409" name="Google Shape;409;p25"/>
          <p:cNvGraphicFramePr/>
          <p:nvPr/>
        </p:nvGraphicFramePr>
        <p:xfrm>
          <a:off x="715962" y="1233487"/>
          <a:ext cx="7712050" cy="2297390"/>
        </p:xfrm>
        <a:graphic>
          <a:graphicData uri="http://schemas.openxmlformats.org/drawingml/2006/table">
            <a:tbl>
              <a:tblPr>
                <a:noFill/>
              </a:tblPr>
              <a:tblGrid>
                <a:gridCol w="1257300">
                  <a:extLst>
                    <a:ext uri="{9D8B030D-6E8A-4147-A177-3AD203B41FA5}">
                      <a16:colId xmlns:a16="http://schemas.microsoft.com/office/drawing/2014/main" val="20000"/>
                    </a:ext>
                  </a:extLst>
                </a:gridCol>
                <a:gridCol w="1941500">
                  <a:extLst>
                    <a:ext uri="{9D8B030D-6E8A-4147-A177-3AD203B41FA5}">
                      <a16:colId xmlns:a16="http://schemas.microsoft.com/office/drawing/2014/main" val="20001"/>
                    </a:ext>
                  </a:extLst>
                </a:gridCol>
                <a:gridCol w="1939925">
                  <a:extLst>
                    <a:ext uri="{9D8B030D-6E8A-4147-A177-3AD203B41FA5}">
                      <a16:colId xmlns:a16="http://schemas.microsoft.com/office/drawing/2014/main" val="20002"/>
                    </a:ext>
                  </a:extLst>
                </a:gridCol>
                <a:gridCol w="2573325">
                  <a:extLst>
                    <a:ext uri="{9D8B030D-6E8A-4147-A177-3AD203B41FA5}">
                      <a16:colId xmlns:a16="http://schemas.microsoft.com/office/drawing/2014/main" val="20003"/>
                    </a:ext>
                  </a:extLst>
                </a:gridCol>
              </a:tblGrid>
              <a:tr h="414325">
                <a:tc>
                  <a:txBody>
                    <a:bodyPr/>
                    <a:lstStyle/>
                    <a:p>
                      <a:pPr marL="0" marR="0" lvl="0" indent="0" algn="l" rtl="0">
                        <a:lnSpc>
                          <a:spcPct val="100000"/>
                        </a:lnSpc>
                        <a:spcBef>
                          <a:spcPts val="0"/>
                        </a:spcBef>
                        <a:spcAft>
                          <a:spcPts val="0"/>
                        </a:spcAft>
                        <a:buClr>
                          <a:srgbClr val="000000"/>
                        </a:buClr>
                        <a:buSzPts val="1700"/>
                        <a:buFont typeface="Arial"/>
                        <a:buNone/>
                      </a:pPr>
                      <a:endParaRPr sz="1700" u="none" strike="noStrike" cap="none">
                        <a:solidFill>
                          <a:schemeClr val="dk1"/>
                        </a:solidFill>
                        <a:latin typeface="Malgun Gothic"/>
                        <a:ea typeface="Malgun Gothic"/>
                        <a:cs typeface="Malgun Gothic"/>
                        <a:sym typeface="Malgun Gothic"/>
                      </a:endParaRPr>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solidFill>
                      <a:srgbClr val="D7E4BD"/>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Tipe data</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solidFill>
                      <a:srgbClr val="D7E4BD"/>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Besar</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solidFill>
                      <a:srgbClr val="D7E4BD"/>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Contoh nilai</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solidFill>
                      <a:srgbClr val="D7E4BD"/>
                    </a:solidFill>
                  </a:tcPr>
                </a:tc>
                <a:extLst>
                  <a:ext uri="{0D108BD9-81ED-4DB2-BD59-A6C34878D82A}">
                    <a16:rowId xmlns:a16="http://schemas.microsoft.com/office/drawing/2014/main" val="10000"/>
                  </a:ext>
                </a:extLst>
              </a:tr>
              <a:tr h="414325">
                <a:tc>
                  <a:txBody>
                    <a:bodyPr/>
                    <a:lstStyle/>
                    <a:p>
                      <a:pPr marL="0" marR="0" lvl="0" indent="0" algn="ctr"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Tipe logis</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solidFill>
                      <a:srgbClr val="D7E4BD"/>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boolean</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1 byte</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true / false</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extLst>
                  <a:ext uri="{0D108BD9-81ED-4DB2-BD59-A6C34878D82A}">
                    <a16:rowId xmlns:a16="http://schemas.microsoft.com/office/drawing/2014/main" val="10001"/>
                  </a:ext>
                </a:extLst>
              </a:tr>
              <a:tr h="414325">
                <a:tc rowSpan="2">
                  <a:txBody>
                    <a:bodyPr/>
                    <a:lstStyle/>
                    <a:p>
                      <a:pPr marL="0" marR="0" lvl="0" indent="0" algn="ctr"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Bilangan bulat</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solidFill>
                      <a:srgbClr val="D7E4BD"/>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int</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4 byte</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1024</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extLst>
                  <a:ext uri="{0D108BD9-81ED-4DB2-BD59-A6C34878D82A}">
                    <a16:rowId xmlns:a16="http://schemas.microsoft.com/office/drawing/2014/main" val="10002"/>
                  </a:ext>
                </a:extLst>
              </a:tr>
              <a:tr h="414325">
                <a:tc vMerge="1">
                  <a:txBody>
                    <a:bodyPr/>
                    <a:lstStyle/>
                    <a:p>
                      <a:endParaRPr lang="en-US"/>
                    </a:p>
                  </a:txBody>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long</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8 byte</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3500000000000L</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extLst>
                  <a:ext uri="{0D108BD9-81ED-4DB2-BD59-A6C34878D82A}">
                    <a16:rowId xmlns:a16="http://schemas.microsoft.com/office/drawing/2014/main" val="10003"/>
                  </a:ext>
                </a:extLst>
              </a:tr>
              <a:tr h="6397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Bilangan  asli</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solidFill>
                      <a:srgbClr val="D7E4BD"/>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double</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8 byte</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3.14</a:t>
                      </a:r>
                      <a:endParaRPr sz="1400" u="none" strike="noStrike" cap="none"/>
                    </a:p>
                  </a:txBody>
                  <a:tcPr marL="91450" marR="91450" marT="45725" marB="45725" anchor="ctr">
                    <a:lnL w="19050" cap="flat" cmpd="sng">
                      <a:solidFill>
                        <a:srgbClr val="4F6228"/>
                      </a:solidFill>
                      <a:prstDash val="solid"/>
                      <a:round/>
                      <a:headEnd type="none" w="sm" len="sm"/>
                      <a:tailEnd type="none" w="sm" len="sm"/>
                    </a:lnL>
                    <a:lnR w="19050" cap="flat" cmpd="sng">
                      <a:solidFill>
                        <a:srgbClr val="4F6228"/>
                      </a:solidFill>
                      <a:prstDash val="solid"/>
                      <a:round/>
                      <a:headEnd type="none" w="sm" len="sm"/>
                      <a:tailEnd type="none" w="sm" len="sm"/>
                    </a:lnR>
                    <a:lnT w="19050" cap="flat" cmpd="sng">
                      <a:solidFill>
                        <a:srgbClr val="4F6228"/>
                      </a:solidFill>
                      <a:prstDash val="solid"/>
                      <a:round/>
                      <a:headEnd type="none" w="sm" len="sm"/>
                      <a:tailEnd type="none" w="sm" len="sm"/>
                    </a:lnT>
                    <a:lnB w="19050" cap="flat" cmpd="sng">
                      <a:solidFill>
                        <a:srgbClr val="4F6228"/>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10" name="Google Shape;410;p25"/>
          <p:cNvSpPr txBox="1"/>
          <p:nvPr/>
        </p:nvSpPr>
        <p:spPr>
          <a:xfrm>
            <a:off x="350837" y="3616325"/>
            <a:ext cx="8442325" cy="1793875"/>
          </a:xfrm>
          <a:prstGeom prst="rect">
            <a:avLst/>
          </a:prstGeom>
          <a:noFill/>
          <a:ln>
            <a:noFill/>
          </a:ln>
        </p:spPr>
        <p:txBody>
          <a:bodyPr spcFirstLastPara="1" wrap="square" lIns="86450" tIns="43225" rIns="86450" bIns="43225" anchor="t" anchorCtr="0">
            <a:spAutoFit/>
          </a:bodyPr>
          <a:lstStyle/>
          <a:p>
            <a:pPr marL="269875" marR="0" lvl="0" indent="-269875"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Tipe data integer int dan long</a:t>
            </a:r>
            <a:endParaRPr sz="1800" b="0" i="0" u="none" strike="noStrike" cap="none">
              <a:solidFill>
                <a:schemeClr val="dk1"/>
              </a:solidFill>
              <a:latin typeface="Arial"/>
              <a:ea typeface="Arial"/>
              <a:cs typeface="Arial"/>
              <a:sym typeface="Arial"/>
            </a:endParaRPr>
          </a:p>
          <a:p>
            <a:pPr marL="742950" marR="0" lvl="1" indent="-285750" algn="l" rtl="0">
              <a:lnSpc>
                <a:spcPct val="15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Data integer (angka tanpa desimal) diperlakukan sebagai int dasar.</a:t>
            </a:r>
            <a:endParaRPr sz="1400" b="0" i="0" u="none" strike="noStrike" cap="none">
              <a:solidFill>
                <a:srgbClr val="000000"/>
              </a:solidFill>
              <a:latin typeface="Arial"/>
              <a:ea typeface="Arial"/>
              <a:cs typeface="Arial"/>
              <a:sym typeface="Arial"/>
            </a:endParaRPr>
          </a:p>
          <a:p>
            <a:pPr marL="742950" marR="0" lvl="1" indent="-285750" algn="l" rtl="0">
              <a:lnSpc>
                <a:spcPct val="15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Jika Anda menggunakan data bilangan bulat dengan rentang yang besar, Anda harus menggunakan tipe data long, di mana angka-angkanya dipisahkan dengan huruf besar L atau huruf kecil 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26"/>
          <p:cNvSpPr txBox="1"/>
          <p:nvPr/>
        </p:nvSpPr>
        <p:spPr>
          <a:xfrm>
            <a:off x="123825" y="49212"/>
            <a:ext cx="5694362"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[Contoh] Menggunakan Variabel tipe data default</a:t>
            </a:r>
            <a:endParaRPr sz="1400" b="0" i="0" u="none" strike="noStrike" cap="none">
              <a:solidFill>
                <a:srgbClr val="000000"/>
              </a:solidFill>
              <a:latin typeface="Arial"/>
              <a:ea typeface="Arial"/>
              <a:cs typeface="Arial"/>
              <a:sym typeface="Arial"/>
            </a:endParaRPr>
          </a:p>
        </p:txBody>
      </p:sp>
      <p:sp>
        <p:nvSpPr>
          <p:cNvPr id="418" name="Google Shape;418;p26"/>
          <p:cNvSpPr/>
          <p:nvPr/>
        </p:nvSpPr>
        <p:spPr>
          <a:xfrm>
            <a:off x="350837" y="1017587"/>
            <a:ext cx="8442325" cy="5383212"/>
          </a:xfrm>
          <a:prstGeom prst="roundRect">
            <a:avLst>
              <a:gd name="adj" fmla="val 829"/>
            </a:avLst>
          </a:prstGeom>
          <a:solidFill>
            <a:srgbClr val="DBEEF4">
              <a:alpha val="69411"/>
            </a:srgbClr>
          </a:solidFill>
          <a:ln w="25400" cap="flat" cmpd="sng">
            <a:solidFill>
              <a:srgbClr val="215968"/>
            </a:solidFill>
            <a:prstDash val="solid"/>
            <a:miter lim="800000"/>
            <a:headEnd type="none" w="sm" len="sm"/>
            <a:tailEnd type="none" w="sm" len="sm"/>
          </a:ln>
        </p:spPr>
        <p:txBody>
          <a:bodyPr spcFirstLastPara="1" wrap="square" lIns="136150" tIns="34025" rIns="136150" bIns="34025" anchor="t" anchorCtr="0">
            <a:noAutofit/>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package com.lgcns.chapter03;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Gulim"/>
              <a:buNone/>
            </a:pP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public class PrimitiveTypeEx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public static void main( String[] args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Gulim"/>
              <a:buNone/>
            </a:pP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int myAge = 27;		// Variabel tipe int yang menyimpan usia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long billWealth = 7000000000L;	// Variabel tipe long yang menyimpan kekayaan Bill Gates.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double pi = 3.1415926535;		// </a:t>
            </a:r>
            <a:r>
              <a:rPr lang="en-US" sz="1100" b="0" i="0" u="none" strike="noStrike" cap="none">
                <a:solidFill>
                  <a:schemeClr val="dk1"/>
                </a:solidFill>
                <a:latin typeface="Arial"/>
                <a:ea typeface="Arial"/>
                <a:cs typeface="Arial"/>
                <a:sym typeface="Arial"/>
              </a:rPr>
              <a:t>Variabel tipe ganda yang menyimpan nilai kesalahan pi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boolean isRight = true;		// Variabel tipe boolean untuk menyimpan true dan false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Gulim"/>
              <a:buNone/>
            </a:pPr>
            <a:endParaRPr sz="1300" b="0" i="0" u="none" strike="noStrike" cap="none">
              <a:solidFill>
                <a:schemeClr val="dk1"/>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System.out.println( "Usia saya : " + myAge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System.out.println( “Jumlah penduduk korsel : ” + billWealth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System.out.println( "Nilai pi : " + pi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System.out.println( "Apakah nilai di atas benar? : " + isRight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pic>
        <p:nvPicPr>
          <p:cNvPr id="419" name="Google Shape;419;p26"/>
          <p:cNvPicPr preferRelativeResize="0"/>
          <p:nvPr/>
        </p:nvPicPr>
        <p:blipFill rotWithShape="1">
          <a:blip r:embed="rId3">
            <a:alphaModFix/>
          </a:blip>
          <a:srcRect/>
          <a:stretch/>
        </p:blipFill>
        <p:spPr>
          <a:xfrm>
            <a:off x="5818187" y="5013325"/>
            <a:ext cx="2609850" cy="1238250"/>
          </a:xfrm>
          <a:prstGeom prst="rect">
            <a:avLst/>
          </a:prstGeom>
          <a:noFill/>
          <a:ln w="19050" cap="flat" cmpd="sng">
            <a:solidFill>
              <a:schemeClr val="dk1"/>
            </a:solidFill>
            <a:prstDash val="solid"/>
            <a:miter lim="800000"/>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47"/>
          <p:cNvSpPr txBox="1"/>
          <p:nvPr/>
        </p:nvSpPr>
        <p:spPr>
          <a:xfrm>
            <a:off x="1285875" y="803275"/>
            <a:ext cx="5124450" cy="50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C5003D"/>
              </a:buClr>
              <a:buSzPts val="3300"/>
              <a:buFont typeface="Arial"/>
              <a:buNone/>
            </a:pPr>
            <a:r>
              <a:rPr lang="en-US" sz="3300" b="1" i="0" u="none" strike="noStrike" cap="none">
                <a:solidFill>
                  <a:srgbClr val="C5003D"/>
                </a:solidFill>
                <a:latin typeface="Arial"/>
                <a:ea typeface="Arial"/>
                <a:cs typeface="Arial"/>
                <a:sym typeface="Arial"/>
              </a:rPr>
              <a:t>Variabel data String</a:t>
            </a:r>
            <a:endParaRPr sz="1400" b="0" i="0" u="none" strike="noStrike" cap="none">
              <a:solidFill>
                <a:srgbClr val="000000"/>
              </a:solidFill>
              <a:latin typeface="Arial"/>
              <a:ea typeface="Arial"/>
              <a:cs typeface="Arial"/>
              <a:sym typeface="Arial"/>
            </a:endParaRPr>
          </a:p>
        </p:txBody>
      </p:sp>
      <p:sp>
        <p:nvSpPr>
          <p:cNvPr id="645" name="Google Shape;645;p47"/>
          <p:cNvSpPr txBox="1"/>
          <p:nvPr/>
        </p:nvSpPr>
        <p:spPr>
          <a:xfrm>
            <a:off x="201612" y="803275"/>
            <a:ext cx="1030287" cy="663575"/>
          </a:xfrm>
          <a:prstGeom prst="rect">
            <a:avLst/>
          </a:prstGeom>
          <a:noFill/>
          <a:ln>
            <a:noFill/>
          </a:ln>
        </p:spPr>
        <p:txBody>
          <a:bodyPr spcFirstLastPara="1" wrap="square" lIns="86450" tIns="43225" rIns="86450" bIns="43225" anchor="t" anchorCtr="0">
            <a:noAutofit/>
          </a:bodyPr>
          <a:lstStyle/>
          <a:p>
            <a:pPr marL="0" marR="0" lvl="0" indent="0" algn="ctr" rtl="0">
              <a:lnSpc>
                <a:spcPct val="100000"/>
              </a:lnSpc>
              <a:spcBef>
                <a:spcPts val="0"/>
              </a:spcBef>
              <a:spcAft>
                <a:spcPts val="0"/>
              </a:spcAft>
              <a:buClr>
                <a:schemeClr val="lt1"/>
              </a:buClr>
              <a:buSzPts val="2800"/>
              <a:buFont typeface="Arial"/>
              <a:buNone/>
            </a:pPr>
            <a:r>
              <a:rPr lang="en-US" sz="2800" b="1" i="0" u="none" strike="noStrike" cap="none">
                <a:solidFill>
                  <a:schemeClr val="lt1"/>
                </a:solidFill>
                <a:latin typeface="Arial"/>
                <a:ea typeface="Arial"/>
                <a:cs typeface="Arial"/>
                <a:sym typeface="Arial"/>
              </a:rPr>
              <a:t>3.3</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51"/>
          <p:cNvSpPr txBox="1"/>
          <p:nvPr/>
        </p:nvSpPr>
        <p:spPr>
          <a:xfrm>
            <a:off x="123825" y="49212"/>
            <a:ext cx="4484687"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300"/>
              <a:buFont typeface="Arial"/>
              <a:buNone/>
            </a:pPr>
            <a:r>
              <a:rPr lang="en-US" sz="2300" b="1" i="0" u="none" strike="noStrike" cap="none">
                <a:solidFill>
                  <a:schemeClr val="lt1"/>
                </a:solidFill>
                <a:latin typeface="Arial"/>
                <a:ea typeface="Arial"/>
                <a:cs typeface="Arial"/>
                <a:sym typeface="Arial"/>
              </a:rPr>
              <a:t>String + Operation</a:t>
            </a:r>
            <a:endParaRPr sz="1400" b="0" i="0" u="none" strike="noStrike" cap="none">
              <a:solidFill>
                <a:srgbClr val="000000"/>
              </a:solidFill>
              <a:latin typeface="Arial"/>
              <a:ea typeface="Arial"/>
              <a:cs typeface="Arial"/>
              <a:sym typeface="Arial"/>
            </a:endParaRPr>
          </a:p>
        </p:txBody>
      </p:sp>
      <p:sp>
        <p:nvSpPr>
          <p:cNvPr id="705" name="Google Shape;705;p51"/>
          <p:cNvSpPr txBox="1"/>
          <p:nvPr/>
        </p:nvSpPr>
        <p:spPr>
          <a:xfrm>
            <a:off x="350837" y="1017587"/>
            <a:ext cx="8442325" cy="917575"/>
          </a:xfrm>
          <a:prstGeom prst="rect">
            <a:avLst/>
          </a:prstGeom>
          <a:noFill/>
          <a:ln>
            <a:noFill/>
          </a:ln>
        </p:spPr>
        <p:txBody>
          <a:bodyPr spcFirstLastPara="1" wrap="square" lIns="86450" tIns="43225" rIns="86450" bIns="43225" anchor="t" anchorCtr="0">
            <a:spAutoFit/>
          </a:bodyPr>
          <a:lstStyle/>
          <a:p>
            <a:pPr marL="269875" marR="0" lvl="0" indent="-269875"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Jika anda ingin menggabungkan beberapa string, gunakan tanda +.</a:t>
            </a:r>
            <a:endParaRPr sz="1400" b="0" i="0" u="none" strike="noStrike" cap="none">
              <a:solidFill>
                <a:srgbClr val="000000"/>
              </a:solidFill>
              <a:latin typeface="Arial"/>
              <a:ea typeface="Arial"/>
              <a:cs typeface="Arial"/>
              <a:sym typeface="Arial"/>
            </a:endParaRPr>
          </a:p>
          <a:p>
            <a:pPr marL="717550" marR="0" lvl="1"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Operasi + pada data numerik memiliki arti penambahan, tetapi operasi + pada string memiliki arti penggabungan string</a:t>
            </a:r>
            <a:endParaRPr sz="1400" b="0" i="0" u="none" strike="noStrike" cap="none">
              <a:solidFill>
                <a:srgbClr val="000000"/>
              </a:solidFill>
              <a:latin typeface="Arial"/>
              <a:ea typeface="Arial"/>
              <a:cs typeface="Arial"/>
              <a:sym typeface="Arial"/>
            </a:endParaRPr>
          </a:p>
        </p:txBody>
      </p:sp>
      <p:sp>
        <p:nvSpPr>
          <p:cNvPr id="706" name="Google Shape;706;p51"/>
          <p:cNvSpPr/>
          <p:nvPr/>
        </p:nvSpPr>
        <p:spPr>
          <a:xfrm>
            <a:off x="715962" y="2170112"/>
            <a:ext cx="7713662" cy="1260475"/>
          </a:xfrm>
          <a:prstGeom prst="roundRect">
            <a:avLst>
              <a:gd name="adj" fmla="val 2279"/>
            </a:avLst>
          </a:prstGeom>
          <a:noFill/>
          <a:ln w="25400" cap="flat" cmpd="sng">
            <a:solidFill>
              <a:srgbClr val="C5003D"/>
            </a:solidFill>
            <a:prstDash val="solid"/>
            <a:miter lim="800000"/>
            <a:headEnd type="none" w="sm" len="sm"/>
            <a:tailEnd type="none" w="sm" len="sm"/>
          </a:ln>
        </p:spPr>
        <p:txBody>
          <a:bodyPr spcFirstLastPara="1" wrap="square" lIns="136150" tIns="34025" rIns="136150" bIns="34025"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[Ex]	String	studentName   =  “Hong Gil-dong”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	String	department    =  “Akademik team”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	String	employeeInfo  =  studentName  +  department ;</a:t>
            </a:r>
            <a:endParaRPr sz="1400" b="0" i="0" u="none" strike="noStrike" cap="none">
              <a:solidFill>
                <a:srgbClr val="000000"/>
              </a:solidFill>
              <a:latin typeface="Arial"/>
              <a:ea typeface="Arial"/>
              <a:cs typeface="Arial"/>
              <a:sym typeface="Arial"/>
            </a:endParaRPr>
          </a:p>
        </p:txBody>
      </p:sp>
      <p:grpSp>
        <p:nvGrpSpPr>
          <p:cNvPr id="707" name="Google Shape;707;p51"/>
          <p:cNvGrpSpPr/>
          <p:nvPr/>
        </p:nvGrpSpPr>
        <p:grpSpPr>
          <a:xfrm>
            <a:off x="992713" y="3865562"/>
            <a:ext cx="2964924" cy="531812"/>
            <a:chOff x="-51882" y="4522820"/>
            <a:chExt cx="2966590" cy="531811"/>
          </a:xfrm>
        </p:grpSpPr>
        <p:sp>
          <p:nvSpPr>
            <p:cNvPr id="708" name="Google Shape;708;p51"/>
            <p:cNvSpPr/>
            <p:nvPr/>
          </p:nvSpPr>
          <p:spPr>
            <a:xfrm>
              <a:off x="1850486" y="4522820"/>
              <a:ext cx="1064222" cy="531811"/>
            </a:xfrm>
            <a:prstGeom prst="roundRect">
              <a:avLst>
                <a:gd name="adj" fmla="val 1667"/>
              </a:avLst>
            </a:prstGeom>
            <a:noFill/>
            <a:ln w="76200" cap="flat" cmpd="sng">
              <a:solidFill>
                <a:srgbClr val="4F6228"/>
              </a:solidFill>
              <a:prstDash val="solid"/>
              <a:miter lim="800000"/>
              <a:headEnd type="none" w="sm" len="sm"/>
              <a:tailEnd type="none" w="sm" len="sm"/>
            </a:ln>
          </p:spPr>
          <p:txBody>
            <a:bodyPr spcFirstLastPara="1" wrap="square" lIns="91425" tIns="45700" rIns="91425" bIns="45700" anchor="ctr" anchorCtr="0">
              <a:noAutofit/>
            </a:bodyPr>
            <a:lstStyle/>
            <a:p>
              <a:pPr marL="301625" marR="0" lvl="0" indent="-301625" algn="ctr"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Hong</a:t>
              </a:r>
              <a:endParaRPr sz="1400" b="0" i="0" u="none" strike="noStrike" cap="none">
                <a:solidFill>
                  <a:srgbClr val="000000"/>
                </a:solidFill>
                <a:latin typeface="Arial"/>
                <a:ea typeface="Arial"/>
                <a:cs typeface="Arial"/>
                <a:sym typeface="Arial"/>
              </a:endParaRPr>
            </a:p>
            <a:p>
              <a:pPr marL="301625" marR="0" lvl="0" indent="-301625" algn="ctr" rtl="0">
                <a:lnSpc>
                  <a:spcPct val="100000"/>
                </a:lnSpc>
                <a:spcBef>
                  <a:spcPts val="28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gil-dong</a:t>
              </a:r>
              <a:endParaRPr sz="1400" b="0" i="0" u="none" strike="noStrike" cap="none">
                <a:solidFill>
                  <a:srgbClr val="000000"/>
                </a:solidFill>
                <a:latin typeface="Arial"/>
                <a:ea typeface="Arial"/>
                <a:cs typeface="Arial"/>
                <a:sym typeface="Arial"/>
              </a:endParaRPr>
            </a:p>
          </p:txBody>
        </p:sp>
        <p:sp>
          <p:nvSpPr>
            <p:cNvPr id="709" name="Google Shape;709;p51"/>
            <p:cNvSpPr txBox="1"/>
            <p:nvPr/>
          </p:nvSpPr>
          <p:spPr>
            <a:xfrm>
              <a:off x="-51882" y="4558474"/>
              <a:ext cx="1888465" cy="3846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studentName</a:t>
              </a:r>
              <a:endParaRPr sz="1400" b="0" i="0" u="none" strike="noStrike" cap="none">
                <a:solidFill>
                  <a:srgbClr val="000000"/>
                </a:solidFill>
                <a:latin typeface="Arial"/>
                <a:ea typeface="Arial"/>
                <a:cs typeface="Arial"/>
                <a:sym typeface="Arial"/>
              </a:endParaRPr>
            </a:p>
          </p:txBody>
        </p:sp>
      </p:grpSp>
      <p:grpSp>
        <p:nvGrpSpPr>
          <p:cNvPr id="710" name="Google Shape;710;p51"/>
          <p:cNvGrpSpPr/>
          <p:nvPr/>
        </p:nvGrpSpPr>
        <p:grpSpPr>
          <a:xfrm>
            <a:off x="4948475" y="3865562"/>
            <a:ext cx="2842974" cy="531812"/>
            <a:chOff x="2590714" y="4522820"/>
            <a:chExt cx="2844336" cy="531811"/>
          </a:xfrm>
        </p:grpSpPr>
        <p:sp>
          <p:nvSpPr>
            <p:cNvPr id="711" name="Google Shape;711;p51"/>
            <p:cNvSpPr/>
            <p:nvPr/>
          </p:nvSpPr>
          <p:spPr>
            <a:xfrm>
              <a:off x="4370916" y="4522820"/>
              <a:ext cx="1064134" cy="531811"/>
            </a:xfrm>
            <a:prstGeom prst="roundRect">
              <a:avLst>
                <a:gd name="adj" fmla="val 1667"/>
              </a:avLst>
            </a:prstGeom>
            <a:noFill/>
            <a:ln w="76200" cap="flat" cmpd="sng">
              <a:solidFill>
                <a:srgbClr val="4F6228"/>
              </a:solidFill>
              <a:prstDash val="solid"/>
              <a:miter lim="800000"/>
              <a:headEnd type="none" w="sm" len="sm"/>
              <a:tailEnd type="none" w="sm" len="sm"/>
            </a:ln>
          </p:spPr>
          <p:txBody>
            <a:bodyPr spcFirstLastPara="1" wrap="square" lIns="91425" tIns="45700" rIns="91425" bIns="45700" anchor="ctr" anchorCtr="0">
              <a:noAutofit/>
            </a:bodyPr>
            <a:lstStyle/>
            <a:p>
              <a:pPr marL="301625" marR="0" lvl="0" indent="-301625" algn="ctr"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Tim</a:t>
              </a:r>
              <a:endParaRPr sz="1400" b="0" i="0" u="none" strike="noStrike" cap="none">
                <a:solidFill>
                  <a:srgbClr val="000000"/>
                </a:solidFill>
                <a:latin typeface="Arial"/>
                <a:ea typeface="Arial"/>
                <a:cs typeface="Arial"/>
                <a:sym typeface="Arial"/>
              </a:endParaRPr>
            </a:p>
            <a:p>
              <a:pPr marL="301625" marR="0" lvl="0" indent="-301625" algn="ctr" rtl="0">
                <a:lnSpc>
                  <a:spcPct val="100000"/>
                </a:lnSpc>
                <a:spcBef>
                  <a:spcPts val="28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Akademik</a:t>
              </a:r>
              <a:endParaRPr sz="1400" b="0" i="0" u="none" strike="noStrike" cap="none">
                <a:solidFill>
                  <a:srgbClr val="000000"/>
                </a:solidFill>
                <a:latin typeface="Arial"/>
                <a:ea typeface="Arial"/>
                <a:cs typeface="Arial"/>
                <a:sym typeface="Arial"/>
              </a:endParaRPr>
            </a:p>
          </p:txBody>
        </p:sp>
        <p:sp>
          <p:nvSpPr>
            <p:cNvPr id="712" name="Google Shape;712;p51"/>
            <p:cNvSpPr txBox="1"/>
            <p:nvPr/>
          </p:nvSpPr>
          <p:spPr>
            <a:xfrm>
              <a:off x="2590714" y="4558474"/>
              <a:ext cx="1776270" cy="3846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department</a:t>
              </a:r>
              <a:endParaRPr sz="1400" b="0" i="0" u="none" strike="noStrike" cap="none">
                <a:solidFill>
                  <a:srgbClr val="000000"/>
                </a:solidFill>
                <a:latin typeface="Arial"/>
                <a:ea typeface="Arial"/>
                <a:cs typeface="Arial"/>
                <a:sym typeface="Arial"/>
              </a:endParaRPr>
            </a:p>
          </p:txBody>
        </p:sp>
      </p:grpSp>
      <p:grpSp>
        <p:nvGrpSpPr>
          <p:cNvPr id="713" name="Google Shape;713;p51"/>
          <p:cNvGrpSpPr/>
          <p:nvPr/>
        </p:nvGrpSpPr>
        <p:grpSpPr>
          <a:xfrm>
            <a:off x="2600564" y="5391150"/>
            <a:ext cx="3946286" cy="746125"/>
            <a:chOff x="2940856" y="5735985"/>
            <a:chExt cx="3945010" cy="746122"/>
          </a:xfrm>
        </p:grpSpPr>
        <p:sp>
          <p:nvSpPr>
            <p:cNvPr id="714" name="Google Shape;714;p51"/>
            <p:cNvSpPr/>
            <p:nvPr/>
          </p:nvSpPr>
          <p:spPr>
            <a:xfrm>
              <a:off x="4975134" y="5735985"/>
              <a:ext cx="1910732" cy="746122"/>
            </a:xfrm>
            <a:prstGeom prst="roundRect">
              <a:avLst>
                <a:gd name="adj" fmla="val 1667"/>
              </a:avLst>
            </a:prstGeom>
            <a:noFill/>
            <a:ln w="76200" cap="flat" cmpd="sng">
              <a:solidFill>
                <a:srgbClr val="4F6228"/>
              </a:solidFill>
              <a:prstDash val="solid"/>
              <a:miter lim="800000"/>
              <a:headEnd type="none" w="sm" len="sm"/>
              <a:tailEnd type="none" w="sm" len="sm"/>
            </a:ln>
          </p:spPr>
          <p:txBody>
            <a:bodyPr spcFirstLastPara="1" wrap="square" lIns="91425" tIns="45700" rIns="91425" bIns="45700" anchor="ctr" anchorCtr="0">
              <a:noAutofit/>
            </a:bodyPr>
            <a:lstStyle/>
            <a:p>
              <a:pPr marL="301625" marR="0" lvl="0" indent="-301625" algn="ctr" rtl="0">
                <a:lnSpc>
                  <a:spcPct val="100000"/>
                </a:lnSpc>
                <a:spcBef>
                  <a:spcPts val="0"/>
                </a:spcBef>
                <a:spcAft>
                  <a:spcPts val="0"/>
                </a:spcAft>
                <a:buClr>
                  <a:schemeClr val="dk1"/>
                </a:buClr>
                <a:buSzPts val="1900"/>
                <a:buFont typeface="Arial"/>
                <a:buNone/>
              </a:pPr>
              <a:r>
                <a:rPr lang="en-US" sz="1900" b="0" i="0" u="none" strike="noStrike" cap="none">
                  <a:solidFill>
                    <a:schemeClr val="dk1"/>
                  </a:solidFill>
                  <a:latin typeface="Arial"/>
                  <a:ea typeface="Arial"/>
                  <a:cs typeface="Arial"/>
                  <a:sym typeface="Arial"/>
                </a:rPr>
                <a:t>Hong gil-dong</a:t>
              </a:r>
              <a:endParaRPr sz="1400" b="0" i="0" u="none" strike="noStrike" cap="none">
                <a:solidFill>
                  <a:srgbClr val="000000"/>
                </a:solidFill>
                <a:latin typeface="Arial"/>
                <a:ea typeface="Arial"/>
                <a:cs typeface="Arial"/>
                <a:sym typeface="Arial"/>
              </a:endParaRPr>
            </a:p>
            <a:p>
              <a:pPr marL="301625" marR="0" lvl="0" indent="-301625" algn="ctr" rtl="0">
                <a:lnSpc>
                  <a:spcPct val="100000"/>
                </a:lnSpc>
                <a:spcBef>
                  <a:spcPts val="380"/>
                </a:spcBef>
                <a:spcAft>
                  <a:spcPts val="0"/>
                </a:spcAft>
                <a:buClr>
                  <a:schemeClr val="dk1"/>
                </a:buClr>
                <a:buSzPts val="1900"/>
                <a:buFont typeface="Arial"/>
                <a:buNone/>
              </a:pPr>
              <a:r>
                <a:rPr lang="en-US" sz="1900" b="0" i="0" u="none" strike="noStrike" cap="none">
                  <a:solidFill>
                    <a:schemeClr val="dk1"/>
                  </a:solidFill>
                  <a:latin typeface="Arial"/>
                  <a:ea typeface="Arial"/>
                  <a:cs typeface="Arial"/>
                  <a:sym typeface="Arial"/>
                </a:rPr>
                <a:t>Tim akademik</a:t>
              </a:r>
              <a:endParaRPr sz="1400" b="0" i="0" u="none" strike="noStrike" cap="none">
                <a:solidFill>
                  <a:srgbClr val="000000"/>
                </a:solidFill>
                <a:latin typeface="Arial"/>
                <a:ea typeface="Arial"/>
                <a:cs typeface="Arial"/>
                <a:sym typeface="Arial"/>
              </a:endParaRPr>
            </a:p>
          </p:txBody>
        </p:sp>
        <p:sp>
          <p:nvSpPr>
            <p:cNvPr id="715" name="Google Shape;715;p51"/>
            <p:cNvSpPr txBox="1"/>
            <p:nvPr/>
          </p:nvSpPr>
          <p:spPr>
            <a:xfrm>
              <a:off x="2940856" y="5825599"/>
              <a:ext cx="2013728" cy="3846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employeeInfo</a:t>
              </a:r>
              <a:endParaRPr sz="1400" b="0" i="0" u="none" strike="noStrike" cap="none">
                <a:solidFill>
                  <a:srgbClr val="000000"/>
                </a:solidFill>
                <a:latin typeface="Arial"/>
                <a:ea typeface="Arial"/>
                <a:cs typeface="Arial"/>
                <a:sym typeface="Arial"/>
              </a:endParaRPr>
            </a:p>
          </p:txBody>
        </p:sp>
      </p:grpSp>
      <p:cxnSp>
        <p:nvCxnSpPr>
          <p:cNvPr id="716" name="Google Shape;716;p51"/>
          <p:cNvCxnSpPr/>
          <p:nvPr/>
        </p:nvCxnSpPr>
        <p:spPr>
          <a:xfrm>
            <a:off x="3425825" y="4397375"/>
            <a:ext cx="1655762" cy="746125"/>
          </a:xfrm>
          <a:prstGeom prst="straightConnector1">
            <a:avLst/>
          </a:prstGeom>
          <a:noFill/>
          <a:ln w="38100" cap="flat" cmpd="sng">
            <a:solidFill>
              <a:srgbClr val="4F6228"/>
            </a:solidFill>
            <a:prstDash val="solid"/>
            <a:miter lim="800000"/>
            <a:headEnd type="none" w="sm" len="sm"/>
            <a:tailEnd type="none" w="sm" len="sm"/>
          </a:ln>
        </p:spPr>
      </p:cxnSp>
      <p:cxnSp>
        <p:nvCxnSpPr>
          <p:cNvPr id="717" name="Google Shape;717;p51"/>
          <p:cNvCxnSpPr/>
          <p:nvPr/>
        </p:nvCxnSpPr>
        <p:spPr>
          <a:xfrm flipH="1">
            <a:off x="5813425" y="4397375"/>
            <a:ext cx="1446212" cy="746125"/>
          </a:xfrm>
          <a:prstGeom prst="straightConnector1">
            <a:avLst/>
          </a:prstGeom>
          <a:noFill/>
          <a:ln w="38100" cap="flat" cmpd="sng">
            <a:solidFill>
              <a:srgbClr val="4F6228"/>
            </a:solidFill>
            <a:prstDash val="solid"/>
            <a:miter lim="800000"/>
            <a:headEnd type="none" w="sm" len="sm"/>
            <a:tailEnd type="none" w="sm" len="sm"/>
          </a:ln>
        </p:spPr>
      </p:cxnSp>
      <p:pic>
        <p:nvPicPr>
          <p:cNvPr id="718" name="Google Shape;718;p51" descr="http://icons.iconarchive.com/icons/dryicons/simplistica/128/add-icon.png"/>
          <p:cNvPicPr preferRelativeResize="0"/>
          <p:nvPr/>
        </p:nvPicPr>
        <p:blipFill rotWithShape="1">
          <a:blip r:embed="rId3">
            <a:alphaModFix/>
          </a:blip>
          <a:srcRect/>
          <a:stretch/>
        </p:blipFill>
        <p:spPr>
          <a:xfrm>
            <a:off x="5081587" y="4776787"/>
            <a:ext cx="731837" cy="7318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제목 5">
            <a:extLst>
              <a:ext uri="{FF2B5EF4-FFF2-40B4-BE49-F238E27FC236}">
                <a16:creationId xmlns:a16="http://schemas.microsoft.com/office/drawing/2014/main" id="{7AB10CF0-D7A4-C55C-95E0-CE52C2AB38E4}"/>
              </a:ext>
            </a:extLst>
          </p:cNvPr>
          <p:cNvSpPr>
            <a:spLocks/>
          </p:cNvSpPr>
          <p:nvPr/>
        </p:nvSpPr>
        <p:spPr bwMode="auto">
          <a:xfrm>
            <a:off x="123825" y="49213"/>
            <a:ext cx="3175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ID" altLang="ko-KR" sz="2300" b="1">
                <a:solidFill>
                  <a:schemeClr val="bg1"/>
                </a:solidFill>
                <a:latin typeface="LG스마트체2.0 Regular" panose="020B0600000101010101" pitchFamily="50" charset="-127"/>
                <a:ea typeface="LG스마트체2.0 Regular" panose="020B0600000101010101" pitchFamily="50" charset="-127"/>
              </a:rPr>
              <a:t>Operator aritmatika</a:t>
            </a:r>
            <a:endParaRPr kumimoji="0" lang="en-US" altLang="ko-KR" sz="2300" b="1">
              <a:solidFill>
                <a:schemeClr val="bg1"/>
              </a:solidFill>
              <a:latin typeface="LG스마트체2.0 Regular" panose="020B0600000101010101" pitchFamily="50" charset="-127"/>
              <a:ea typeface="LG스마트체2.0 Regular" panose="020B0600000101010101" pitchFamily="50" charset="-127"/>
            </a:endParaRPr>
          </a:p>
        </p:txBody>
      </p:sp>
      <p:grpSp>
        <p:nvGrpSpPr>
          <p:cNvPr id="28675" name="그룹 12">
            <a:extLst>
              <a:ext uri="{FF2B5EF4-FFF2-40B4-BE49-F238E27FC236}">
                <a16:creationId xmlns:a16="http://schemas.microsoft.com/office/drawing/2014/main" id="{F45B7CDF-4970-C46B-1932-00018468363B}"/>
              </a:ext>
            </a:extLst>
          </p:cNvPr>
          <p:cNvGrpSpPr>
            <a:grpSpLocks/>
          </p:cNvGrpSpPr>
          <p:nvPr/>
        </p:nvGrpSpPr>
        <p:grpSpPr bwMode="auto">
          <a:xfrm>
            <a:off x="1682750" y="1597025"/>
            <a:ext cx="5778500" cy="1079500"/>
            <a:chOff x="2227013" y="2350588"/>
            <a:chExt cx="5777075" cy="1080000"/>
          </a:xfrm>
        </p:grpSpPr>
        <p:pic>
          <p:nvPicPr>
            <p:cNvPr id="28715" name="Picture 4" descr="http://icons.iconarchive.com/icons/iconarchive/red-orb-alphabet/128/Percent-icon.png">
              <a:extLst>
                <a:ext uri="{FF2B5EF4-FFF2-40B4-BE49-F238E27FC236}">
                  <a16:creationId xmlns:a16="http://schemas.microsoft.com/office/drawing/2014/main" id="{66995E3A-A51B-F107-6D0D-BFDA5036E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4089" y="2350588"/>
              <a:ext cx="1079999"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16" name="Picture 6" descr="http://icons.iconarchive.com/icons/iconarchive/red-orb-alphabet/128/Math-divide-icon.png">
              <a:extLst>
                <a:ext uri="{FF2B5EF4-FFF2-40B4-BE49-F238E27FC236}">
                  <a16:creationId xmlns:a16="http://schemas.microsoft.com/office/drawing/2014/main" id="{43C94A09-77F2-2A37-4E16-8FB6270E1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9820" y="2350588"/>
              <a:ext cx="1079999"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17" name="Picture 8" descr="http://icons.iconarchive.com/icons/iconarchive/red-orb-alphabet/128/Math-minus-icon.png">
              <a:extLst>
                <a:ext uri="{FF2B5EF4-FFF2-40B4-BE49-F238E27FC236}">
                  <a16:creationId xmlns:a16="http://schemas.microsoft.com/office/drawing/2014/main" id="{01433ACF-5467-B12E-CF4B-D2C690C05B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1282" y="2350588"/>
              <a:ext cx="1079999"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18" name="Picture 10" descr="http://icons.iconarchive.com/icons/iconarchive/red-orb-alphabet/128/Math-plus-icon.png">
              <a:extLst>
                <a:ext uri="{FF2B5EF4-FFF2-40B4-BE49-F238E27FC236}">
                  <a16:creationId xmlns:a16="http://schemas.microsoft.com/office/drawing/2014/main" id="{39E4FEC3-24B5-7036-D064-7C7B139CAD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7013" y="2350588"/>
              <a:ext cx="1079999"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19" name="Picture 12" descr="http://icons.iconarchive.com/icons/iconarchive/red-orb-alphabet/128/Math-multiply-icon.png">
              <a:extLst>
                <a:ext uri="{FF2B5EF4-FFF2-40B4-BE49-F238E27FC236}">
                  <a16:creationId xmlns:a16="http://schemas.microsoft.com/office/drawing/2014/main" id="{2400C2C0-23AA-0393-47DA-D9354412E1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5551" y="2350588"/>
              <a:ext cx="1079999"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676" name="TextBox 2">
            <a:extLst>
              <a:ext uri="{FF2B5EF4-FFF2-40B4-BE49-F238E27FC236}">
                <a16:creationId xmlns:a16="http://schemas.microsoft.com/office/drawing/2014/main" id="{B844AD5A-0FC4-F045-BAAC-224BC60DFE12}"/>
              </a:ext>
            </a:extLst>
          </p:cNvPr>
          <p:cNvSpPr txBox="1">
            <a:spLocks noChangeArrowheads="1"/>
          </p:cNvSpPr>
          <p:nvPr/>
        </p:nvSpPr>
        <p:spPr bwMode="auto">
          <a:xfrm>
            <a:off x="365125" y="646113"/>
            <a:ext cx="84423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57" tIns="43228" rIns="86457" bIns="43228">
            <a:spAutoFit/>
          </a:bodyPr>
          <a:lstStyle>
            <a:lvl1pPr marL="269875" indent="-2698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lnSpc>
                <a:spcPct val="150000"/>
              </a:lnSpc>
              <a:buFont typeface="Wingdings" pitchFamily="2" charset="2"/>
              <a:buChar char="Ø"/>
            </a:pPr>
            <a:r>
              <a:rPr lang="en-ID" altLang="ko-KR">
                <a:latin typeface="LG스마트체2.0 Regular" panose="020B0600000101010101" pitchFamily="50" charset="-127"/>
                <a:ea typeface="LG스마트체2.0 Regular" panose="020B0600000101010101" pitchFamily="50" charset="-127"/>
              </a:rPr>
              <a:t>Menyediakan operasi dasar untuk penjumlahan, pengurangan, perkalian, pembagian, dan mencari sisanya</a:t>
            </a:r>
            <a:endParaRPr lang="en-US" altLang="ko-KR" sz="1600">
              <a:latin typeface="LG스마트체2.0 Regular" panose="020B0600000101010101" pitchFamily="50" charset="-127"/>
              <a:ea typeface="LG스마트체2.0 Regular" panose="020B0600000101010101" pitchFamily="50" charset="-127"/>
            </a:endParaRPr>
          </a:p>
        </p:txBody>
      </p:sp>
      <p:graphicFrame>
        <p:nvGraphicFramePr>
          <p:cNvPr id="2" name="표 1">
            <a:extLst>
              <a:ext uri="{FF2B5EF4-FFF2-40B4-BE49-F238E27FC236}">
                <a16:creationId xmlns:a16="http://schemas.microsoft.com/office/drawing/2014/main" id="{7DCE7AAE-14D9-0922-18AF-4299550CFF22}"/>
              </a:ext>
            </a:extLst>
          </p:cNvPr>
          <p:cNvGraphicFramePr>
            <a:graphicFrameLocks noGrp="1"/>
          </p:cNvGraphicFramePr>
          <p:nvPr/>
        </p:nvGraphicFramePr>
        <p:xfrm>
          <a:off x="573088" y="3482975"/>
          <a:ext cx="7997825" cy="3263922"/>
        </p:xfrm>
        <a:graphic>
          <a:graphicData uri="http://schemas.openxmlformats.org/drawingml/2006/table">
            <a:tbl>
              <a:tblPr firstRow="1" bandRow="1">
                <a:tableStyleId>{5940675A-B579-460E-94D1-54222C63F5DA}</a:tableStyleId>
              </a:tblPr>
              <a:tblGrid>
                <a:gridCol w="1442402">
                  <a:extLst>
                    <a:ext uri="{9D8B030D-6E8A-4147-A177-3AD203B41FA5}">
                      <a16:colId xmlns:a16="http://schemas.microsoft.com/office/drawing/2014/main" val="20000"/>
                    </a:ext>
                  </a:extLst>
                </a:gridCol>
                <a:gridCol w="1925606">
                  <a:extLst>
                    <a:ext uri="{9D8B030D-6E8A-4147-A177-3AD203B41FA5}">
                      <a16:colId xmlns:a16="http://schemas.microsoft.com/office/drawing/2014/main" val="20001"/>
                    </a:ext>
                  </a:extLst>
                </a:gridCol>
                <a:gridCol w="2910045">
                  <a:extLst>
                    <a:ext uri="{9D8B030D-6E8A-4147-A177-3AD203B41FA5}">
                      <a16:colId xmlns:a16="http://schemas.microsoft.com/office/drawing/2014/main" val="20002"/>
                    </a:ext>
                  </a:extLst>
                </a:gridCol>
                <a:gridCol w="1719772">
                  <a:extLst>
                    <a:ext uri="{9D8B030D-6E8A-4147-A177-3AD203B41FA5}">
                      <a16:colId xmlns:a16="http://schemas.microsoft.com/office/drawing/2014/main" val="20003"/>
                    </a:ext>
                  </a:extLst>
                </a:gridCol>
              </a:tblGrid>
              <a:tr h="640070">
                <a:tc>
                  <a:txBody>
                    <a:bodyPr/>
                    <a:lstStyle/>
                    <a:p>
                      <a:pPr algn="ctr" latinLnBrk="1"/>
                      <a:r>
                        <a:rPr lang="en-ID" altLang="ko-KR" sz="1800" b="1" err="1">
                          <a:latin typeface="LG스마트체2.0 Regular" panose="020B0600000101010101" pitchFamily="50" charset="-127"/>
                          <a:ea typeface="LG스마트체2.0 Regular" panose="020B0600000101010101" pitchFamily="50" charset="-127"/>
                        </a:rPr>
                        <a:t>Operasi</a:t>
                      </a:r>
                      <a:endParaRPr lang="ko-KR" altLang="en-US" sz="1800" b="1">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latinLnBrk="1"/>
                      <a:r>
                        <a:rPr lang="en-ID" altLang="ko-KR" sz="1800" b="1">
                          <a:latin typeface="LG스마트체2.0 Regular" panose="020B0600000101010101" pitchFamily="50" charset="-127"/>
                          <a:ea typeface="LG스마트체2.0 Regular" panose="020B0600000101010101" pitchFamily="50" charset="-127"/>
                        </a:rPr>
                        <a:t>Operator (</a:t>
                      </a:r>
                      <a:r>
                        <a:rPr lang="en-ID" altLang="ko-KR" sz="1800" b="1" err="1">
                          <a:latin typeface="LG스마트체2.0 Regular" panose="020B0600000101010101" pitchFamily="50" charset="-127"/>
                          <a:ea typeface="LG스마트체2.0 Regular" panose="020B0600000101010101" pitchFamily="50" charset="-127"/>
                        </a:rPr>
                        <a:t>Simbol</a:t>
                      </a:r>
                      <a:r>
                        <a:rPr lang="en-ID" altLang="ko-KR" sz="1800" b="1">
                          <a:latin typeface="LG스마트체2.0 Regular" panose="020B0600000101010101" pitchFamily="50" charset="-127"/>
                          <a:ea typeface="LG스마트체2.0 Regular" panose="020B0600000101010101" pitchFamily="50" charset="-127"/>
                        </a:rPr>
                        <a:t>)</a:t>
                      </a:r>
                      <a:endParaRPr lang="ko-KR" altLang="en-US" sz="1800" b="1">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latinLnBrk="1"/>
                      <a:r>
                        <a:rPr lang="en-ID" altLang="ko-KR" sz="1800" b="1">
                          <a:latin typeface="LG스마트체2.0 Regular" panose="020B0600000101010101" pitchFamily="50" charset="-127"/>
                          <a:ea typeface="LG스마트체2.0 Regular" panose="020B0600000101010101" pitchFamily="50" charset="-127"/>
                        </a:rPr>
                        <a:t>Grammar</a:t>
                      </a:r>
                      <a:endParaRPr lang="ko-KR" altLang="en-US" sz="1800" b="1">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latinLnBrk="1"/>
                      <a:r>
                        <a:rPr lang="en-ID" altLang="ko-KR" sz="1800" b="1">
                          <a:latin typeface="LG스마트체2.0 Regular" panose="020B0600000101010101" pitchFamily="50" charset="-127"/>
                          <a:ea typeface="LG스마트체2.0 Regular" panose="020B0600000101010101" pitchFamily="50" charset="-127"/>
                        </a:rPr>
                        <a:t>Hasil</a:t>
                      </a:r>
                      <a:endParaRPr lang="ko-KR" altLang="en-US" sz="1800" b="1">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0"/>
                  </a:ext>
                </a:extLst>
              </a:tr>
              <a:tr h="640070">
                <a:tc>
                  <a:txBody>
                    <a:bodyPr/>
                    <a:lstStyle/>
                    <a:p>
                      <a:pPr algn="ctr" latinLnBrk="1"/>
                      <a:r>
                        <a:rPr lang="en-ID" altLang="ko-KR" sz="1800" err="1">
                          <a:latin typeface="LG스마트체2.0 Regular" panose="020B0600000101010101" pitchFamily="50" charset="-127"/>
                          <a:ea typeface="LG스마트체2.0 Regular" panose="020B0600000101010101" pitchFamily="50" charset="-127"/>
                        </a:rPr>
                        <a:t>Penambahan</a:t>
                      </a:r>
                      <a:endParaRPr lang="ko-KR" altLang="en-US" sz="1800">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number1 + number2</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13</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40070">
                <a:tc>
                  <a:txBody>
                    <a:bodyPr/>
                    <a:lstStyle/>
                    <a:p>
                      <a:pPr algn="ctr" latinLnBrk="1"/>
                      <a:r>
                        <a:rPr lang="en-ID" altLang="ko-KR" sz="1800" err="1">
                          <a:latin typeface="LG스마트체2.0 Regular" panose="020B0600000101010101" pitchFamily="50" charset="-127"/>
                          <a:ea typeface="LG스마트체2.0 Regular" panose="020B0600000101010101" pitchFamily="50" charset="-127"/>
                        </a:rPr>
                        <a:t>Pengurangan</a:t>
                      </a:r>
                      <a:endParaRPr lang="ko-KR" altLang="en-US" sz="1800">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number1 - number2</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7</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47896">
                <a:tc>
                  <a:txBody>
                    <a:bodyPr/>
                    <a:lstStyle/>
                    <a:p>
                      <a:pPr algn="ctr" latinLnBrk="1"/>
                      <a:r>
                        <a:rPr lang="en-ID" altLang="ko-KR" sz="1800" err="1">
                          <a:latin typeface="LG스마트체2.0 Regular" panose="020B0600000101010101" pitchFamily="50" charset="-127"/>
                          <a:ea typeface="LG스마트체2.0 Regular" panose="020B0600000101010101" pitchFamily="50" charset="-127"/>
                        </a:rPr>
                        <a:t>Perkalian</a:t>
                      </a:r>
                      <a:endParaRPr lang="ko-KR" altLang="en-US" sz="1800">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number1</a:t>
                      </a:r>
                      <a:r>
                        <a:rPr lang="en-US" altLang="ko-KR" sz="1800" baseline="0">
                          <a:latin typeface="나눔고딕코딩" pitchFamily="49" charset="-127"/>
                          <a:ea typeface="나눔고딕코딩" pitchFamily="49" charset="-127"/>
                        </a:rPr>
                        <a:t> * number2</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30</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47896">
                <a:tc>
                  <a:txBody>
                    <a:bodyPr/>
                    <a:lstStyle/>
                    <a:p>
                      <a:pPr algn="ctr" latinLnBrk="1"/>
                      <a:r>
                        <a:rPr lang="en-ID" altLang="ko-KR" sz="1800" err="1">
                          <a:latin typeface="LG스마트체2.0 Regular" panose="020B0600000101010101" pitchFamily="50" charset="-127"/>
                          <a:ea typeface="LG스마트체2.0 Regular" panose="020B0600000101010101" pitchFamily="50" charset="-127"/>
                        </a:rPr>
                        <a:t>Pembagian</a:t>
                      </a:r>
                      <a:endParaRPr lang="ko-KR" altLang="en-US" sz="1800">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number1 / number2</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3</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47896">
                <a:tc>
                  <a:txBody>
                    <a:bodyPr/>
                    <a:lstStyle/>
                    <a:p>
                      <a:pPr algn="ctr" latinLnBrk="1"/>
                      <a:r>
                        <a:rPr lang="en-ID" altLang="ko-KR" sz="1800" err="1">
                          <a:latin typeface="LG스마트체2.0 Regular" panose="020B0600000101010101" pitchFamily="50" charset="-127"/>
                          <a:ea typeface="LG스마트체2.0 Regular" panose="020B0600000101010101" pitchFamily="50" charset="-127"/>
                        </a:rPr>
                        <a:t>Sisa</a:t>
                      </a:r>
                      <a:endParaRPr lang="ko-KR" altLang="en-US" sz="1800">
                        <a:latin typeface="LG스마트체2.0 Regular" panose="020B0600000101010101" pitchFamily="50" charset="-127"/>
                        <a:ea typeface="LG스마트체2.0 Regular" panose="020B0600000101010101" pitchFamily="50"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number1</a:t>
                      </a:r>
                      <a:r>
                        <a:rPr lang="en-US" altLang="ko-KR" sz="1800" baseline="0">
                          <a:latin typeface="나눔고딕코딩" pitchFamily="49" charset="-127"/>
                          <a:ea typeface="나눔고딕코딩" pitchFamily="49" charset="-127"/>
                        </a:rPr>
                        <a:t> % number2</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latinLnBrk="1"/>
                      <a:r>
                        <a:rPr lang="en-US" altLang="ko-KR" sz="1800">
                          <a:latin typeface="나눔고딕코딩" pitchFamily="49" charset="-127"/>
                          <a:ea typeface="나눔고딕코딩" pitchFamily="49" charset="-127"/>
                        </a:rPr>
                        <a:t>1</a:t>
                      </a:r>
                      <a:endParaRPr lang="ko-KR" altLang="en-US" sz="1800">
                        <a:latin typeface="나눔고딕코딩" pitchFamily="49" charset="-127"/>
                        <a:ea typeface="나눔고딕코딩" pitchFamily="49" charset="-127"/>
                      </a:endParaRPr>
                    </a:p>
                  </a:txBody>
                  <a:tcPr marT="45719" marB="4571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2" name="모서리가 둥근 직사각형 21">
            <a:extLst>
              <a:ext uri="{FF2B5EF4-FFF2-40B4-BE49-F238E27FC236}">
                <a16:creationId xmlns:a16="http://schemas.microsoft.com/office/drawing/2014/main" id="{6DCA9F6F-E821-4D84-81AB-A6184FF7843D}"/>
              </a:ext>
            </a:extLst>
          </p:cNvPr>
          <p:cNvSpPr>
            <a:spLocks/>
          </p:cNvSpPr>
          <p:nvPr/>
        </p:nvSpPr>
        <p:spPr>
          <a:xfrm>
            <a:off x="1209675" y="2835275"/>
            <a:ext cx="6724650" cy="539750"/>
          </a:xfrm>
          <a:prstGeom prst="roundRect">
            <a:avLst>
              <a:gd name="adj" fmla="val 21916"/>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a:solidFill>
                  <a:schemeClr val="tx1"/>
                </a:solidFill>
                <a:latin typeface="나눔고딕코딩" pitchFamily="49" charset="-127"/>
                <a:ea typeface="나눔고딕코딩" pitchFamily="49" charset="-127"/>
              </a:rPr>
              <a:t>Basic Data</a:t>
            </a:r>
            <a:r>
              <a:rPr lang="en-US" altLang="ko-KR">
                <a:solidFill>
                  <a:schemeClr val="tx1"/>
                </a:solidFill>
                <a:latin typeface="나눔고딕코딩" pitchFamily="49" charset="-127"/>
                <a:ea typeface="나눔고딕코딩" pitchFamily="49" charset="-127"/>
              </a:rPr>
              <a:t>]	int number1 = 10;    int number2 =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모서리가 둥근 직사각형 2">
            <a:extLst>
              <a:ext uri="{FF2B5EF4-FFF2-40B4-BE49-F238E27FC236}">
                <a16:creationId xmlns:a16="http://schemas.microsoft.com/office/drawing/2014/main" id="{06DE165F-F18A-8BC6-93E4-18C150F65A6B}"/>
              </a:ext>
            </a:extLst>
          </p:cNvPr>
          <p:cNvSpPr/>
          <p:nvPr/>
        </p:nvSpPr>
        <p:spPr>
          <a:xfrm>
            <a:off x="3403600" y="1522413"/>
            <a:ext cx="5389563" cy="4878387"/>
          </a:xfrm>
          <a:prstGeom prst="roundRect">
            <a:avLst>
              <a:gd name="adj" fmla="val 3280"/>
            </a:avLst>
          </a:prstGeom>
          <a:solidFill>
            <a:schemeClr val="accent5">
              <a:lumMod val="20000"/>
              <a:lumOff val="80000"/>
              <a:alpha val="7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lstStyle/>
          <a:p>
            <a:pPr eaLnBrk="1" hangingPunct="1">
              <a:spcAft>
                <a:spcPts val="567"/>
              </a:spcAft>
              <a:defRPr/>
            </a:pPr>
            <a:r>
              <a:rPr lang="en-US" altLang="ko-KR" sz="1300">
                <a:solidFill>
                  <a:schemeClr val="tx1"/>
                </a:solidFill>
                <a:latin typeface="나눔고딕코딩" pitchFamily="49" charset="-127"/>
                <a:ea typeface="나눔고딕코딩" pitchFamily="49" charset="-127"/>
              </a:rPr>
              <a:t>…</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public class </a:t>
            </a:r>
            <a:r>
              <a:rPr lang="en-US" altLang="ko-KR" sz="1300" err="1">
                <a:solidFill>
                  <a:schemeClr val="tx1"/>
                </a:solidFill>
                <a:latin typeface="나눔고딕코딩" pitchFamily="49" charset="-127"/>
                <a:ea typeface="나눔고딕코딩" pitchFamily="49" charset="-127"/>
              </a:rPr>
              <a:t>CalculatorTest</a:t>
            </a: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public static void main( String[] </a:t>
            </a:r>
            <a:r>
              <a:rPr lang="en-US" altLang="ko-KR" sz="1300" err="1">
                <a:solidFill>
                  <a:schemeClr val="tx1"/>
                </a:solidFill>
                <a:latin typeface="나눔고딕코딩" pitchFamily="49" charset="-127"/>
                <a:ea typeface="나눔고딕코딩" pitchFamily="49" charset="-127"/>
              </a:rPr>
              <a:t>args</a:t>
            </a:r>
            <a:r>
              <a:rPr lang="en-US" altLang="ko-KR" sz="1300">
                <a:solidFill>
                  <a:schemeClr val="tx1"/>
                </a:solidFill>
                <a:latin typeface="나눔고딕코딩" pitchFamily="49" charset="-127"/>
                <a:ea typeface="나눔고딕코딩" pitchFamily="49" charset="-127"/>
              </a:rPr>
              <a:t> )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addition = number1 + number2;</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subtraction = number1 - number2;</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multiplication = number1 * number2;</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division = number1 / number2;</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remainder = number1 % number2;</a:t>
            </a:r>
          </a:p>
          <a:p>
            <a:pPr eaLnBrk="1" hangingPunct="1">
              <a:spcAft>
                <a:spcPts val="567"/>
              </a:spcAft>
              <a:defRPr/>
            </a:pPr>
            <a:endParaRPr lang="en-US" altLang="ko-KR" sz="13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u="sng" err="1">
                <a:solidFill>
                  <a:schemeClr val="tx1"/>
                </a:solidFill>
                <a:latin typeface="나눔고딕코딩" pitchFamily="49" charset="-127"/>
                <a:ea typeface="나눔고딕코딩" pitchFamily="49" charset="-127"/>
              </a:rPr>
              <a:t>System.out.println</a:t>
            </a:r>
            <a:r>
              <a:rPr lang="en-US" altLang="ko-KR" sz="1300" u="sng">
                <a:solidFill>
                  <a:schemeClr val="tx1"/>
                </a:solidFill>
                <a:latin typeface="나눔고딕코딩" pitchFamily="49" charset="-127"/>
                <a:ea typeface="나눔고딕코딩" pitchFamily="49" charset="-127"/>
              </a:rPr>
              <a:t>("</a:t>
            </a:r>
            <a:r>
              <a:rPr lang="en-ID" altLang="ko-KR" sz="1300" u="sng" err="1">
                <a:solidFill>
                  <a:schemeClr val="tx1"/>
                </a:solidFill>
                <a:latin typeface="나눔고딕코딩" pitchFamily="49" charset="-127"/>
                <a:ea typeface="나눔고딕코딩" pitchFamily="49" charset="-127"/>
              </a:rPr>
              <a:t>hasil</a:t>
            </a:r>
            <a:r>
              <a:rPr lang="en-ID" altLang="ko-KR" sz="1300" u="sng">
                <a:solidFill>
                  <a:schemeClr val="tx1"/>
                </a:solidFill>
                <a:latin typeface="나눔고딕코딩" pitchFamily="49" charset="-127"/>
                <a:ea typeface="나눔고딕코딩" pitchFamily="49" charset="-127"/>
              </a:rPr>
              <a:t> </a:t>
            </a:r>
            <a:r>
              <a:rPr lang="en-ID" altLang="ko-KR" sz="1300" u="sng" err="1">
                <a:solidFill>
                  <a:schemeClr val="tx1"/>
                </a:solidFill>
                <a:latin typeface="나눔고딕코딩" pitchFamily="49" charset="-127"/>
                <a:ea typeface="나눔고딕코딩" pitchFamily="49" charset="-127"/>
              </a:rPr>
              <a:t>penjumlahan</a:t>
            </a:r>
            <a:r>
              <a:rPr lang="en-ID" altLang="ko-KR" sz="1300" u="sng">
                <a:solidFill>
                  <a:schemeClr val="tx1"/>
                </a:solidFill>
                <a:latin typeface="나눔고딕코딩" pitchFamily="49" charset="-127"/>
                <a:ea typeface="나눔고딕코딩" pitchFamily="49" charset="-127"/>
              </a:rPr>
              <a:t> </a:t>
            </a:r>
            <a:r>
              <a:rPr lang="en-US" altLang="ko-KR" sz="1300" u="sng">
                <a:solidFill>
                  <a:schemeClr val="tx1"/>
                </a:solidFill>
                <a:latin typeface="나눔고딕코딩" pitchFamily="49" charset="-127"/>
                <a:ea typeface="나눔고딕코딩" pitchFamily="49" charset="-127"/>
              </a:rPr>
              <a:t>:" + addition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u="sng" err="1">
                <a:solidFill>
                  <a:schemeClr val="tx1"/>
                </a:solidFill>
                <a:latin typeface="나눔고딕코딩" pitchFamily="49" charset="-127"/>
                <a:ea typeface="나눔고딕코딩" pitchFamily="49" charset="-127"/>
              </a:rPr>
              <a:t>System.out.println</a:t>
            </a:r>
            <a:r>
              <a:rPr lang="en-US" altLang="ko-KR" sz="1300" u="sng">
                <a:solidFill>
                  <a:schemeClr val="tx1"/>
                </a:solidFill>
                <a:latin typeface="나눔고딕코딩" pitchFamily="49" charset="-127"/>
                <a:ea typeface="나눔고딕코딩" pitchFamily="49" charset="-127"/>
              </a:rPr>
              <a:t>("</a:t>
            </a:r>
            <a:r>
              <a:rPr lang="en-ID" altLang="ko-KR" sz="1300" u="sng">
                <a:solidFill>
                  <a:schemeClr val="tx1"/>
                </a:solidFill>
                <a:latin typeface="나눔고딕코딩" pitchFamily="49" charset="-127"/>
                <a:ea typeface="나눔고딕코딩" pitchFamily="49" charset="-127"/>
              </a:rPr>
              <a:t>Hasil </a:t>
            </a:r>
            <a:r>
              <a:rPr lang="en-ID" altLang="ko-KR" sz="1300" u="sng" err="1">
                <a:solidFill>
                  <a:schemeClr val="tx1"/>
                </a:solidFill>
                <a:latin typeface="나눔고딕코딩" pitchFamily="49" charset="-127"/>
                <a:ea typeface="나눔고딕코딩" pitchFamily="49" charset="-127"/>
              </a:rPr>
              <a:t>pengurangan</a:t>
            </a:r>
            <a:r>
              <a:rPr lang="ko-KR" altLang="en-US" sz="1300" u="sng">
                <a:solidFill>
                  <a:schemeClr val="tx1"/>
                </a:solidFill>
                <a:latin typeface="나눔고딕코딩" pitchFamily="49" charset="-127"/>
                <a:ea typeface="나눔고딕코딩" pitchFamily="49" charset="-127"/>
              </a:rPr>
              <a:t> </a:t>
            </a:r>
            <a:r>
              <a:rPr lang="en-US" altLang="ko-KR" sz="1300" u="sng">
                <a:solidFill>
                  <a:schemeClr val="tx1"/>
                </a:solidFill>
                <a:latin typeface="나눔고딕코딩" pitchFamily="49" charset="-127"/>
                <a:ea typeface="나눔고딕코딩" pitchFamily="49" charset="-127"/>
              </a:rPr>
              <a:t>:" + subtraction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u="sng" err="1">
                <a:solidFill>
                  <a:schemeClr val="tx1"/>
                </a:solidFill>
                <a:latin typeface="나눔고딕코딩" pitchFamily="49" charset="-127"/>
                <a:ea typeface="나눔고딕코딩" pitchFamily="49" charset="-127"/>
              </a:rPr>
              <a:t>System.out.println</a:t>
            </a:r>
            <a:r>
              <a:rPr lang="en-US" altLang="ko-KR" sz="1300" u="sng">
                <a:solidFill>
                  <a:schemeClr val="tx1"/>
                </a:solidFill>
                <a:latin typeface="나눔고딕코딩" pitchFamily="49" charset="-127"/>
                <a:ea typeface="나눔고딕코딩" pitchFamily="49" charset="-127"/>
              </a:rPr>
              <a:t>("</a:t>
            </a:r>
            <a:r>
              <a:rPr lang="en-US" altLang="ko-KR" sz="1300" u="sng" err="1">
                <a:solidFill>
                  <a:schemeClr val="tx1"/>
                </a:solidFill>
                <a:latin typeface="나눔고딕코딩" pitchFamily="49" charset="-127"/>
                <a:ea typeface="나눔고딕코딩" pitchFamily="49" charset="-127"/>
              </a:rPr>
              <a:t>hasil</a:t>
            </a:r>
            <a:r>
              <a:rPr lang="en-US" altLang="ko-KR" sz="1300" u="sng">
                <a:solidFill>
                  <a:schemeClr val="tx1"/>
                </a:solidFill>
                <a:latin typeface="나눔고딕코딩" pitchFamily="49" charset="-127"/>
                <a:ea typeface="나눔고딕코딩" pitchFamily="49" charset="-127"/>
              </a:rPr>
              <a:t> </a:t>
            </a:r>
            <a:r>
              <a:rPr lang="en-US" altLang="ko-KR" sz="1300" u="sng" err="1">
                <a:solidFill>
                  <a:schemeClr val="tx1"/>
                </a:solidFill>
                <a:latin typeface="나눔고딕코딩" pitchFamily="49" charset="-127"/>
                <a:ea typeface="나눔고딕코딩" pitchFamily="49" charset="-127"/>
              </a:rPr>
              <a:t>perkalian</a:t>
            </a:r>
            <a:r>
              <a:rPr lang="en-US" altLang="ko-KR" sz="1300" u="sng">
                <a:solidFill>
                  <a:schemeClr val="tx1"/>
                </a:solidFill>
                <a:latin typeface="나눔고딕코딩" pitchFamily="49" charset="-127"/>
                <a:ea typeface="나눔고딕코딩" pitchFamily="49" charset="-127"/>
              </a:rPr>
              <a:t> :" + multiplication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u="sng" err="1">
                <a:solidFill>
                  <a:schemeClr val="tx1"/>
                </a:solidFill>
                <a:latin typeface="나눔고딕코딩" pitchFamily="49" charset="-127"/>
                <a:ea typeface="나눔고딕코딩" pitchFamily="49" charset="-127"/>
              </a:rPr>
              <a:t>System.out.println</a:t>
            </a:r>
            <a:r>
              <a:rPr lang="en-US" altLang="ko-KR" sz="1300" u="sng">
                <a:solidFill>
                  <a:schemeClr val="tx1"/>
                </a:solidFill>
                <a:latin typeface="나눔고딕코딩" pitchFamily="49" charset="-127"/>
                <a:ea typeface="나눔고딕코딩" pitchFamily="49" charset="-127"/>
              </a:rPr>
              <a:t>("</a:t>
            </a:r>
            <a:r>
              <a:rPr lang="en-ID" altLang="ko-KR" sz="1300" u="sng" err="1">
                <a:solidFill>
                  <a:schemeClr val="tx1"/>
                </a:solidFill>
                <a:latin typeface="나눔고딕코딩" pitchFamily="49" charset="-127"/>
                <a:ea typeface="나눔고딕코딩" pitchFamily="49" charset="-127"/>
              </a:rPr>
              <a:t>hasil</a:t>
            </a:r>
            <a:r>
              <a:rPr lang="en-ID" altLang="ko-KR" sz="1300" u="sng">
                <a:solidFill>
                  <a:schemeClr val="tx1"/>
                </a:solidFill>
                <a:latin typeface="나눔고딕코딩" pitchFamily="49" charset="-127"/>
                <a:ea typeface="나눔고딕코딩" pitchFamily="49" charset="-127"/>
              </a:rPr>
              <a:t> </a:t>
            </a:r>
            <a:r>
              <a:rPr lang="en-ID" altLang="ko-KR" sz="1300" u="sng" err="1">
                <a:solidFill>
                  <a:schemeClr val="tx1"/>
                </a:solidFill>
                <a:latin typeface="나눔고딕코딩" pitchFamily="49" charset="-127"/>
                <a:ea typeface="나눔고딕코딩" pitchFamily="49" charset="-127"/>
              </a:rPr>
              <a:t>pembagian</a:t>
            </a:r>
            <a:r>
              <a:rPr lang="ko-KR" altLang="en-US" sz="1300" u="sng">
                <a:solidFill>
                  <a:schemeClr val="tx1"/>
                </a:solidFill>
                <a:latin typeface="나눔고딕코딩" pitchFamily="49" charset="-127"/>
                <a:ea typeface="나눔고딕코딩" pitchFamily="49" charset="-127"/>
              </a:rPr>
              <a:t> </a:t>
            </a:r>
            <a:r>
              <a:rPr lang="en-US" altLang="ko-KR" sz="1300" u="sng">
                <a:solidFill>
                  <a:schemeClr val="tx1"/>
                </a:solidFill>
                <a:latin typeface="나눔고딕코딩" pitchFamily="49" charset="-127"/>
                <a:ea typeface="나눔고딕코딩" pitchFamily="49" charset="-127"/>
              </a:rPr>
              <a:t>:" + division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u="sng" err="1">
                <a:solidFill>
                  <a:schemeClr val="tx1"/>
                </a:solidFill>
                <a:latin typeface="나눔고딕코딩" pitchFamily="49" charset="-127"/>
                <a:ea typeface="나눔고딕코딩" pitchFamily="49" charset="-127"/>
              </a:rPr>
              <a:t>System.out.println</a:t>
            </a:r>
            <a:r>
              <a:rPr lang="en-US" altLang="ko-KR" sz="1300" u="sng">
                <a:solidFill>
                  <a:schemeClr val="tx1"/>
                </a:solidFill>
                <a:latin typeface="나눔고딕코딩" pitchFamily="49" charset="-127"/>
                <a:ea typeface="나눔고딕코딩" pitchFamily="49" charset="-127"/>
              </a:rPr>
              <a:t>("</a:t>
            </a:r>
            <a:r>
              <a:rPr lang="en-US" altLang="ko-KR" sz="1300" u="sng" err="1">
                <a:solidFill>
                  <a:schemeClr val="tx1"/>
                </a:solidFill>
                <a:latin typeface="나눔고딕코딩" pitchFamily="49" charset="-127"/>
                <a:ea typeface="나눔고딕코딩" pitchFamily="49" charset="-127"/>
              </a:rPr>
              <a:t>tetap</a:t>
            </a:r>
            <a:r>
              <a:rPr lang="ko-KR" altLang="en-US" sz="1300" u="sng">
                <a:solidFill>
                  <a:schemeClr val="tx1"/>
                </a:solidFill>
                <a:latin typeface="나눔고딕코딩" pitchFamily="49" charset="-127"/>
                <a:ea typeface="나눔고딕코딩" pitchFamily="49" charset="-127"/>
              </a:rPr>
              <a:t> </a:t>
            </a:r>
            <a:r>
              <a:rPr lang="en-US" altLang="ko-KR" sz="1300" u="sng">
                <a:solidFill>
                  <a:schemeClr val="tx1"/>
                </a:solidFill>
                <a:latin typeface="나눔고딕코딩" pitchFamily="49" charset="-127"/>
                <a:ea typeface="나눔고딕코딩" pitchFamily="49" charset="-127"/>
              </a:rPr>
              <a:t>:" + remainder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a:t>
            </a:r>
          </a:p>
        </p:txBody>
      </p:sp>
      <p:sp>
        <p:nvSpPr>
          <p:cNvPr id="4" name="모서리가 둥근 직사각형 3">
            <a:extLst>
              <a:ext uri="{FF2B5EF4-FFF2-40B4-BE49-F238E27FC236}">
                <a16:creationId xmlns:a16="http://schemas.microsoft.com/office/drawing/2014/main" id="{7E5BB130-A6C7-44DE-2CCF-0F2E85C79C42}"/>
              </a:ext>
            </a:extLst>
          </p:cNvPr>
          <p:cNvSpPr/>
          <p:nvPr/>
        </p:nvSpPr>
        <p:spPr>
          <a:xfrm>
            <a:off x="344488" y="1522413"/>
            <a:ext cx="2860675" cy="4878387"/>
          </a:xfrm>
          <a:prstGeom prst="roundRect">
            <a:avLst>
              <a:gd name="adj" fmla="val 5047"/>
            </a:avLst>
          </a:prstGeom>
          <a:solidFill>
            <a:schemeClr val="bg1">
              <a:lumMod val="85000"/>
              <a:alpha val="7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lstStyle/>
          <a:p>
            <a:pPr marL="285750" indent="-285750" eaLnBrk="1" hangingPunct="1">
              <a:spcAft>
                <a:spcPts val="567"/>
              </a:spcAft>
              <a:buFont typeface="Wingdings" pitchFamily="2" charset="2"/>
              <a:buChar char="ü"/>
              <a:defRPr/>
            </a:pPr>
            <a:r>
              <a:rPr lang="en-ID" altLang="ko-KR" sz="1400" err="1">
                <a:solidFill>
                  <a:schemeClr val="tx1"/>
                </a:solidFill>
                <a:latin typeface="나눔고딕코딩" pitchFamily="49" charset="-127"/>
                <a:ea typeface="나눔고딕코딩" pitchFamily="49" charset="-127"/>
              </a:rPr>
              <a:t>Menyatakan</a:t>
            </a:r>
            <a:r>
              <a:rPr lang="en-ID" altLang="ko-KR" sz="1400">
                <a:solidFill>
                  <a:schemeClr val="tx1"/>
                </a:solidFill>
                <a:latin typeface="나눔고딕코딩" pitchFamily="49" charset="-127"/>
                <a:ea typeface="나눔고딕코딩" pitchFamily="49" charset="-127"/>
              </a:rPr>
              <a:t> dua </a:t>
            </a:r>
            <a:r>
              <a:rPr lang="en-ID" altLang="ko-KR" sz="1400" err="1">
                <a:solidFill>
                  <a:schemeClr val="tx1"/>
                </a:solidFill>
                <a:latin typeface="나눔고딕코딩" pitchFamily="49" charset="-127"/>
                <a:ea typeface="나눔고딕코딩" pitchFamily="49" charset="-127"/>
              </a:rPr>
              <a:t>variabel</a:t>
            </a:r>
            <a:r>
              <a:rPr lang="en-ID" altLang="ko-KR" sz="1400">
                <a:solidFill>
                  <a:schemeClr val="tx1"/>
                </a:solidFill>
                <a:latin typeface="나눔고딕코딩" pitchFamily="49" charset="-127"/>
                <a:ea typeface="나눔고딕코딩" pitchFamily="49" charset="-127"/>
              </a:rPr>
              <a:t> integer dan </a:t>
            </a:r>
            <a:r>
              <a:rPr lang="en-ID" altLang="ko-KR" sz="1400" err="1">
                <a:solidFill>
                  <a:schemeClr val="tx1"/>
                </a:solidFill>
                <a:latin typeface="나눔고딕코딩" pitchFamily="49" charset="-127"/>
                <a:ea typeface="나눔고딕코딩" pitchFamily="49" charset="-127"/>
              </a:rPr>
              <a:t>memberikan</a:t>
            </a:r>
            <a:r>
              <a:rPr lang="en-ID" altLang="ko-KR" sz="1400">
                <a:solidFill>
                  <a:schemeClr val="tx1"/>
                </a:solidFill>
                <a:latin typeface="나눔고딕코딩" pitchFamily="49" charset="-127"/>
                <a:ea typeface="나눔고딕코딩" pitchFamily="49" charset="-127"/>
              </a:rPr>
              <a:t> </a:t>
            </a:r>
            <a:r>
              <a:rPr lang="en-ID" altLang="ko-KR" sz="1400" err="1">
                <a:solidFill>
                  <a:schemeClr val="tx1"/>
                </a:solidFill>
                <a:latin typeface="나눔고딕코딩" pitchFamily="49" charset="-127"/>
                <a:ea typeface="나눔고딕코딩" pitchFamily="49" charset="-127"/>
              </a:rPr>
              <a:t>nilai</a:t>
            </a:r>
            <a:r>
              <a:rPr lang="en-ID" altLang="ko-KR" sz="1400">
                <a:solidFill>
                  <a:schemeClr val="tx1"/>
                </a:solidFill>
                <a:latin typeface="나눔고딕코딩" pitchFamily="49" charset="-127"/>
                <a:ea typeface="나눔고딕코딩" pitchFamily="49" charset="-127"/>
              </a:rPr>
              <a:t> pada </a:t>
            </a:r>
            <a:r>
              <a:rPr lang="en-ID" altLang="ko-KR" sz="1400" err="1">
                <a:solidFill>
                  <a:schemeClr val="tx1"/>
                </a:solidFill>
                <a:latin typeface="나눔고딕코딩" pitchFamily="49" charset="-127"/>
                <a:ea typeface="나눔고딕코딩" pitchFamily="49" charset="-127"/>
              </a:rPr>
              <a:t>variabel</a:t>
            </a:r>
            <a:r>
              <a:rPr lang="en-ID" altLang="ko-KR" sz="1400">
                <a:solidFill>
                  <a:schemeClr val="tx1"/>
                </a:solidFill>
                <a:latin typeface="나눔고딕코딩" pitchFamily="49" charset="-127"/>
                <a:ea typeface="나눔고딕코딩" pitchFamily="49" charset="-127"/>
              </a:rPr>
              <a:t> </a:t>
            </a:r>
            <a:r>
              <a:rPr lang="en-ID" altLang="ko-KR" sz="1400" err="1">
                <a:solidFill>
                  <a:schemeClr val="tx1"/>
                </a:solidFill>
                <a:latin typeface="나눔고딕코딩" pitchFamily="49" charset="-127"/>
                <a:ea typeface="나눔고딕코딩" pitchFamily="49" charset="-127"/>
              </a:rPr>
              <a:t>tersebut</a:t>
            </a:r>
            <a:r>
              <a:rPr lang="en-US" altLang="ko-KR" sz="1400">
                <a:solidFill>
                  <a:schemeClr val="tx1"/>
                </a:solidFill>
                <a:latin typeface="나눔고딕코딩" pitchFamily="49" charset="-127"/>
                <a:ea typeface="나눔고딕코딩" pitchFamily="49" charset="-127"/>
              </a:rPr>
              <a:t>.</a:t>
            </a:r>
          </a:p>
          <a:p>
            <a:pPr marL="285750" indent="-285750" eaLnBrk="1" hangingPunct="1">
              <a:spcAft>
                <a:spcPts val="567"/>
              </a:spcAft>
              <a:buFont typeface="Wingdings" pitchFamily="2" charset="2"/>
              <a:buChar char="ü"/>
              <a:defRPr/>
            </a:pPr>
            <a:endParaRPr lang="en-US" altLang="ko-KR" sz="1400">
              <a:solidFill>
                <a:schemeClr val="tx1"/>
              </a:solidFill>
              <a:latin typeface="나눔고딕코딩" pitchFamily="49" charset="-127"/>
              <a:ea typeface="나눔고딕코딩" pitchFamily="49" charset="-127"/>
            </a:endParaRPr>
          </a:p>
          <a:p>
            <a:pPr marL="285750" indent="-285750" eaLnBrk="1" hangingPunct="1">
              <a:spcAft>
                <a:spcPts val="567"/>
              </a:spcAft>
              <a:buFont typeface="Wingdings" pitchFamily="2" charset="2"/>
              <a:buChar char="ü"/>
              <a:defRPr/>
            </a:pPr>
            <a:r>
              <a:rPr lang="en-ID" altLang="ko-KR" sz="1400" err="1">
                <a:solidFill>
                  <a:schemeClr val="tx1"/>
                </a:solidFill>
                <a:latin typeface="나눔고딕코딩" pitchFamily="49" charset="-127"/>
                <a:ea typeface="나눔고딕코딩" pitchFamily="49" charset="-127"/>
              </a:rPr>
              <a:t>Tulis</a:t>
            </a:r>
            <a:r>
              <a:rPr lang="en-ID" altLang="ko-KR" sz="1400">
                <a:solidFill>
                  <a:schemeClr val="tx1"/>
                </a:solidFill>
                <a:latin typeface="나눔고딕코딩" pitchFamily="49" charset="-127"/>
                <a:ea typeface="나눔고딕코딩" pitchFamily="49" charset="-127"/>
              </a:rPr>
              <a:t> </a:t>
            </a:r>
            <a:r>
              <a:rPr lang="en-ID" altLang="ko-KR" sz="1400" err="1">
                <a:solidFill>
                  <a:schemeClr val="tx1"/>
                </a:solidFill>
                <a:latin typeface="나눔고딕코딩" pitchFamily="49" charset="-127"/>
                <a:ea typeface="나눔고딕코딩" pitchFamily="49" charset="-127"/>
              </a:rPr>
              <a:t>kode</a:t>
            </a:r>
            <a:r>
              <a:rPr lang="en-ID" altLang="ko-KR" sz="1400">
                <a:solidFill>
                  <a:schemeClr val="tx1"/>
                </a:solidFill>
                <a:latin typeface="나눔고딕코딩" pitchFamily="49" charset="-127"/>
                <a:ea typeface="나눔고딕코딩" pitchFamily="49" charset="-127"/>
              </a:rPr>
              <a:t> </a:t>
            </a:r>
            <a:r>
              <a:rPr lang="en-ID" altLang="ko-KR" sz="1400" err="1">
                <a:solidFill>
                  <a:schemeClr val="tx1"/>
                </a:solidFill>
                <a:latin typeface="나눔고딕코딩" pitchFamily="49" charset="-127"/>
                <a:ea typeface="나눔고딕코딩" pitchFamily="49" charset="-127"/>
              </a:rPr>
              <a:t>menggunakan</a:t>
            </a:r>
            <a:r>
              <a:rPr lang="en-ID" altLang="ko-KR" sz="1400">
                <a:solidFill>
                  <a:schemeClr val="tx1"/>
                </a:solidFill>
                <a:latin typeface="나눔고딕코딩" pitchFamily="49" charset="-127"/>
                <a:ea typeface="나눔고딕코딩" pitchFamily="49" charset="-127"/>
              </a:rPr>
              <a:t> operator yang </a:t>
            </a:r>
            <a:r>
              <a:rPr lang="en-ID" altLang="ko-KR" sz="1400" err="1">
                <a:solidFill>
                  <a:schemeClr val="tx1"/>
                </a:solidFill>
                <a:latin typeface="나눔고딕코딩" pitchFamily="49" charset="-127"/>
                <a:ea typeface="나눔고딕코딩" pitchFamily="49" charset="-127"/>
              </a:rPr>
              <a:t>sesuai</a:t>
            </a:r>
            <a:r>
              <a:rPr lang="en-ID" altLang="ko-KR" sz="1400">
                <a:solidFill>
                  <a:schemeClr val="tx1"/>
                </a:solidFill>
                <a:latin typeface="나눔고딕코딩" pitchFamily="49" charset="-127"/>
                <a:ea typeface="나눔고딕코딩" pitchFamily="49" charset="-127"/>
              </a:rPr>
              <a:t> </a:t>
            </a:r>
            <a:r>
              <a:rPr lang="en-ID" altLang="ko-KR" sz="1400" err="1">
                <a:solidFill>
                  <a:schemeClr val="tx1"/>
                </a:solidFill>
                <a:latin typeface="나눔고딕코딩" pitchFamily="49" charset="-127"/>
                <a:ea typeface="나눔고딕코딩" pitchFamily="49" charset="-127"/>
              </a:rPr>
              <a:t>untuk</a:t>
            </a:r>
            <a:r>
              <a:rPr lang="en-ID" altLang="ko-KR" sz="1400">
                <a:solidFill>
                  <a:schemeClr val="tx1"/>
                </a:solidFill>
                <a:latin typeface="나눔고딕코딩" pitchFamily="49" charset="-127"/>
                <a:ea typeface="나눔고딕코딩" pitchFamily="49" charset="-127"/>
              </a:rPr>
              <a:t> </a:t>
            </a:r>
            <a:r>
              <a:rPr lang="en-ID" altLang="ko-KR" sz="1400" err="1">
                <a:solidFill>
                  <a:schemeClr val="tx1"/>
                </a:solidFill>
                <a:latin typeface="나눔고딕코딩" pitchFamily="49" charset="-127"/>
                <a:ea typeface="나눔고딕코딩" pitchFamily="49" charset="-127"/>
              </a:rPr>
              <a:t>operasi</a:t>
            </a:r>
            <a:r>
              <a:rPr lang="en-ID" altLang="ko-KR" sz="1400">
                <a:solidFill>
                  <a:schemeClr val="tx1"/>
                </a:solidFill>
                <a:latin typeface="나눔고딕코딩" pitchFamily="49" charset="-127"/>
                <a:ea typeface="나눔고딕코딩" pitchFamily="49" charset="-127"/>
              </a:rPr>
              <a:t> </a:t>
            </a:r>
            <a:r>
              <a:rPr lang="en-ID" altLang="ko-KR" sz="1400" err="1">
                <a:solidFill>
                  <a:schemeClr val="tx1"/>
                </a:solidFill>
                <a:latin typeface="나눔고딕코딩" pitchFamily="49" charset="-127"/>
                <a:ea typeface="나눔고딕코딩" pitchFamily="49" charset="-127"/>
              </a:rPr>
              <a:t>aritmatika</a:t>
            </a:r>
            <a:r>
              <a:rPr lang="en-ID" altLang="ko-KR" sz="1400">
                <a:solidFill>
                  <a:schemeClr val="tx1"/>
                </a:solidFill>
                <a:latin typeface="나눔고딕코딩" pitchFamily="49" charset="-127"/>
                <a:ea typeface="나눔고딕코딩" pitchFamily="49" charset="-127"/>
              </a:rPr>
              <a:t> dan </a:t>
            </a:r>
            <a:r>
              <a:rPr lang="en-ID" altLang="ko-KR" sz="1400" err="1">
                <a:solidFill>
                  <a:schemeClr val="tx1"/>
                </a:solidFill>
                <a:latin typeface="나눔고딕코딩" pitchFamily="49" charset="-127"/>
                <a:ea typeface="나눔고딕코딩" pitchFamily="49" charset="-127"/>
              </a:rPr>
              <a:t>operasi</a:t>
            </a:r>
            <a:r>
              <a:rPr lang="en-ID" altLang="ko-KR" sz="1400">
                <a:solidFill>
                  <a:schemeClr val="tx1"/>
                </a:solidFill>
                <a:latin typeface="나눔고딕코딩" pitchFamily="49" charset="-127"/>
                <a:ea typeface="나눔고딕코딩" pitchFamily="49" charset="-127"/>
              </a:rPr>
              <a:t> yang </a:t>
            </a:r>
            <a:r>
              <a:rPr lang="en-ID" altLang="ko-KR" sz="1400" err="1">
                <a:solidFill>
                  <a:schemeClr val="tx1"/>
                </a:solidFill>
                <a:latin typeface="나눔고딕코딩" pitchFamily="49" charset="-127"/>
                <a:ea typeface="나눔고딕코딩" pitchFamily="49" charset="-127"/>
              </a:rPr>
              <a:t>tersisa</a:t>
            </a:r>
            <a:r>
              <a:rPr lang="en-US" altLang="ko-KR" sz="1400">
                <a:solidFill>
                  <a:schemeClr val="tx1"/>
                </a:solidFill>
                <a:latin typeface="나눔고딕코딩" pitchFamily="49" charset="-127"/>
                <a:ea typeface="나눔고딕코딩" pitchFamily="49" charset="-127"/>
              </a:rPr>
              <a:t>.</a:t>
            </a:r>
          </a:p>
          <a:p>
            <a:pPr marL="285750" indent="-285750" eaLnBrk="1" hangingPunct="1">
              <a:spcAft>
                <a:spcPts val="567"/>
              </a:spcAft>
              <a:buFont typeface="Wingdings" pitchFamily="2" charset="2"/>
              <a:buChar char="ü"/>
              <a:defRPr/>
            </a:pPr>
            <a:endParaRPr lang="en-US" altLang="ko-KR" sz="1400">
              <a:solidFill>
                <a:schemeClr val="tx1"/>
              </a:solidFill>
              <a:latin typeface="나눔고딕코딩" pitchFamily="49" charset="-127"/>
              <a:ea typeface="나눔고딕코딩" pitchFamily="49" charset="-127"/>
            </a:endParaRPr>
          </a:p>
          <a:p>
            <a:pPr marL="285750" indent="-285750" eaLnBrk="1" hangingPunct="1">
              <a:spcAft>
                <a:spcPts val="567"/>
              </a:spcAft>
              <a:buFont typeface="Wingdings" pitchFamily="2" charset="2"/>
              <a:buChar char="ü"/>
              <a:defRPr/>
            </a:pPr>
            <a:r>
              <a:rPr lang="en-ID" altLang="ko-KR" sz="1400" u="sng" err="1">
                <a:solidFill>
                  <a:schemeClr val="tx1"/>
                </a:solidFill>
                <a:latin typeface="나눔고딕코딩" pitchFamily="49" charset="-127"/>
                <a:ea typeface="나눔고딕코딩" pitchFamily="49" charset="-127"/>
              </a:rPr>
              <a:t>Tuliskan</a:t>
            </a:r>
            <a:r>
              <a:rPr lang="en-ID" altLang="ko-KR" sz="1400" u="sng">
                <a:solidFill>
                  <a:schemeClr val="tx1"/>
                </a:solidFill>
                <a:latin typeface="나눔고딕코딩" pitchFamily="49" charset="-127"/>
                <a:ea typeface="나눔고딕코딩" pitchFamily="49" charset="-127"/>
              </a:rPr>
              <a:t> </a:t>
            </a:r>
            <a:r>
              <a:rPr lang="en-ID" altLang="ko-KR" sz="1400" u="sng" err="1">
                <a:solidFill>
                  <a:schemeClr val="tx1"/>
                </a:solidFill>
                <a:latin typeface="나눔고딕코딩" pitchFamily="49" charset="-127"/>
                <a:ea typeface="나눔고딕코딩" pitchFamily="49" charset="-127"/>
              </a:rPr>
              <a:t>subkode</a:t>
            </a:r>
            <a:r>
              <a:rPr lang="en-ID" altLang="ko-KR" sz="1400" u="sng">
                <a:solidFill>
                  <a:schemeClr val="tx1"/>
                </a:solidFill>
                <a:latin typeface="나눔고딕코딩" pitchFamily="49" charset="-127"/>
                <a:ea typeface="나눔고딕코딩" pitchFamily="49" charset="-127"/>
              </a:rPr>
              <a:t> output agar </a:t>
            </a:r>
            <a:r>
              <a:rPr lang="en-ID" altLang="ko-KR" sz="1400" u="sng" err="1">
                <a:solidFill>
                  <a:schemeClr val="tx1"/>
                </a:solidFill>
                <a:latin typeface="나눔고딕코딩" pitchFamily="49" charset="-127"/>
                <a:ea typeface="나눔고딕코딩" pitchFamily="49" charset="-127"/>
              </a:rPr>
              <a:t>terlihat</a:t>
            </a:r>
            <a:r>
              <a:rPr lang="en-ID" altLang="ko-KR" sz="1400" u="sng">
                <a:solidFill>
                  <a:schemeClr val="tx1"/>
                </a:solidFill>
                <a:latin typeface="나눔고딕코딩" pitchFamily="49" charset="-127"/>
                <a:ea typeface="나눔고딕코딩" pitchFamily="49" charset="-127"/>
              </a:rPr>
              <a:t> </a:t>
            </a:r>
            <a:r>
              <a:rPr lang="en-ID" altLang="ko-KR" sz="1400" u="sng" err="1">
                <a:solidFill>
                  <a:schemeClr val="tx1"/>
                </a:solidFill>
                <a:latin typeface="나눔고딕코딩" pitchFamily="49" charset="-127"/>
                <a:ea typeface="나눔고딕코딩" pitchFamily="49" charset="-127"/>
              </a:rPr>
              <a:t>persis</a:t>
            </a:r>
            <a:r>
              <a:rPr lang="en-ID" altLang="ko-KR" sz="1400" u="sng">
                <a:solidFill>
                  <a:schemeClr val="tx1"/>
                </a:solidFill>
                <a:latin typeface="나눔고딕코딩" pitchFamily="49" charset="-127"/>
                <a:ea typeface="나눔고딕코딩" pitchFamily="49" charset="-127"/>
              </a:rPr>
              <a:t> </a:t>
            </a:r>
            <a:r>
              <a:rPr lang="en-ID" altLang="ko-KR" sz="1400" u="sng" err="1">
                <a:solidFill>
                  <a:schemeClr val="tx1"/>
                </a:solidFill>
                <a:latin typeface="나눔고딕코딩" pitchFamily="49" charset="-127"/>
                <a:ea typeface="나눔고딕코딩" pitchFamily="49" charset="-127"/>
              </a:rPr>
              <a:t>seperti</a:t>
            </a:r>
            <a:r>
              <a:rPr lang="en-ID" altLang="ko-KR" sz="1400" u="sng">
                <a:solidFill>
                  <a:schemeClr val="tx1"/>
                </a:solidFill>
                <a:latin typeface="나눔고딕코딩" pitchFamily="49" charset="-127"/>
                <a:ea typeface="나눔고딕코딩" pitchFamily="49" charset="-127"/>
              </a:rPr>
              <a:t> </a:t>
            </a:r>
            <a:r>
              <a:rPr lang="en-ID" altLang="ko-KR" sz="1400" u="sng" err="1">
                <a:solidFill>
                  <a:schemeClr val="tx1"/>
                </a:solidFill>
                <a:latin typeface="나눔고딕코딩" pitchFamily="49" charset="-127"/>
                <a:ea typeface="나눔고딕코딩" pitchFamily="49" charset="-127"/>
              </a:rPr>
              <a:t>hasil</a:t>
            </a:r>
            <a:r>
              <a:rPr lang="en-ID" altLang="ko-KR" sz="1400" u="sng">
                <a:solidFill>
                  <a:schemeClr val="tx1"/>
                </a:solidFill>
                <a:latin typeface="나눔고딕코딩" pitchFamily="49" charset="-127"/>
                <a:ea typeface="나눔고딕코딩" pitchFamily="49" charset="-127"/>
              </a:rPr>
              <a:t> yang </a:t>
            </a:r>
            <a:r>
              <a:rPr lang="en-ID" altLang="ko-KR" sz="1400" u="sng" err="1">
                <a:solidFill>
                  <a:schemeClr val="tx1"/>
                </a:solidFill>
                <a:latin typeface="나눔고딕코딩" pitchFamily="49" charset="-127"/>
                <a:ea typeface="나눔고딕코딩" pitchFamily="49" charset="-127"/>
              </a:rPr>
              <a:t>dijalankan</a:t>
            </a:r>
            <a:r>
              <a:rPr lang="en-US" altLang="ko-KR" sz="1400" u="sng">
                <a:solidFill>
                  <a:schemeClr val="tx1"/>
                </a:solidFill>
                <a:latin typeface="나눔고딕코딩" pitchFamily="49" charset="-127"/>
                <a:ea typeface="나눔고딕코딩" pitchFamily="49" charset="-127"/>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제목 5">
            <a:extLst>
              <a:ext uri="{FF2B5EF4-FFF2-40B4-BE49-F238E27FC236}">
                <a16:creationId xmlns:a16="http://schemas.microsoft.com/office/drawing/2014/main" id="{D126885E-3DFC-81E4-DBC4-36651B6E9355}"/>
              </a:ext>
            </a:extLst>
          </p:cNvPr>
          <p:cNvSpPr>
            <a:spLocks/>
          </p:cNvSpPr>
          <p:nvPr/>
        </p:nvSpPr>
        <p:spPr bwMode="auto">
          <a:xfrm>
            <a:off x="123825" y="49213"/>
            <a:ext cx="44862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indent="83820" eaLnBrk="1" latinLnBrk="1" hangingPunct="1"/>
            <a:r>
              <a:rPr kumimoji="0" lang="en-US" altLang="ko-KR" sz="2300" b="1">
                <a:solidFill>
                  <a:schemeClr val="bg1"/>
                </a:solidFill>
                <a:latin typeface="LG스마트체2.0 Regular" panose="020B0600000101010101" pitchFamily="50" charset="-127"/>
                <a:ea typeface="LG스마트체2.0 Regular"/>
              </a:rPr>
              <a:t>if ~ else </a:t>
            </a:r>
            <a:endParaRPr lang="en-US" altLang="ko-KR" sz="2300" b="1">
              <a:solidFill>
                <a:schemeClr val="bg1"/>
              </a:solidFill>
              <a:latin typeface="LG스마트체2.0 Regular" panose="020B0600000101010101" pitchFamily="50" charset="-127"/>
              <a:ea typeface="LG스마트체2.0 Regular"/>
            </a:endParaRPr>
          </a:p>
        </p:txBody>
      </p:sp>
      <p:sp>
        <p:nvSpPr>
          <p:cNvPr id="59395" name="TextBox 2">
            <a:extLst>
              <a:ext uri="{FF2B5EF4-FFF2-40B4-BE49-F238E27FC236}">
                <a16:creationId xmlns:a16="http://schemas.microsoft.com/office/drawing/2014/main" id="{2DF666A9-E620-9480-9724-76614A24496F}"/>
              </a:ext>
            </a:extLst>
          </p:cNvPr>
          <p:cNvSpPr txBox="1">
            <a:spLocks noChangeArrowheads="1"/>
          </p:cNvSpPr>
          <p:nvPr/>
        </p:nvSpPr>
        <p:spPr bwMode="auto">
          <a:xfrm>
            <a:off x="350838" y="1017588"/>
            <a:ext cx="8442325"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57" tIns="43228" rIns="86457" bIns="43228">
            <a:spAutoFit/>
          </a:bodyPr>
          <a:lstStyle>
            <a:lvl1pPr marL="269875" indent="-2698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lnSpc>
                <a:spcPct val="150000"/>
              </a:lnSpc>
              <a:buFont typeface="Wingdings" pitchFamily="2" charset="2"/>
              <a:buChar char="Ø"/>
            </a:pPr>
            <a:r>
              <a:rPr lang="en-ID" altLang="ko-KR">
                <a:latin typeface="LG스마트체2.0 Regular" panose="020B0600000101010101" pitchFamily="50" charset="-127"/>
                <a:ea typeface="LG스마트체2.0 Regular" panose="020B0600000101010101" pitchFamily="50" charset="-127"/>
              </a:rPr>
              <a:t>Syarat</a:t>
            </a:r>
            <a:r>
              <a:rPr lang="ko-KR" altLang="en-US">
                <a:latin typeface="LG스마트체2.0 Regular" panose="020B0600000101010101" pitchFamily="50" charset="-127"/>
                <a:ea typeface="LG스마트체2.0 Regular" panose="020B0600000101010101" pitchFamily="50" charset="-127"/>
              </a:rPr>
              <a:t> </a:t>
            </a:r>
            <a:r>
              <a:rPr lang="en-ID" altLang="ko-KR">
                <a:latin typeface="LG스마트체2.0 Regular" panose="020B0600000101010101" pitchFamily="50" charset="-127"/>
                <a:ea typeface="LG스마트체2.0 Regular" panose="020B0600000101010101" pitchFamily="50" charset="-127"/>
              </a:rPr>
              <a:t>menggunakan</a:t>
            </a:r>
            <a:r>
              <a:rPr lang="ko-KR" altLang="en-US">
                <a:latin typeface="LG스마트체2.0 Regular" panose="020B0600000101010101" pitchFamily="50" charset="-127"/>
                <a:ea typeface="LG스마트체2.0 Regular" panose="020B0600000101010101" pitchFamily="50" charset="-127"/>
              </a:rPr>
              <a:t> </a:t>
            </a:r>
            <a:r>
              <a:rPr lang="en-US" altLang="ko-KR">
                <a:latin typeface="나눔고딕코딩" pitchFamily="49" charset="-127"/>
                <a:ea typeface="나눔고딕코딩" pitchFamily="49" charset="-127"/>
              </a:rPr>
              <a:t>if ~ else</a:t>
            </a:r>
            <a:endParaRPr lang="en-US" altLang="ko-KR">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nn-NO" altLang="ko-KR" sz="1600">
                <a:latin typeface="LG스마트체2.0 Regular" panose="020B0600000101010101" pitchFamily="50" charset="-127"/>
                <a:ea typeface="LG스마트체2.0 Regular" panose="020B0600000101010101" pitchFamily="50" charset="-127"/>
              </a:rPr>
              <a:t>Digunakan ketika ekspresi bersyarat puas dan tidak puas</a:t>
            </a:r>
            <a:r>
              <a:rPr lang="en-US" altLang="ko-KR" sz="1600">
                <a:latin typeface="LG스마트체2.0 Regular" panose="020B0600000101010101" pitchFamily="50" charset="-127"/>
                <a:ea typeface="LG스마트체2.0 Regular" panose="020B0600000101010101" pitchFamily="50" charset="-127"/>
              </a:rPr>
              <a:t>.</a:t>
            </a:r>
          </a:p>
          <a:p>
            <a:pPr lvl="1" eaLnBrk="1" latinLnBrk="1" hangingPunct="1">
              <a:lnSpc>
                <a:spcPct val="150000"/>
              </a:lnSpc>
              <a:buFont typeface="Arial" panose="020B0604020202020204" pitchFamily="34" charset="0"/>
              <a:buChar char="•"/>
            </a:pPr>
            <a:r>
              <a:rPr lang="en-US" altLang="ko-KR" sz="1600">
                <a:latin typeface="나눔고딕코딩" pitchFamily="49" charset="-127"/>
                <a:ea typeface="나눔고딕코딩" pitchFamily="49" charset="-127"/>
              </a:rPr>
              <a:t>Jika kondisi if tidak terpenuhi, jalankan apa yang Anda tulis di else.</a:t>
            </a:r>
            <a:endParaRPr lang="en-US" altLang="ko-KR" sz="1600">
              <a:latin typeface="LG스마트체2.0 Regular" panose="020B0600000101010101" pitchFamily="50" charset="-127"/>
              <a:ea typeface="LG스마트체2.0 Regular" panose="020B0600000101010101" pitchFamily="50" charset="-127"/>
            </a:endParaRPr>
          </a:p>
        </p:txBody>
      </p:sp>
      <p:sp>
        <p:nvSpPr>
          <p:cNvPr id="4" name="모서리가 둥근 직사각형 3">
            <a:extLst>
              <a:ext uri="{FF2B5EF4-FFF2-40B4-BE49-F238E27FC236}">
                <a16:creationId xmlns:a16="http://schemas.microsoft.com/office/drawing/2014/main" id="{6A79770C-09AC-B223-164F-C1183B1ECE82}"/>
              </a:ext>
            </a:extLst>
          </p:cNvPr>
          <p:cNvSpPr/>
          <p:nvPr/>
        </p:nvSpPr>
        <p:spPr>
          <a:xfrm>
            <a:off x="374650" y="2724150"/>
            <a:ext cx="3833813" cy="3421063"/>
          </a:xfrm>
          <a:prstGeom prst="roundRect">
            <a:avLst>
              <a:gd name="adj" fmla="val 5359"/>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a:solidFill>
                  <a:schemeClr val="tx1"/>
                </a:solidFill>
                <a:latin typeface="나눔고딕코딩" pitchFamily="49" charset="-127"/>
                <a:ea typeface="나눔고딕코딩" pitchFamily="49" charset="-127"/>
              </a:rPr>
              <a:t>grammar</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b="1">
                <a:solidFill>
                  <a:schemeClr val="tx1"/>
                </a:solidFill>
                <a:latin typeface="나눔고딕코딩" pitchFamily="49" charset="-127"/>
                <a:ea typeface="나눔고딕코딩" pitchFamily="49" charset="-127"/>
              </a:rPr>
              <a:t>if ( </a:t>
            </a:r>
            <a:r>
              <a:rPr lang="en-ID" altLang="ko-KR" b="1" err="1">
                <a:solidFill>
                  <a:schemeClr val="tx1"/>
                </a:solidFill>
                <a:latin typeface="나눔고딕코딩" pitchFamily="49" charset="-127"/>
                <a:ea typeface="나눔고딕코딩" pitchFamily="49" charset="-127"/>
              </a:rPr>
              <a:t>Syarat</a:t>
            </a:r>
            <a:r>
              <a:rPr lang="ko-KR" altLang="en-US" b="1">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600" b="1">
                <a:solidFill>
                  <a:schemeClr val="tx1"/>
                </a:solidFill>
                <a:latin typeface="나눔고딕코딩" pitchFamily="49" charset="-127"/>
                <a:ea typeface="나눔고딕코딩" pitchFamily="49" charset="-127"/>
              </a:rPr>
              <a:t>    </a:t>
            </a:r>
            <a:r>
              <a:rPr lang="en-US" altLang="ko-KR"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Syaratnya</a:t>
            </a:r>
            <a:r>
              <a:rPr lang="en-ID" altLang="ko-KR" sz="1600" i="1">
                <a:solidFill>
                  <a:schemeClr val="tx1"/>
                </a:solidFill>
                <a:latin typeface="나눔고딕코딩" pitchFamily="49" charset="-127"/>
                <a:ea typeface="나눔고딕코딩" pitchFamily="49" charset="-127"/>
              </a:rPr>
              <a:t> </a:t>
            </a:r>
            <a:r>
              <a:rPr lang="en-US" altLang="ko-KR" sz="1600" i="1">
                <a:solidFill>
                  <a:schemeClr val="tx1"/>
                </a:solidFill>
                <a:latin typeface="나눔고딕코딩" pitchFamily="49" charset="-127"/>
                <a:ea typeface="나눔고딕코딩" pitchFamily="49" charset="-127"/>
              </a:rPr>
              <a:t>(true) </a:t>
            </a:r>
            <a:r>
              <a:rPr lang="en-ID" altLang="ko-KR" sz="1600" i="1" err="1">
                <a:solidFill>
                  <a:schemeClr val="tx1"/>
                </a:solidFill>
                <a:latin typeface="나눔고딕코딩" pitchFamily="49" charset="-127"/>
                <a:ea typeface="나눔고딕코딩" pitchFamily="49" charset="-127"/>
              </a:rPr>
              <a:t>saat</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saat</a:t>
            </a:r>
            <a:r>
              <a:rPr lang="en-ID" altLang="ko-KR"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berfungsi</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b="1">
                <a:solidFill>
                  <a:schemeClr val="tx1"/>
                </a:solidFill>
                <a:latin typeface="나눔고딕코딩" pitchFamily="49" charset="-127"/>
                <a:ea typeface="나눔고딕코딩" pitchFamily="49" charset="-127"/>
              </a:rPr>
              <a:t>} else {</a:t>
            </a: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syaratnya</a:t>
            </a:r>
            <a:r>
              <a:rPr lang="en-ID" altLang="ko-KR" sz="1600" i="1">
                <a:solidFill>
                  <a:schemeClr val="tx1"/>
                </a:solidFill>
                <a:latin typeface="나눔고딕코딩" pitchFamily="49" charset="-127"/>
                <a:ea typeface="나눔고딕코딩" pitchFamily="49" charset="-127"/>
              </a:rPr>
              <a:t> salah </a:t>
            </a:r>
            <a:r>
              <a:rPr lang="en-US" altLang="ko-KR" sz="1600" i="1">
                <a:solidFill>
                  <a:schemeClr val="tx1"/>
                </a:solidFill>
                <a:latin typeface="나눔고딕코딩" pitchFamily="49" charset="-127"/>
                <a:ea typeface="나눔고딕코딩" pitchFamily="49" charset="-127"/>
              </a:rPr>
              <a:t>(false)</a:t>
            </a:r>
            <a:r>
              <a:rPr lang="en-ID" altLang="ko-KR" sz="1600" i="1" err="1">
                <a:solidFill>
                  <a:schemeClr val="tx1"/>
                </a:solidFill>
                <a:latin typeface="나눔고딕코딩" pitchFamily="49" charset="-127"/>
                <a:ea typeface="나눔고딕코딩" pitchFamily="49" charset="-127"/>
              </a:rPr>
              <a:t>saat</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isinya</a:t>
            </a:r>
            <a:r>
              <a:rPr lang="en-ID" altLang="ko-KR"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berfungsi</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b="1">
                <a:solidFill>
                  <a:schemeClr val="tx1"/>
                </a:solidFill>
                <a:latin typeface="나눔고딕코딩" pitchFamily="49" charset="-127"/>
                <a:ea typeface="나눔고딕코딩" pitchFamily="49" charset="-127"/>
              </a:rPr>
              <a:t>}</a:t>
            </a:r>
          </a:p>
        </p:txBody>
      </p:sp>
      <p:sp>
        <p:nvSpPr>
          <p:cNvPr id="6" name="모서리가 둥근 직사각형 5">
            <a:extLst>
              <a:ext uri="{FF2B5EF4-FFF2-40B4-BE49-F238E27FC236}">
                <a16:creationId xmlns:a16="http://schemas.microsoft.com/office/drawing/2014/main" id="{C8762D00-B35A-81F7-B5E8-D59817A221F4}"/>
              </a:ext>
            </a:extLst>
          </p:cNvPr>
          <p:cNvSpPr/>
          <p:nvPr/>
        </p:nvSpPr>
        <p:spPr>
          <a:xfrm>
            <a:off x="4457700" y="2724150"/>
            <a:ext cx="4335463" cy="3421063"/>
          </a:xfrm>
          <a:prstGeom prst="roundRect">
            <a:avLst>
              <a:gd name="adj" fmla="val 4705"/>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err="1">
                <a:solidFill>
                  <a:schemeClr val="tx1"/>
                </a:solidFill>
                <a:latin typeface="나눔고딕코딩" pitchFamily="49" charset="-127"/>
                <a:ea typeface="나눔고딕코딩" pitchFamily="49" charset="-127"/>
              </a:rPr>
              <a:t>contoh</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int age = 15;</a:t>
            </a:r>
          </a:p>
          <a:p>
            <a:pPr eaLnBrk="1" hangingPunct="1">
              <a:spcAft>
                <a:spcPts val="567"/>
              </a:spcAft>
              <a:defRPr/>
            </a:pPr>
            <a:endParaRPr lang="en-US" altLang="ko-KR">
              <a:solidFill>
                <a:schemeClr val="tx1"/>
              </a:solidFill>
              <a:latin typeface="나눔고딕코딩" pitchFamily="49" charset="-127"/>
              <a:ea typeface="나눔고딕코딩" pitchFamily="49" charset="-127"/>
            </a:endParaRPr>
          </a:p>
          <a:p>
            <a:pPr eaLnBrk="1" hangingPunct="1">
              <a:spcAft>
                <a:spcPts val="567"/>
              </a:spcAft>
              <a:defRPr/>
            </a:pPr>
            <a:r>
              <a:rPr lang="en-US" altLang="ko-KR">
                <a:solidFill>
                  <a:schemeClr val="tx1"/>
                </a:solidFill>
                <a:latin typeface="나눔고딕코딩" pitchFamily="49" charset="-127"/>
                <a:ea typeface="나눔고딕코딩" pitchFamily="49" charset="-127"/>
              </a:rPr>
              <a:t>if ( age &gt;= 19 ) {</a:t>
            </a:r>
          </a:p>
          <a:p>
            <a:pPr eaLnBrk="1" hangingPunct="1">
              <a:spcAft>
                <a:spcPts val="567"/>
              </a:spcAft>
              <a:defRPr/>
            </a:pPr>
            <a:r>
              <a:rPr lang="en-US" altLang="ko-KR">
                <a:solidFill>
                  <a:schemeClr val="tx1"/>
                </a:solidFill>
                <a:latin typeface="나눔고딕코딩" pitchFamily="49" charset="-127"/>
                <a:ea typeface="나눔고딕코딩" pitchFamily="49" charset="-127"/>
              </a:rPr>
              <a:t>    </a:t>
            </a:r>
            <a:r>
              <a:rPr lang="en-US" altLang="ko-KR" err="1">
                <a:solidFill>
                  <a:schemeClr val="tx1"/>
                </a:solidFill>
                <a:latin typeface="나눔고딕코딩" pitchFamily="49" charset="-127"/>
                <a:ea typeface="나눔고딕코딩" pitchFamily="49" charset="-127"/>
              </a:rPr>
              <a:t>System.out.println</a:t>
            </a:r>
            <a:r>
              <a:rPr lang="en-US" altLang="ko-KR">
                <a:solidFill>
                  <a:schemeClr val="tx1"/>
                </a:solidFill>
                <a:latin typeface="나눔고딕코딩" pitchFamily="49" charset="-127"/>
                <a:ea typeface="나눔고딕코딩" pitchFamily="49" charset="-127"/>
              </a:rPr>
              <a:t>(“</a:t>
            </a:r>
            <a:r>
              <a:rPr lang="en-ID" altLang="ko-KR" err="1">
                <a:solidFill>
                  <a:schemeClr val="tx1"/>
                </a:solidFill>
                <a:latin typeface="나눔고딕코딩" pitchFamily="49" charset="-127"/>
                <a:ea typeface="나눔고딕코딩" pitchFamily="49" charset="-127"/>
              </a:rPr>
              <a:t>dewasa</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 else {</a:t>
            </a:r>
          </a:p>
          <a:p>
            <a:pPr eaLnBrk="1" hangingPunct="1">
              <a:spcAft>
                <a:spcPts val="567"/>
              </a:spcAft>
              <a:defRPr/>
            </a:pPr>
            <a:r>
              <a:rPr lang="en-US" altLang="ko-KR">
                <a:solidFill>
                  <a:schemeClr val="tx1"/>
                </a:solidFill>
                <a:latin typeface="나눔고딕코딩" pitchFamily="49" charset="-127"/>
                <a:ea typeface="나눔고딕코딩" pitchFamily="49" charset="-127"/>
              </a:rPr>
              <a:t>    </a:t>
            </a:r>
            <a:r>
              <a:rPr lang="en-US" altLang="ko-KR" err="1">
                <a:solidFill>
                  <a:srgbClr val="C5003D"/>
                </a:solidFill>
                <a:latin typeface="나눔고딕코딩" pitchFamily="49" charset="-127"/>
                <a:ea typeface="나눔고딕코딩" pitchFamily="49" charset="-127"/>
              </a:rPr>
              <a:t>System.out.println</a:t>
            </a:r>
            <a:r>
              <a:rPr lang="en-US" altLang="ko-KR">
                <a:solidFill>
                  <a:srgbClr val="C5003D"/>
                </a:solidFill>
                <a:latin typeface="나눔고딕코딩" pitchFamily="49" charset="-127"/>
                <a:ea typeface="나눔고딕코딩" pitchFamily="49" charset="-127"/>
              </a:rPr>
              <a:t>(“</a:t>
            </a:r>
            <a:r>
              <a:rPr lang="en-ID" altLang="ko-KR" err="1">
                <a:solidFill>
                  <a:srgbClr val="C5003D"/>
                </a:solidFill>
                <a:latin typeface="나눔고딕코딩" pitchFamily="49" charset="-127"/>
                <a:ea typeface="나눔고딕코딩" pitchFamily="49" charset="-127"/>
              </a:rPr>
              <a:t>bukan</a:t>
            </a:r>
            <a:endParaRPr lang="en-US" altLang="ko-KR">
              <a:solidFill>
                <a:srgbClr val="C5003D"/>
              </a:solidFill>
              <a:latin typeface="나눔고딕코딩" pitchFamily="49" charset="-127"/>
              <a:ea typeface="나눔고딕코딩" pitchFamily="49" charset="-127"/>
            </a:endParaRPr>
          </a:p>
          <a:p>
            <a:pPr eaLnBrk="1" hangingPunct="1">
              <a:spcAft>
                <a:spcPts val="567"/>
              </a:spcAft>
              <a:defRPr/>
            </a:pPr>
            <a:r>
              <a:rPr lang="en-US" altLang="ko-KR">
                <a:solidFill>
                  <a:srgbClr val="C5003D"/>
                </a:solidFill>
                <a:latin typeface="나눔고딕코딩" pitchFamily="49" charset="-127"/>
                <a:ea typeface="나눔고딕코딩" pitchFamily="49" charset="-127"/>
              </a:rPr>
              <a:t>                     </a:t>
            </a:r>
            <a:r>
              <a:rPr lang="en-ID" altLang="ko-KR" err="1">
                <a:solidFill>
                  <a:srgbClr val="C5003D"/>
                </a:solidFill>
                <a:latin typeface="나눔고딕코딩" pitchFamily="49" charset="-127"/>
                <a:ea typeface="나눔고딕코딩" pitchFamily="49" charset="-127"/>
              </a:rPr>
              <a:t>dewasa</a:t>
            </a:r>
            <a:r>
              <a:rPr lang="en-US" altLang="ko-KR">
                <a:solidFill>
                  <a:srgbClr val="C5003D"/>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제목 5">
            <a:extLst>
              <a:ext uri="{FF2B5EF4-FFF2-40B4-BE49-F238E27FC236}">
                <a16:creationId xmlns:a16="http://schemas.microsoft.com/office/drawing/2014/main" id="{19F65A50-0324-B1EA-04D3-076404A9BD4E}"/>
              </a:ext>
            </a:extLst>
          </p:cNvPr>
          <p:cNvSpPr>
            <a:spLocks/>
          </p:cNvSpPr>
          <p:nvPr/>
        </p:nvSpPr>
        <p:spPr bwMode="auto">
          <a:xfrm>
            <a:off x="123825" y="49213"/>
            <a:ext cx="57086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contoh</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 </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Syarat</a:t>
            </a:r>
            <a:r>
              <a:rPr kumimoji="0" lang="ko-KR" altLang="en-US" sz="2300" b="1">
                <a:solidFill>
                  <a:schemeClr val="bg1"/>
                </a:solidFill>
                <a:latin typeface="LG스마트체2.0 Regular" panose="020B0600000101010101" pitchFamily="50" charset="-127"/>
                <a:ea typeface="LG스마트체2.0 Regular" panose="020B0600000101010101" pitchFamily="50" charset="-127"/>
              </a:rPr>
              <a:t> </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if ~ else</a:t>
            </a:r>
          </a:p>
        </p:txBody>
      </p:sp>
      <p:sp>
        <p:nvSpPr>
          <p:cNvPr id="3" name="모서리가 둥근 직사각형 2">
            <a:extLst>
              <a:ext uri="{FF2B5EF4-FFF2-40B4-BE49-F238E27FC236}">
                <a16:creationId xmlns:a16="http://schemas.microsoft.com/office/drawing/2014/main" id="{13CC332E-7526-F53B-067C-397E2874C6AE}"/>
              </a:ext>
            </a:extLst>
          </p:cNvPr>
          <p:cNvSpPr/>
          <p:nvPr/>
        </p:nvSpPr>
        <p:spPr>
          <a:xfrm>
            <a:off x="350838" y="1017588"/>
            <a:ext cx="8442325" cy="5383212"/>
          </a:xfrm>
          <a:prstGeom prst="roundRect">
            <a:avLst>
              <a:gd name="adj" fmla="val 3840"/>
            </a:avLst>
          </a:prstGeom>
          <a:solidFill>
            <a:schemeClr val="accent5">
              <a:lumMod val="20000"/>
              <a:lumOff val="80000"/>
              <a:alpha val="7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lstStyle/>
          <a:p>
            <a:pPr eaLnBrk="1" hangingPunct="1">
              <a:spcAft>
                <a:spcPts val="567"/>
              </a:spcAft>
              <a:defRPr/>
            </a:pPr>
            <a:r>
              <a:rPr lang="en-US" altLang="ko-KR" sz="1300">
                <a:solidFill>
                  <a:schemeClr val="tx1"/>
                </a:solidFill>
                <a:latin typeface="나눔고딕코딩" pitchFamily="49" charset="-127"/>
                <a:ea typeface="나눔고딕코딩" pitchFamily="49" charset="-127"/>
              </a:rPr>
              <a:t>package com.lgcns.chapter05;</a:t>
            </a:r>
          </a:p>
          <a:p>
            <a:pPr eaLnBrk="1" hangingPunct="1">
              <a:spcAft>
                <a:spcPts val="567"/>
              </a:spcAft>
              <a:defRPr/>
            </a:pPr>
            <a:endParaRPr lang="en-US" altLang="ko-KR" sz="13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300">
                <a:solidFill>
                  <a:schemeClr val="tx1"/>
                </a:solidFill>
                <a:latin typeface="나눔고딕코딩" pitchFamily="49" charset="-127"/>
                <a:ea typeface="나눔고딕코딩" pitchFamily="49" charset="-127"/>
              </a:rPr>
              <a:t>public class </a:t>
            </a:r>
            <a:r>
              <a:rPr lang="en-US" altLang="ko-KR" sz="1300" err="1">
                <a:solidFill>
                  <a:schemeClr val="tx1"/>
                </a:solidFill>
                <a:latin typeface="나눔고딕코딩" pitchFamily="49" charset="-127"/>
                <a:ea typeface="나눔고딕코딩" pitchFamily="49" charset="-127"/>
              </a:rPr>
              <a:t>ConditionIfElseEx</a:t>
            </a: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public static void main( String[] </a:t>
            </a:r>
            <a:r>
              <a:rPr lang="en-US" altLang="ko-KR" sz="1300" err="1">
                <a:solidFill>
                  <a:schemeClr val="tx1"/>
                </a:solidFill>
                <a:latin typeface="나눔고딕코딩" pitchFamily="49" charset="-127"/>
                <a:ea typeface="나눔고딕코딩" pitchFamily="49" charset="-127"/>
              </a:rPr>
              <a:t>args</a:t>
            </a:r>
            <a:r>
              <a:rPr lang="en-US" altLang="ko-KR" sz="1300">
                <a:solidFill>
                  <a:schemeClr val="tx1"/>
                </a:solidFill>
                <a:latin typeface="나눔고딕코딩" pitchFamily="49" charset="-127"/>
                <a:ea typeface="나눔고딕코딩" pitchFamily="49" charset="-127"/>
              </a:rPr>
              <a:t> ) {</a:t>
            </a:r>
          </a:p>
          <a:p>
            <a:pPr eaLnBrk="1" hangingPunct="1">
              <a:spcAft>
                <a:spcPts val="567"/>
              </a:spcAft>
              <a:defRPr/>
            </a:pPr>
            <a:endParaRPr lang="en-US" altLang="ko-KR" sz="13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age = 15;</a:t>
            </a:r>
          </a:p>
          <a:p>
            <a:pPr eaLnBrk="1" hangingPunct="1">
              <a:spcAft>
                <a:spcPts val="567"/>
              </a:spcAft>
              <a:defRPr/>
            </a:pPr>
            <a:endParaRPr lang="en-US" altLang="ko-KR" sz="13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if ( age &gt;= 19 )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System.out.println</a:t>
            </a:r>
            <a:r>
              <a:rPr lang="en-US" altLang="ko-KR" sz="1300">
                <a:solidFill>
                  <a:schemeClr val="tx1"/>
                </a:solidFill>
                <a:latin typeface="나눔고딕코딩" pitchFamily="49" charset="-127"/>
                <a:ea typeface="나눔고딕코딩" pitchFamily="49" charset="-127"/>
              </a:rPr>
              <a:t>(“</a:t>
            </a:r>
            <a:r>
              <a:rPr lang="en-ID" altLang="ko-KR" sz="1300" err="1">
                <a:solidFill>
                  <a:schemeClr val="tx1"/>
                </a:solidFill>
                <a:latin typeface="나눔고딕코딩" pitchFamily="49" charset="-127"/>
                <a:ea typeface="나눔고딕코딩" pitchFamily="49" charset="-127"/>
              </a:rPr>
              <a:t>dewasa</a:t>
            </a:r>
            <a:r>
              <a:rPr lang="en-US" altLang="ko-KR" sz="1300">
                <a:solidFill>
                  <a:schemeClr val="tx1"/>
                </a:solidFill>
                <a:latin typeface="나눔고딕코딩" pitchFamily="49" charset="-127"/>
                <a:ea typeface="나눔고딕코딩" pitchFamily="49" charset="-127"/>
              </a:rPr>
              <a:t>.”);</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System.out.println</a:t>
            </a:r>
            <a:r>
              <a:rPr lang="en-US" altLang="ko-KR" sz="1300">
                <a:solidFill>
                  <a:schemeClr val="tx1"/>
                </a:solidFill>
                <a:latin typeface="나눔고딕코딩" pitchFamily="49" charset="-127"/>
                <a:ea typeface="나눔고딕코딩" pitchFamily="49" charset="-127"/>
              </a:rPr>
              <a:t>(“</a:t>
            </a:r>
            <a:r>
              <a:rPr lang="en-ID" altLang="ko-KR" sz="1300" err="1">
                <a:solidFill>
                  <a:schemeClr val="tx1"/>
                </a:solidFill>
                <a:latin typeface="나눔고딕코딩" pitchFamily="49" charset="-127"/>
                <a:ea typeface="나눔고딕코딩" pitchFamily="49" charset="-127"/>
              </a:rPr>
              <a:t>silahkan</a:t>
            </a:r>
            <a:r>
              <a:rPr lang="en-ID" altLang="ko-KR" sz="1300">
                <a:solidFill>
                  <a:schemeClr val="tx1"/>
                </a:solidFill>
                <a:latin typeface="나눔고딕코딩" pitchFamily="49" charset="-127"/>
                <a:ea typeface="나눔고딕코딩" pitchFamily="49" charset="-127"/>
              </a:rPr>
              <a:t> </a:t>
            </a:r>
            <a:r>
              <a:rPr lang="en-ID" altLang="ko-KR" sz="1300" err="1">
                <a:solidFill>
                  <a:schemeClr val="tx1"/>
                </a:solidFill>
                <a:latin typeface="나눔고딕코딩" pitchFamily="49" charset="-127"/>
                <a:ea typeface="나눔고딕코딩" pitchFamily="49" charset="-127"/>
              </a:rPr>
              <a:t>masuk</a:t>
            </a:r>
            <a:r>
              <a:rPr lang="en-US" altLang="ko-KR" sz="1300">
                <a:solidFill>
                  <a:schemeClr val="tx1"/>
                </a:solidFill>
                <a:latin typeface="나눔고딕코딩" pitchFamily="49" charset="-127"/>
                <a:ea typeface="나눔고딕코딩" pitchFamily="49" charset="-127"/>
              </a:rPr>
              <a:t>”);</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 else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System.out.println</a:t>
            </a:r>
            <a:r>
              <a:rPr lang="en-US" altLang="ko-KR" sz="1300">
                <a:solidFill>
                  <a:schemeClr val="tx1"/>
                </a:solidFill>
                <a:latin typeface="나눔고딕코딩" pitchFamily="49" charset="-127"/>
                <a:ea typeface="나눔고딕코딩" pitchFamily="49" charset="-127"/>
              </a:rPr>
              <a:t>(“</a:t>
            </a:r>
            <a:r>
              <a:rPr lang="en-ID" altLang="ko-KR" sz="1300" err="1">
                <a:solidFill>
                  <a:schemeClr val="tx1"/>
                </a:solidFill>
                <a:latin typeface="나눔고딕코딩" pitchFamily="49" charset="-127"/>
                <a:ea typeface="나눔고딕코딩" pitchFamily="49" charset="-127"/>
              </a:rPr>
              <a:t>bukan</a:t>
            </a:r>
            <a:r>
              <a:rPr lang="en-ID" altLang="ko-KR" sz="1300">
                <a:solidFill>
                  <a:schemeClr val="tx1"/>
                </a:solidFill>
                <a:latin typeface="나눔고딕코딩" pitchFamily="49" charset="-127"/>
                <a:ea typeface="나눔고딕코딩" pitchFamily="49" charset="-127"/>
              </a:rPr>
              <a:t> </a:t>
            </a:r>
            <a:r>
              <a:rPr lang="en-ID" altLang="ko-KR" sz="1300" err="1">
                <a:solidFill>
                  <a:schemeClr val="tx1"/>
                </a:solidFill>
                <a:latin typeface="나눔고딕코딩" pitchFamily="49" charset="-127"/>
                <a:ea typeface="나눔고딕코딩" pitchFamily="49" charset="-127"/>
              </a:rPr>
              <a:t>dewasa</a:t>
            </a:r>
            <a:r>
              <a:rPr lang="en-US" altLang="ko-KR" sz="1300">
                <a:solidFill>
                  <a:schemeClr val="tx1"/>
                </a:solidFill>
                <a:latin typeface="나눔고딕코딩" pitchFamily="49" charset="-127"/>
                <a:ea typeface="나눔고딕코딩" pitchFamily="49" charset="-127"/>
              </a:rPr>
              <a:t>.”);</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System.out.println</a:t>
            </a:r>
            <a:r>
              <a:rPr lang="en-US" altLang="ko-KR" sz="1300">
                <a:solidFill>
                  <a:schemeClr val="tx1"/>
                </a:solidFill>
                <a:latin typeface="나눔고딕코딩" pitchFamily="49" charset="-127"/>
                <a:ea typeface="나눔고딕코딩" pitchFamily="49" charset="-127"/>
              </a:rPr>
              <a:t>(“</a:t>
            </a:r>
            <a:r>
              <a:rPr lang="en-ID" altLang="ko-KR" sz="1300" err="1">
                <a:solidFill>
                  <a:schemeClr val="tx1"/>
                </a:solidFill>
                <a:latin typeface="나눔고딕코딩" pitchFamily="49" charset="-127"/>
                <a:ea typeface="나눔고딕코딩" pitchFamily="49" charset="-127"/>
              </a:rPr>
              <a:t>silahkan</a:t>
            </a:r>
            <a:r>
              <a:rPr lang="en-ID" altLang="ko-KR" sz="1300">
                <a:solidFill>
                  <a:schemeClr val="tx1"/>
                </a:solidFill>
                <a:latin typeface="나눔고딕코딩" pitchFamily="49" charset="-127"/>
                <a:ea typeface="나눔고딕코딩" pitchFamily="49" charset="-127"/>
              </a:rPr>
              <a:t> </a:t>
            </a:r>
            <a:r>
              <a:rPr lang="en-ID" altLang="ko-KR" sz="1300" err="1">
                <a:solidFill>
                  <a:schemeClr val="tx1"/>
                </a:solidFill>
                <a:latin typeface="나눔고딕코딩" pitchFamily="49" charset="-127"/>
                <a:ea typeface="나눔고딕코딩" pitchFamily="49" charset="-127"/>
              </a:rPr>
              <a:t>pulang</a:t>
            </a:r>
            <a:r>
              <a:rPr lang="en-US" altLang="ko-KR" sz="1300">
                <a:solidFill>
                  <a:schemeClr val="tx1"/>
                </a:solidFill>
                <a:latin typeface="나눔고딕코딩" pitchFamily="49" charset="-127"/>
                <a:ea typeface="나눔고딕코딩" pitchFamily="49" charset="-127"/>
              </a:rPr>
              <a:t>”);</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a:t>
            </a:r>
          </a:p>
        </p:txBody>
      </p:sp>
      <p:pic>
        <p:nvPicPr>
          <p:cNvPr id="61444" name="Picture 2">
            <a:extLst>
              <a:ext uri="{FF2B5EF4-FFF2-40B4-BE49-F238E27FC236}">
                <a16:creationId xmlns:a16="http://schemas.microsoft.com/office/drawing/2014/main" id="{1AFCCBC0-E61E-38DD-EB93-C7EFE2B6E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1663" y="4899025"/>
            <a:ext cx="2657475" cy="9906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제목 5">
            <a:extLst>
              <a:ext uri="{FF2B5EF4-FFF2-40B4-BE49-F238E27FC236}">
                <a16:creationId xmlns:a16="http://schemas.microsoft.com/office/drawing/2014/main" id="{BA6BD739-5DE8-070B-0ADF-7E05C66DA581}"/>
              </a:ext>
            </a:extLst>
          </p:cNvPr>
          <p:cNvSpPr>
            <a:spLocks/>
          </p:cNvSpPr>
          <p:nvPr/>
        </p:nvSpPr>
        <p:spPr bwMode="auto">
          <a:xfrm>
            <a:off x="123825" y="49213"/>
            <a:ext cx="44862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US" altLang="ko-KR" sz="2300" b="1">
                <a:solidFill>
                  <a:schemeClr val="bg1"/>
                </a:solidFill>
                <a:latin typeface="LG스마트체2.0 Regular" panose="020B0600000101010101" pitchFamily="50" charset="-127"/>
                <a:ea typeface="LG스마트체2.0 Regular" panose="020B0600000101010101" pitchFamily="50" charset="-127"/>
              </a:rPr>
              <a:t>if ~ else if ~ else (</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Syarat</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p>
        </p:txBody>
      </p:sp>
      <p:sp>
        <p:nvSpPr>
          <p:cNvPr id="73731" name="TextBox 2">
            <a:extLst>
              <a:ext uri="{FF2B5EF4-FFF2-40B4-BE49-F238E27FC236}">
                <a16:creationId xmlns:a16="http://schemas.microsoft.com/office/drawing/2014/main" id="{A7980254-546E-4227-EA59-8890BE40474A}"/>
              </a:ext>
            </a:extLst>
          </p:cNvPr>
          <p:cNvSpPr txBox="1">
            <a:spLocks noChangeArrowheads="1"/>
          </p:cNvSpPr>
          <p:nvPr/>
        </p:nvSpPr>
        <p:spPr bwMode="auto">
          <a:xfrm>
            <a:off x="298450" y="620713"/>
            <a:ext cx="8623300"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57" tIns="43228" rIns="86457" bIns="43228">
            <a:spAutoFit/>
          </a:bodyPr>
          <a:lstStyle>
            <a:lvl1pPr marL="269875" indent="-2698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lnSpc>
                <a:spcPct val="150000"/>
              </a:lnSpc>
              <a:buFont typeface="Wingdings" pitchFamily="2" charset="2"/>
              <a:buChar char="Ø"/>
            </a:pPr>
            <a:r>
              <a:rPr lang="en-ID" altLang="ko-KR" sz="1500">
                <a:latin typeface="LG스마트체2.0 Regular" panose="020B0600000101010101" pitchFamily="50" charset="-127"/>
                <a:ea typeface="LG스마트체2.0 Regular" panose="020B0600000101010101" pitchFamily="50" charset="-127"/>
              </a:rPr>
              <a:t>Syarat menggunakan</a:t>
            </a:r>
            <a:r>
              <a:rPr lang="ko-KR" altLang="en-US" sz="1500">
                <a:latin typeface="LG스마트체2.0 Regular" panose="020B0600000101010101" pitchFamily="50" charset="-127"/>
                <a:ea typeface="LG스마트체2.0 Regular" panose="020B0600000101010101" pitchFamily="50" charset="-127"/>
              </a:rPr>
              <a:t> </a:t>
            </a:r>
            <a:r>
              <a:rPr lang="en-US" altLang="ko-KR" sz="1500">
                <a:latin typeface="나눔고딕코딩" pitchFamily="49" charset="-127"/>
                <a:ea typeface="나눔고딕코딩" pitchFamily="49" charset="-127"/>
              </a:rPr>
              <a:t>if ~ else if ~ else</a:t>
            </a:r>
            <a:endParaRPr lang="en-US" altLang="ko-KR" sz="1500">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ID" altLang="ko-KR" sz="1500">
                <a:latin typeface="LG스마트체2.0 Regular" panose="020B0600000101010101" pitchFamily="50" charset="-127"/>
                <a:ea typeface="LG스마트체2.0 Regular" panose="020B0600000101010101" pitchFamily="50" charset="-127"/>
              </a:rPr>
              <a:t>Jika Anda perlu menggunakan beberapa ekspresi kondisional, gunakan pernyataan if ~ else if</a:t>
            </a:r>
            <a:r>
              <a:rPr lang="en-US" altLang="ko-KR" sz="1500">
                <a:latin typeface="LG스마트체2.0 Regular" panose="020B0600000101010101" pitchFamily="50" charset="-127"/>
                <a:ea typeface="LG스마트체2.0 Regular" panose="020B0600000101010101" pitchFamily="50" charset="-127"/>
              </a:rPr>
              <a:t>.</a:t>
            </a:r>
          </a:p>
          <a:p>
            <a:pPr lvl="1" eaLnBrk="1" latinLnBrk="1" hangingPunct="1">
              <a:lnSpc>
                <a:spcPct val="150000"/>
              </a:lnSpc>
              <a:buFont typeface="Arial" panose="020B0604020202020204" pitchFamily="34" charset="0"/>
              <a:buChar char="•"/>
            </a:pPr>
            <a:r>
              <a:rPr lang="en-ID" altLang="ko-KR" sz="1500">
                <a:latin typeface="LG스마트체2.0 Regular" panose="020B0600000101010101" pitchFamily="50" charset="-127"/>
                <a:ea typeface="LG스마트체2.0 Regular" panose="020B0600000101010101" pitchFamily="50" charset="-127"/>
              </a:rPr>
              <a:t>Jika ada sisa kasus yang tidak memenuhi semua kondisi di atas, gunakan yang lain di bagian akhir</a:t>
            </a:r>
            <a:r>
              <a:rPr lang="en-US" altLang="ko-KR" sz="1500">
                <a:latin typeface="LG스마트체2.0 Regular" panose="020B0600000101010101" pitchFamily="50" charset="-127"/>
                <a:ea typeface="LG스마트체2.0 Regular" panose="020B0600000101010101" pitchFamily="50" charset="-127"/>
              </a:rPr>
              <a:t>.</a:t>
            </a:r>
          </a:p>
        </p:txBody>
      </p:sp>
      <p:sp>
        <p:nvSpPr>
          <p:cNvPr id="4" name="모서리가 둥근 직사각형 3">
            <a:extLst>
              <a:ext uri="{FF2B5EF4-FFF2-40B4-BE49-F238E27FC236}">
                <a16:creationId xmlns:a16="http://schemas.microsoft.com/office/drawing/2014/main" id="{D14E3874-60DA-9C16-6753-62F48C4797E8}"/>
              </a:ext>
            </a:extLst>
          </p:cNvPr>
          <p:cNvSpPr/>
          <p:nvPr/>
        </p:nvSpPr>
        <p:spPr>
          <a:xfrm>
            <a:off x="374650" y="2359025"/>
            <a:ext cx="3833813" cy="4298950"/>
          </a:xfrm>
          <a:prstGeom prst="roundRect">
            <a:avLst>
              <a:gd name="adj" fmla="val 5359"/>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a:solidFill>
                  <a:schemeClr val="tx1"/>
                </a:solidFill>
                <a:latin typeface="나눔고딕코딩" pitchFamily="49" charset="-127"/>
                <a:ea typeface="나눔고딕코딩" pitchFamily="49" charset="-127"/>
              </a:rPr>
              <a:t>grammar</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b="1">
                <a:solidFill>
                  <a:schemeClr val="tx1"/>
                </a:solidFill>
                <a:latin typeface="나눔고딕코딩" pitchFamily="49" charset="-127"/>
                <a:ea typeface="나눔고딕코딩" pitchFamily="49" charset="-127"/>
              </a:rPr>
              <a:t>if ( </a:t>
            </a:r>
            <a:r>
              <a:rPr lang="en-ID" altLang="ko-KR" b="1" err="1">
                <a:solidFill>
                  <a:schemeClr val="tx1"/>
                </a:solidFill>
                <a:latin typeface="나눔고딕코딩" pitchFamily="49" charset="-127"/>
                <a:ea typeface="나눔고딕코딩" pitchFamily="49" charset="-127"/>
              </a:rPr>
              <a:t>syarat</a:t>
            </a:r>
            <a:r>
              <a:rPr lang="en-US" altLang="ko-KR" b="1">
                <a:solidFill>
                  <a:schemeClr val="tx1"/>
                </a:solidFill>
                <a:latin typeface="나눔고딕코딩" pitchFamily="49" charset="-127"/>
                <a:ea typeface="나눔고딕코딩" pitchFamily="49" charset="-127"/>
              </a:rPr>
              <a:t>1</a:t>
            </a:r>
            <a:r>
              <a:rPr lang="ko-KR" altLang="en-US" b="1">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600" b="1">
                <a:solidFill>
                  <a:schemeClr val="tx1"/>
                </a:solidFill>
                <a:latin typeface="나눔고딕코딩" pitchFamily="49" charset="-127"/>
                <a:ea typeface="나눔고딕코딩" pitchFamily="49" charset="-127"/>
              </a:rPr>
              <a:t>    </a:t>
            </a:r>
            <a:r>
              <a:rPr lang="en-US" altLang="ko-KR"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syarat</a:t>
            </a:r>
            <a:r>
              <a:rPr lang="en-US" altLang="ko-KR" sz="1600" i="1">
                <a:solidFill>
                  <a:schemeClr val="tx1"/>
                </a:solidFill>
                <a:latin typeface="나눔고딕코딩" pitchFamily="49" charset="-127"/>
                <a:ea typeface="나눔고딕코딩" pitchFamily="49" charset="-127"/>
              </a:rPr>
              <a:t>1</a:t>
            </a:r>
            <a:r>
              <a:rPr lang="ko-KR" altLang="en-US" sz="1600" i="1">
                <a:solidFill>
                  <a:schemeClr val="tx1"/>
                </a:solidFill>
                <a:latin typeface="나눔고딕코딩" pitchFamily="49" charset="-127"/>
                <a:ea typeface="나눔고딕코딩" pitchFamily="49" charset="-127"/>
              </a:rPr>
              <a:t>이 </a:t>
            </a:r>
            <a:r>
              <a:rPr lang="en-US" altLang="ko-KR" sz="1600" i="1">
                <a:solidFill>
                  <a:schemeClr val="tx1"/>
                </a:solidFill>
                <a:latin typeface="나눔고딕코딩" pitchFamily="49" charset="-127"/>
                <a:ea typeface="나눔고딕코딩" pitchFamily="49" charset="-127"/>
              </a:rPr>
              <a:t>(true)</a:t>
            </a:r>
            <a:r>
              <a:rPr lang="ko-KR" altLang="en-US"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saat</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isinya</a:t>
            </a:r>
            <a:r>
              <a:rPr lang="en-ID" altLang="ko-KR"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berfungsi</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b="1">
                <a:solidFill>
                  <a:schemeClr val="tx1"/>
                </a:solidFill>
                <a:latin typeface="나눔고딕코딩" pitchFamily="49" charset="-127"/>
                <a:ea typeface="나눔고딕코딩" pitchFamily="49" charset="-127"/>
              </a:rPr>
              <a:t>} else if ( </a:t>
            </a:r>
            <a:r>
              <a:rPr lang="en-ID" altLang="ko-KR" b="1" err="1">
                <a:solidFill>
                  <a:schemeClr val="tx1"/>
                </a:solidFill>
                <a:latin typeface="나눔고딕코딩" pitchFamily="49" charset="-127"/>
                <a:ea typeface="나눔고딕코딩" pitchFamily="49" charset="-127"/>
              </a:rPr>
              <a:t>syarat</a:t>
            </a:r>
            <a:r>
              <a:rPr lang="en-US" altLang="ko-KR" b="1">
                <a:solidFill>
                  <a:schemeClr val="tx1"/>
                </a:solidFill>
                <a:latin typeface="나눔고딕코딩" pitchFamily="49" charset="-127"/>
                <a:ea typeface="나눔고딕코딩" pitchFamily="49" charset="-127"/>
              </a:rPr>
              <a:t>2</a:t>
            </a:r>
            <a:r>
              <a:rPr lang="ko-KR" altLang="en-US" b="1">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syarat</a:t>
            </a:r>
            <a:r>
              <a:rPr lang="en-US" altLang="ko-KR" sz="1600" i="1">
                <a:solidFill>
                  <a:schemeClr val="tx1"/>
                </a:solidFill>
                <a:latin typeface="나눔고딕코딩" pitchFamily="49" charset="-127"/>
                <a:ea typeface="나눔고딕코딩" pitchFamily="49" charset="-127"/>
              </a:rPr>
              <a:t>2</a:t>
            </a:r>
            <a:r>
              <a:rPr lang="ko-KR" altLang="en-US" sz="1600" i="1">
                <a:solidFill>
                  <a:schemeClr val="tx1"/>
                </a:solidFill>
                <a:latin typeface="나눔고딕코딩" pitchFamily="49" charset="-127"/>
                <a:ea typeface="나눔고딕코딩" pitchFamily="49" charset="-127"/>
              </a:rPr>
              <a:t>  </a:t>
            </a:r>
            <a:r>
              <a:rPr lang="en-US" altLang="ko-KR" sz="1600" i="1">
                <a:solidFill>
                  <a:schemeClr val="tx1"/>
                </a:solidFill>
                <a:latin typeface="나눔고딕코딩" pitchFamily="49" charset="-127"/>
                <a:ea typeface="나눔고딕코딩" pitchFamily="49" charset="-127"/>
              </a:rPr>
              <a:t>(true)</a:t>
            </a:r>
            <a:r>
              <a:rPr lang="ko-KR" altLang="en-US"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saat</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isinya</a:t>
            </a:r>
            <a:r>
              <a:rPr lang="en-ID" altLang="ko-KR"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berfungsi</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b="1">
                <a:solidFill>
                  <a:schemeClr val="tx1"/>
                </a:solidFill>
                <a:latin typeface="나눔고딕코딩" pitchFamily="49" charset="-127"/>
                <a:ea typeface="나눔고딕코딩" pitchFamily="49" charset="-127"/>
              </a:rPr>
              <a:t>} else {</a:t>
            </a: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syarat</a:t>
            </a:r>
            <a:r>
              <a:rPr lang="en-US" altLang="ko-KR" sz="1600" i="1">
                <a:solidFill>
                  <a:schemeClr val="tx1"/>
                </a:solidFill>
                <a:latin typeface="나눔고딕코딩" pitchFamily="49" charset="-127"/>
                <a:ea typeface="나눔고딕코딩" pitchFamily="49" charset="-127"/>
              </a:rPr>
              <a:t>1</a:t>
            </a:r>
            <a:r>
              <a:rPr lang="ko-KR" altLang="en-US" sz="1600" i="1">
                <a:solidFill>
                  <a:schemeClr val="tx1"/>
                </a:solidFill>
                <a:latin typeface="나눔고딕코딩" pitchFamily="49" charset="-127"/>
                <a:ea typeface="나눔고딕코딩" pitchFamily="49" charset="-127"/>
              </a:rPr>
              <a:t> </a:t>
            </a:r>
            <a:r>
              <a:rPr lang="en-ID" altLang="ko-KR" sz="1600" i="1">
                <a:solidFill>
                  <a:schemeClr val="tx1"/>
                </a:solidFill>
                <a:latin typeface="나눔고딕코딩" pitchFamily="49" charset="-127"/>
                <a:ea typeface="나눔고딕코딩" pitchFamily="49" charset="-127"/>
              </a:rPr>
              <a:t>dan </a:t>
            </a:r>
            <a:r>
              <a:rPr lang="en-ID" altLang="ko-KR" sz="1600" i="1" err="1">
                <a:solidFill>
                  <a:schemeClr val="tx1"/>
                </a:solidFill>
                <a:latin typeface="나눔고딕코딩" pitchFamily="49" charset="-127"/>
                <a:ea typeface="나눔고딕코딩" pitchFamily="49" charset="-127"/>
              </a:rPr>
              <a:t>syarat</a:t>
            </a:r>
            <a:r>
              <a:rPr lang="en-ID" altLang="ko-KR" sz="1600" i="1">
                <a:solidFill>
                  <a:schemeClr val="tx1"/>
                </a:solidFill>
                <a:latin typeface="나눔고딕코딩" pitchFamily="49" charset="-127"/>
                <a:ea typeface="나눔고딕코딩" pitchFamily="49" charset="-127"/>
              </a:rPr>
              <a:t> </a:t>
            </a:r>
            <a:r>
              <a:rPr lang="en-US" altLang="ko-KR" sz="1600" i="1">
                <a:solidFill>
                  <a:schemeClr val="tx1"/>
                </a:solidFill>
                <a:latin typeface="나눔고딕코딩" pitchFamily="49" charset="-127"/>
                <a:ea typeface="나눔고딕코딩" pitchFamily="49" charset="-127"/>
              </a:rPr>
              <a:t>2 </a:t>
            </a:r>
            <a:r>
              <a:rPr lang="en-ID" altLang="ko-KR" sz="1600" i="1" err="1">
                <a:solidFill>
                  <a:schemeClr val="tx1"/>
                </a:solidFill>
                <a:latin typeface="나눔고딕코딩" pitchFamily="49" charset="-127"/>
                <a:ea typeface="나눔고딕코딩" pitchFamily="49" charset="-127"/>
              </a:rPr>
              <a:t>semua</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bohong</a:t>
            </a:r>
            <a:r>
              <a:rPr lang="en-ID" altLang="ko-KR" sz="1600" i="1">
                <a:solidFill>
                  <a:schemeClr val="tx1"/>
                </a:solidFill>
                <a:latin typeface="나눔고딕코딩" pitchFamily="49" charset="-127"/>
                <a:ea typeface="나눔고딕코딩" pitchFamily="49" charset="-127"/>
              </a:rPr>
              <a:t> </a:t>
            </a:r>
            <a:r>
              <a:rPr lang="en-US" altLang="ko-KR" sz="1600" i="1">
                <a:solidFill>
                  <a:schemeClr val="tx1"/>
                </a:solidFill>
                <a:latin typeface="나눔고딕코딩" pitchFamily="49" charset="-127"/>
                <a:ea typeface="나눔고딕코딩" pitchFamily="49" charset="-127"/>
              </a:rPr>
              <a:t>(false)</a:t>
            </a:r>
            <a:r>
              <a:rPr lang="ko-KR" altLang="en-US"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saat</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sz="1600" i="1">
                <a:solidFill>
                  <a:schemeClr val="tx1"/>
                </a:solidFill>
                <a:latin typeface="나눔고딕코딩" pitchFamily="49" charset="-127"/>
                <a:ea typeface="나눔고딕코딩" pitchFamily="49" charset="-127"/>
              </a:rPr>
              <a:t>    // </a:t>
            </a:r>
            <a:r>
              <a:rPr lang="en-ID" altLang="ko-KR" sz="1600" i="1" err="1">
                <a:solidFill>
                  <a:schemeClr val="tx1"/>
                </a:solidFill>
                <a:latin typeface="나눔고딕코딩" pitchFamily="49" charset="-127"/>
                <a:ea typeface="나눔고딕코딩" pitchFamily="49" charset="-127"/>
              </a:rPr>
              <a:t>isinya</a:t>
            </a:r>
            <a:r>
              <a:rPr lang="en-ID" altLang="ko-KR" sz="1600" i="1">
                <a:solidFill>
                  <a:schemeClr val="tx1"/>
                </a:solidFill>
                <a:latin typeface="나눔고딕코딩" pitchFamily="49" charset="-127"/>
                <a:ea typeface="나눔고딕코딩" pitchFamily="49" charset="-127"/>
              </a:rPr>
              <a:t> </a:t>
            </a:r>
            <a:r>
              <a:rPr lang="en-ID" altLang="ko-KR" sz="1600" i="1" err="1">
                <a:solidFill>
                  <a:schemeClr val="tx1"/>
                </a:solidFill>
                <a:latin typeface="나눔고딕코딩" pitchFamily="49" charset="-127"/>
                <a:ea typeface="나눔고딕코딩" pitchFamily="49" charset="-127"/>
              </a:rPr>
              <a:t>berfungsi</a:t>
            </a:r>
            <a:endParaRPr lang="en-US" altLang="ko-KR" sz="1600" i="1">
              <a:solidFill>
                <a:schemeClr val="tx1"/>
              </a:solidFill>
              <a:latin typeface="나눔고딕코딩" pitchFamily="49" charset="-127"/>
              <a:ea typeface="나눔고딕코딩" pitchFamily="49" charset="-127"/>
            </a:endParaRPr>
          </a:p>
          <a:p>
            <a:pPr eaLnBrk="1" hangingPunct="1">
              <a:spcAft>
                <a:spcPts val="567"/>
              </a:spcAft>
              <a:defRPr/>
            </a:pPr>
            <a:r>
              <a:rPr lang="en-US" altLang="ko-KR" b="1">
                <a:solidFill>
                  <a:schemeClr val="tx1"/>
                </a:solidFill>
                <a:latin typeface="나눔고딕코딩" pitchFamily="49" charset="-127"/>
                <a:ea typeface="나눔고딕코딩" pitchFamily="49" charset="-127"/>
              </a:rPr>
              <a:t>}</a:t>
            </a:r>
          </a:p>
        </p:txBody>
      </p:sp>
      <p:sp>
        <p:nvSpPr>
          <p:cNvPr id="6" name="모서리가 둥근 직사각형 5">
            <a:extLst>
              <a:ext uri="{FF2B5EF4-FFF2-40B4-BE49-F238E27FC236}">
                <a16:creationId xmlns:a16="http://schemas.microsoft.com/office/drawing/2014/main" id="{98522190-F681-61DE-1CE7-A2DAAD24FA6E}"/>
              </a:ext>
            </a:extLst>
          </p:cNvPr>
          <p:cNvSpPr/>
          <p:nvPr/>
        </p:nvSpPr>
        <p:spPr>
          <a:xfrm>
            <a:off x="4457700" y="2359025"/>
            <a:ext cx="4335463" cy="4298950"/>
          </a:xfrm>
          <a:prstGeom prst="roundRect">
            <a:avLst>
              <a:gd name="adj" fmla="val 4705"/>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err="1">
                <a:solidFill>
                  <a:schemeClr val="tx1"/>
                </a:solidFill>
                <a:latin typeface="나눔고딕코딩" pitchFamily="49" charset="-127"/>
                <a:ea typeface="나눔고딕코딩" pitchFamily="49" charset="-127"/>
              </a:rPr>
              <a:t>contoh</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int age = 15;</a:t>
            </a:r>
          </a:p>
          <a:p>
            <a:pPr eaLnBrk="1" hangingPunct="1">
              <a:spcAft>
                <a:spcPts val="567"/>
              </a:spcAft>
              <a:defRPr/>
            </a:pPr>
            <a:endParaRPr lang="en-US" altLang="ko-KR">
              <a:solidFill>
                <a:schemeClr val="tx1"/>
              </a:solidFill>
              <a:latin typeface="나눔고딕코딩" pitchFamily="49" charset="-127"/>
              <a:ea typeface="나눔고딕코딩" pitchFamily="49" charset="-127"/>
            </a:endParaRPr>
          </a:p>
          <a:p>
            <a:pPr eaLnBrk="1" hangingPunct="1">
              <a:spcAft>
                <a:spcPts val="567"/>
              </a:spcAft>
              <a:defRPr/>
            </a:pPr>
            <a:r>
              <a:rPr lang="en-US" altLang="ko-KR">
                <a:solidFill>
                  <a:schemeClr val="tx1"/>
                </a:solidFill>
                <a:latin typeface="나눔고딕코딩" pitchFamily="49" charset="-127"/>
                <a:ea typeface="나눔고딕코딩" pitchFamily="49" charset="-127"/>
              </a:rPr>
              <a:t>if ( age &gt;= 19 ) {</a:t>
            </a:r>
          </a:p>
          <a:p>
            <a:pPr eaLnBrk="1" hangingPunct="1">
              <a:spcAft>
                <a:spcPts val="567"/>
              </a:spcAft>
              <a:defRPr/>
            </a:pPr>
            <a:r>
              <a:rPr lang="en-US" altLang="ko-KR">
                <a:solidFill>
                  <a:schemeClr val="tx1"/>
                </a:solidFill>
                <a:latin typeface="나눔고딕코딩" pitchFamily="49" charset="-127"/>
                <a:ea typeface="나눔고딕코딩" pitchFamily="49" charset="-127"/>
              </a:rPr>
              <a:t>    </a:t>
            </a:r>
            <a:r>
              <a:rPr lang="en-US" altLang="ko-KR" err="1">
                <a:solidFill>
                  <a:schemeClr val="tx1"/>
                </a:solidFill>
                <a:latin typeface="나눔고딕코딩" pitchFamily="49" charset="-127"/>
                <a:ea typeface="나눔고딕코딩" pitchFamily="49" charset="-127"/>
              </a:rPr>
              <a:t>System.out.println</a:t>
            </a:r>
            <a:r>
              <a:rPr lang="en-US" altLang="ko-KR">
                <a:solidFill>
                  <a:schemeClr val="tx1"/>
                </a:solidFill>
                <a:latin typeface="나눔고딕코딩" pitchFamily="49" charset="-127"/>
                <a:ea typeface="나눔고딕코딩" pitchFamily="49" charset="-127"/>
              </a:rPr>
              <a:t>(“</a:t>
            </a:r>
            <a:r>
              <a:rPr lang="en-ID" altLang="ko-KR" err="1">
                <a:solidFill>
                  <a:schemeClr val="tx1"/>
                </a:solidFill>
                <a:latin typeface="나눔고딕코딩" pitchFamily="49" charset="-127"/>
                <a:ea typeface="나눔고딕코딩" pitchFamily="49" charset="-127"/>
              </a:rPr>
              <a:t>dewasa</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 else if ( age &gt;= 13 ) {</a:t>
            </a:r>
          </a:p>
          <a:p>
            <a:pPr eaLnBrk="1" hangingPunct="1">
              <a:spcAft>
                <a:spcPts val="567"/>
              </a:spcAft>
              <a:defRPr/>
            </a:pPr>
            <a:r>
              <a:rPr lang="en-US" altLang="ko-KR">
                <a:solidFill>
                  <a:schemeClr val="tx1"/>
                </a:solidFill>
                <a:latin typeface="나눔고딕코딩" pitchFamily="49" charset="-127"/>
                <a:ea typeface="나눔고딕코딩" pitchFamily="49" charset="-127"/>
              </a:rPr>
              <a:t>    </a:t>
            </a:r>
            <a:r>
              <a:rPr lang="en-US" altLang="ko-KR" err="1">
                <a:solidFill>
                  <a:srgbClr val="C5003D"/>
                </a:solidFill>
                <a:latin typeface="나눔고딕코딩" pitchFamily="49" charset="-127"/>
                <a:ea typeface="나눔고딕코딩" pitchFamily="49" charset="-127"/>
              </a:rPr>
              <a:t>System.out.println</a:t>
            </a:r>
            <a:r>
              <a:rPr lang="en-US" altLang="ko-KR">
                <a:solidFill>
                  <a:srgbClr val="C5003D"/>
                </a:solidFill>
                <a:latin typeface="나눔고딕코딩" pitchFamily="49" charset="-127"/>
                <a:ea typeface="나눔고딕코딩" pitchFamily="49" charset="-127"/>
              </a:rPr>
              <a:t>(“</a:t>
            </a:r>
            <a:r>
              <a:rPr lang="en-ID" altLang="ko-KR">
                <a:solidFill>
                  <a:srgbClr val="C5003D"/>
                </a:solidFill>
                <a:latin typeface="나눔고딕코딩" pitchFamily="49" charset="-127"/>
                <a:ea typeface="나눔고딕코딩" pitchFamily="49" charset="-127"/>
              </a:rPr>
              <a:t>Pemuda</a:t>
            </a:r>
            <a:r>
              <a:rPr lang="en-US" altLang="ko-KR">
                <a:solidFill>
                  <a:srgbClr val="C5003D"/>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 else {</a:t>
            </a:r>
          </a:p>
          <a:p>
            <a:pPr eaLnBrk="1" hangingPunct="1">
              <a:spcAft>
                <a:spcPts val="567"/>
              </a:spcAft>
              <a:defRPr/>
            </a:pPr>
            <a:r>
              <a:rPr lang="en-US" altLang="ko-KR">
                <a:solidFill>
                  <a:schemeClr val="tx1"/>
                </a:solidFill>
                <a:latin typeface="나눔고딕코딩" pitchFamily="49" charset="-127"/>
                <a:ea typeface="나눔고딕코딩" pitchFamily="49" charset="-127"/>
              </a:rPr>
              <a:t>    </a:t>
            </a:r>
            <a:r>
              <a:rPr lang="en-US" altLang="ko-KR" err="1">
                <a:solidFill>
                  <a:schemeClr val="tx1"/>
                </a:solidFill>
                <a:latin typeface="나눔고딕코딩" pitchFamily="49" charset="-127"/>
                <a:ea typeface="나눔고딕코딩" pitchFamily="49" charset="-127"/>
              </a:rPr>
              <a:t>System.out.println</a:t>
            </a:r>
            <a:r>
              <a:rPr lang="en-US" altLang="ko-KR">
                <a:solidFill>
                  <a:schemeClr val="tx1"/>
                </a:solidFill>
                <a:latin typeface="나눔고딕코딩" pitchFamily="49" charset="-127"/>
                <a:ea typeface="나눔고딕코딩" pitchFamily="49" charset="-127"/>
              </a:rPr>
              <a:t>(“</a:t>
            </a:r>
            <a:r>
              <a:rPr lang="en-ID" altLang="ko-KR" err="1">
                <a:solidFill>
                  <a:schemeClr val="tx1"/>
                </a:solidFill>
                <a:latin typeface="나눔고딕코딩" pitchFamily="49" charset="-127"/>
                <a:ea typeface="나눔고딕코딩" pitchFamily="49" charset="-127"/>
              </a:rPr>
              <a:t>anak-anak</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a:t>
            </a:r>
          </a:p>
          <a:p>
            <a:pPr eaLnBrk="1" hangingPunct="1">
              <a:spcAft>
                <a:spcPts val="567"/>
              </a:spcAft>
              <a:defRPr/>
            </a:pPr>
            <a:endParaRPr lang="en-US" altLang="ko-KR">
              <a:solidFill>
                <a:schemeClr val="tx1"/>
              </a:solidFill>
              <a:latin typeface="나눔고딕코딩" pitchFamily="49" charset="-127"/>
              <a:ea typeface="나눔고딕코딩" pitchFamily="49" charset="-127"/>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제목 5">
            <a:extLst>
              <a:ext uri="{FF2B5EF4-FFF2-40B4-BE49-F238E27FC236}">
                <a16:creationId xmlns:a16="http://schemas.microsoft.com/office/drawing/2014/main" id="{171FD2D8-5A07-0FA1-DB46-C2DEAF66505E}"/>
              </a:ext>
            </a:extLst>
          </p:cNvPr>
          <p:cNvSpPr>
            <a:spLocks/>
          </p:cNvSpPr>
          <p:nvPr/>
        </p:nvSpPr>
        <p:spPr bwMode="auto">
          <a:xfrm>
            <a:off x="123825" y="49213"/>
            <a:ext cx="46275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US" altLang="ko-KR" sz="2300" b="1">
                <a:solidFill>
                  <a:schemeClr val="bg1"/>
                </a:solidFill>
                <a:latin typeface="LG스마트체2.0 Regular" panose="020B0600000101010101" pitchFamily="50" charset="-127"/>
                <a:ea typeface="LG스마트체2.0 Regular" panose="020B0600000101010101" pitchFamily="50" charset="-127"/>
              </a:rPr>
              <a:t>switch (</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syarat</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p>
        </p:txBody>
      </p:sp>
      <p:pic>
        <p:nvPicPr>
          <p:cNvPr id="92163" name="Picture 9" descr="switch">
            <a:extLst>
              <a:ext uri="{FF2B5EF4-FFF2-40B4-BE49-F238E27FC236}">
                <a16:creationId xmlns:a16="http://schemas.microsoft.com/office/drawing/2014/main" id="{BB2D9AF7-68F1-C912-0DB9-0924240A7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6300" y="1976438"/>
            <a:ext cx="18732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TextBox 2">
            <a:extLst>
              <a:ext uri="{FF2B5EF4-FFF2-40B4-BE49-F238E27FC236}">
                <a16:creationId xmlns:a16="http://schemas.microsoft.com/office/drawing/2014/main" id="{51A41A62-E439-95EC-6E84-AE77550A2D16}"/>
              </a:ext>
            </a:extLst>
          </p:cNvPr>
          <p:cNvSpPr txBox="1">
            <a:spLocks noChangeArrowheads="1"/>
          </p:cNvSpPr>
          <p:nvPr/>
        </p:nvSpPr>
        <p:spPr bwMode="auto">
          <a:xfrm>
            <a:off x="123825" y="511175"/>
            <a:ext cx="8769350"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57" tIns="43228" rIns="86457" bIns="43228">
            <a:spAutoFit/>
          </a:bodyPr>
          <a:lstStyle>
            <a:lvl1pPr marL="269875" indent="-2698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lnSpc>
                <a:spcPct val="150000"/>
              </a:lnSpc>
              <a:buFont typeface="Wingdings" pitchFamily="2" charset="2"/>
              <a:buChar char="Ø"/>
            </a:pPr>
            <a:r>
              <a:rPr lang="en-ID" altLang="ko-KR" sz="1400">
                <a:latin typeface="LG스마트체2.0 Regular" panose="020B0600000101010101" pitchFamily="50" charset="-127"/>
                <a:ea typeface="LG스마트체2.0 Regular" panose="020B0600000101010101" pitchFamily="50" charset="-127"/>
              </a:rPr>
              <a:t>Syarat menggunakan</a:t>
            </a:r>
            <a:r>
              <a:rPr lang="ko-KR" altLang="en-US" sz="1400">
                <a:latin typeface="LG스마트체2.0 Regular" panose="020B0600000101010101" pitchFamily="50" charset="-127"/>
                <a:ea typeface="LG스마트체2.0 Regular" panose="020B0600000101010101" pitchFamily="50" charset="-127"/>
              </a:rPr>
              <a:t> </a:t>
            </a:r>
            <a:r>
              <a:rPr lang="en-US" altLang="ko-KR" sz="1400">
                <a:latin typeface="LG스마트체2.0 Regular" panose="020B0600000101010101" pitchFamily="50" charset="-127"/>
                <a:ea typeface="LG스마트체2.0 Regular" panose="020B0600000101010101" pitchFamily="50" charset="-127"/>
              </a:rPr>
              <a:t>switch</a:t>
            </a:r>
          </a:p>
          <a:p>
            <a:pPr lvl="1" eaLnBrk="1" latinLnBrk="1" hangingPunct="1">
              <a:lnSpc>
                <a:spcPct val="150000"/>
              </a:lnSpc>
              <a:buFont typeface="Arial" panose="020B0604020202020204" pitchFamily="34" charset="0"/>
              <a:buChar char="•"/>
            </a:pPr>
            <a:r>
              <a:rPr lang="en-ID" altLang="ko-KR" sz="1400">
                <a:solidFill>
                  <a:srgbClr val="000000"/>
                </a:solidFill>
                <a:latin typeface="나눔고딕 Bold" panose="020D0604000000000000" pitchFamily="34" charset="-127"/>
                <a:ea typeface="LG스마트체2.0 Regular" panose="020B0600000101010101" pitchFamily="50" charset="-127"/>
              </a:rPr>
              <a:t>Gunakan ketika Anda memiliki banyak pernyataan bersyarat (jika)</a:t>
            </a:r>
            <a:r>
              <a:rPr lang="en-US" altLang="ko-KR" sz="1400">
                <a:latin typeface="LG스마트체2.0 Regular" panose="020B0600000101010101" pitchFamily="50" charset="-127"/>
                <a:ea typeface="LG스마트체2.0 Regular" panose="020B0600000101010101" pitchFamily="50" charset="-127"/>
              </a:rPr>
              <a:t>.</a:t>
            </a:r>
          </a:p>
          <a:p>
            <a:pPr lvl="1" eaLnBrk="1" latinLnBrk="1" hangingPunct="1">
              <a:lnSpc>
                <a:spcPct val="150000"/>
              </a:lnSpc>
              <a:buFont typeface="Arial" panose="020B0604020202020204" pitchFamily="34" charset="0"/>
              <a:buChar char="•"/>
            </a:pPr>
            <a:r>
              <a:rPr lang="en-ID" altLang="ko-KR" sz="1400">
                <a:solidFill>
                  <a:srgbClr val="000000"/>
                </a:solidFill>
                <a:latin typeface="나눔고딕 Bold" panose="020D0604000000000000" pitchFamily="34" charset="-127"/>
                <a:ea typeface="LG스마트체2.0 Regular" panose="020B0600000101010101" pitchFamily="50" charset="-127"/>
              </a:rPr>
              <a:t>Tipe data dari variabel kondisi hanya dapat berupa bilangan bulat (byte, long, short, int), char, atau String.</a:t>
            </a:r>
            <a:endParaRPr lang="en-US" altLang="ko-KR" sz="1400">
              <a:solidFill>
                <a:srgbClr val="000000"/>
              </a:solidFill>
              <a:latin typeface="나눔고딕 Bold" panose="020D0604000000000000" pitchFamily="34"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US" altLang="ko-KR" sz="1400">
                <a:solidFill>
                  <a:srgbClr val="000000"/>
                </a:solidFill>
                <a:latin typeface="나눔고딕 Bold" panose="020D0604000000000000" pitchFamily="34" charset="-127"/>
                <a:ea typeface="LG스마트체2.0 Regular" panose="020B0600000101010101" pitchFamily="50" charset="-127"/>
              </a:rPr>
              <a:t>Konstanta dalam pernyataan kasus harus berupa konstanta dengan tipe yang sama dengan tipe data variabel kondisi.</a:t>
            </a:r>
            <a:endParaRPr lang="en-US" altLang="ko-KR" sz="1400">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US" altLang="ko-KR" sz="1400">
                <a:solidFill>
                  <a:srgbClr val="000000"/>
                </a:solidFill>
                <a:latin typeface="나눔고딕 Bold" panose="020D0604000000000000" pitchFamily="34" charset="-127"/>
                <a:ea typeface="LG스마트체2.0 Regular" panose="020B0600000101010101" pitchFamily="50" charset="-127"/>
              </a:rPr>
              <a:t>Tanpa pernyataan jeda, maka akan terjadi fall-through.</a:t>
            </a:r>
            <a:endParaRPr lang="en-US" altLang="ko-KR" sz="1400">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ID" altLang="ko-KR" sz="1400">
                <a:latin typeface="LG스마트체2.0 Regular" panose="020B0600000101010101" pitchFamily="50" charset="-127"/>
                <a:ea typeface="LG스마트체2.0 Regular" panose="020B0600000101010101" pitchFamily="50" charset="-127"/>
              </a:rPr>
              <a:t>Tanda kurung kurawal tidak boleh dihilangkan.</a:t>
            </a:r>
            <a:endParaRPr lang="en-US" altLang="ko-KR" sz="1400">
              <a:latin typeface="LG스마트체2.0 Regular" panose="020B0600000101010101" pitchFamily="50" charset="-127"/>
              <a:ea typeface="LG스마트체2.0 Regular" panose="020B0600000101010101" pitchFamily="50" charset="-127"/>
            </a:endParaRPr>
          </a:p>
        </p:txBody>
      </p:sp>
      <p:sp>
        <p:nvSpPr>
          <p:cNvPr id="19" name="모서리가 둥근 직사각형 18">
            <a:extLst>
              <a:ext uri="{FF2B5EF4-FFF2-40B4-BE49-F238E27FC236}">
                <a16:creationId xmlns:a16="http://schemas.microsoft.com/office/drawing/2014/main" id="{930208FA-4423-442D-6B89-623099ADA4B5}"/>
              </a:ext>
            </a:extLst>
          </p:cNvPr>
          <p:cNvSpPr/>
          <p:nvPr/>
        </p:nvSpPr>
        <p:spPr>
          <a:xfrm>
            <a:off x="803275" y="3141663"/>
            <a:ext cx="7564438" cy="3589337"/>
          </a:xfrm>
          <a:prstGeom prst="roundRect">
            <a:avLst>
              <a:gd name="adj" fmla="val 5359"/>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a:solidFill>
                  <a:schemeClr val="tx1"/>
                </a:solidFill>
                <a:latin typeface="나눔고딕코딩" pitchFamily="49" charset="-127"/>
                <a:ea typeface="나눔고딕코딩" pitchFamily="49" charset="-127"/>
              </a:rPr>
              <a:t>grammar</a:t>
            </a:r>
            <a:r>
              <a:rPr lang="en-US" altLang="ko-KR">
                <a:solidFill>
                  <a:schemeClr val="tx1"/>
                </a:solidFill>
                <a:latin typeface="나눔고딕코딩" pitchFamily="49" charset="-127"/>
                <a:ea typeface="나눔고딕코딩" pitchFamily="49" charset="-127"/>
              </a:rPr>
              <a:t>]</a:t>
            </a:r>
            <a:r>
              <a:rPr lang="en-US" altLang="ko-KR">
                <a:solidFill>
                  <a:srgbClr val="000000"/>
                </a:solidFill>
                <a:latin typeface="나눔고딕 Bold" pitchFamily="50" charset="-127"/>
                <a:ea typeface="나눔고딕 Bold" pitchFamily="50" charset="-127"/>
              </a:rPr>
              <a:t> </a:t>
            </a:r>
            <a:r>
              <a:rPr lang="en-US" altLang="ko-KR" b="1">
                <a:solidFill>
                  <a:srgbClr val="000000"/>
                </a:solidFill>
                <a:latin typeface="나눔고딕 Bold" pitchFamily="50" charset="-127"/>
                <a:ea typeface="나눔고딕 Bold" pitchFamily="50" charset="-127"/>
              </a:rPr>
              <a:t>switch( </a:t>
            </a:r>
            <a:r>
              <a:rPr lang="en-ID" altLang="ko-KR" b="1" err="1">
                <a:solidFill>
                  <a:srgbClr val="000000"/>
                </a:solidFill>
                <a:latin typeface="나눔고딕 Bold" pitchFamily="50" charset="-127"/>
                <a:ea typeface="나눔고딕 Bold" pitchFamily="50" charset="-127"/>
              </a:rPr>
              <a:t>variabel</a:t>
            </a:r>
            <a:r>
              <a:rPr lang="en-ID" altLang="ko-KR" b="1">
                <a:solidFill>
                  <a:srgbClr val="000000"/>
                </a:solidFill>
                <a:latin typeface="나눔고딕 Bold" pitchFamily="50" charset="-127"/>
                <a:ea typeface="나눔고딕 Bold" pitchFamily="50" charset="-127"/>
              </a:rPr>
              <a:t> </a:t>
            </a:r>
            <a:r>
              <a:rPr lang="en-ID" altLang="ko-KR" b="1" err="1">
                <a:solidFill>
                  <a:srgbClr val="000000"/>
                </a:solidFill>
                <a:latin typeface="나눔고딕 Bold" pitchFamily="50" charset="-127"/>
                <a:ea typeface="나눔고딕 Bold" pitchFamily="50" charset="-127"/>
              </a:rPr>
              <a:t>bersyarat</a:t>
            </a:r>
            <a:r>
              <a:rPr lang="ko-KR" altLang="en-US" b="1" i="1">
                <a:solidFill>
                  <a:srgbClr val="000000"/>
                </a:solidFill>
                <a:latin typeface="나눔고딕 Bold" pitchFamily="50" charset="-127"/>
                <a:ea typeface="나눔고딕 Bold" pitchFamily="50" charset="-127"/>
              </a:rPr>
              <a:t> </a:t>
            </a:r>
            <a:r>
              <a:rPr lang="en-US" altLang="ko-KR" b="1">
                <a:solidFill>
                  <a:srgbClr val="000000"/>
                </a:solidFill>
                <a:latin typeface="나눔고딕 Bold" pitchFamily="50" charset="-127"/>
                <a:ea typeface="나눔고딕 Bold" pitchFamily="50" charset="-127"/>
              </a:rPr>
              <a:t>) {</a:t>
            </a:r>
          </a:p>
          <a:p>
            <a:pPr eaLnBrk="1" hangingPunct="1">
              <a:lnSpc>
                <a:spcPct val="120000"/>
              </a:lnSpc>
              <a:defRPr/>
            </a:pPr>
            <a:r>
              <a:rPr lang="en-US" altLang="ko-KR">
                <a:solidFill>
                  <a:srgbClr val="000000"/>
                </a:solidFill>
                <a:latin typeface="나눔고딕 Bold" pitchFamily="50" charset="-127"/>
                <a:ea typeface="나눔고딕 Bold" pitchFamily="50" charset="-127"/>
              </a:rPr>
              <a:t>         case </a:t>
            </a:r>
            <a:r>
              <a:rPr lang="en-US" altLang="ko-KR" b="1">
                <a:solidFill>
                  <a:srgbClr val="000000"/>
                </a:solidFill>
                <a:latin typeface="나눔고딕 Bold" pitchFamily="50" charset="-127"/>
                <a:ea typeface="나눔고딕 Bold" pitchFamily="50" charset="-127"/>
              </a:rPr>
              <a:t>constant1</a:t>
            </a:r>
            <a:r>
              <a:rPr lang="en-US" altLang="ko-KR">
                <a:solidFill>
                  <a:srgbClr val="000000"/>
                </a:solidFill>
                <a:latin typeface="나눔고딕 Bold" pitchFamily="50" charset="-127"/>
                <a:ea typeface="나눔고딕 Bold" pitchFamily="50" charset="-127"/>
              </a:rPr>
              <a:t> : </a:t>
            </a:r>
          </a:p>
          <a:p>
            <a:pPr eaLnBrk="1" hangingPunct="1">
              <a:spcAft>
                <a:spcPts val="567"/>
              </a:spcAft>
              <a:defRPr/>
            </a:pPr>
            <a:r>
              <a:rPr lang="en-US" altLang="ko-KR" i="1">
                <a:solidFill>
                  <a:srgbClr val="000000"/>
                </a:solidFill>
                <a:latin typeface="나눔고딕 Bold" pitchFamily="50" charset="-127"/>
                <a:ea typeface="나눔고딕 Bold" pitchFamily="50" charset="-127"/>
              </a:rPr>
              <a:t>             </a:t>
            </a:r>
            <a:r>
              <a:rPr lang="en-US"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variabel</a:t>
            </a:r>
            <a:r>
              <a:rPr lang="en-ID"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bersyarat</a:t>
            </a:r>
            <a:r>
              <a:rPr lang="ko-KR" altLang="en-US" i="1">
                <a:solidFill>
                  <a:schemeClr val="tx1"/>
                </a:solidFill>
                <a:latin typeface="나눔고딕코딩" pitchFamily="49" charset="-127"/>
                <a:ea typeface="나눔고딕코딩" pitchFamily="49" charset="-127"/>
              </a:rPr>
              <a:t> </a:t>
            </a:r>
            <a:r>
              <a:rPr lang="en-US" altLang="ko-KR" i="1">
                <a:solidFill>
                  <a:srgbClr val="000000"/>
                </a:solidFill>
                <a:latin typeface="나눔고딕 Bold" pitchFamily="50" charset="-127"/>
                <a:ea typeface="나눔고딕 Bold" pitchFamily="50" charset="-127"/>
              </a:rPr>
              <a:t>constant1</a:t>
            </a:r>
            <a:r>
              <a:rPr lang="en-ID" altLang="ko-KR" i="1">
                <a:solidFill>
                  <a:srgbClr val="000000"/>
                </a:solidFill>
                <a:latin typeface="나눔고딕 Bold" pitchFamily="50" charset="-127"/>
                <a:ea typeface="나눔고딕 Bold" pitchFamily="50" charset="-127"/>
              </a:rPr>
              <a:t>dan</a:t>
            </a:r>
            <a:r>
              <a:rPr lang="ko-KR" altLang="en-US"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jika</a:t>
            </a:r>
            <a:r>
              <a:rPr lang="en-ID" altLang="ko-KR"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berfungsi</a:t>
            </a:r>
            <a:endParaRPr lang="en-US" altLang="ko-KR" i="1">
              <a:solidFill>
                <a:schemeClr val="tx1"/>
              </a:solidFill>
              <a:latin typeface="나눔고딕코딩" pitchFamily="49" charset="-127"/>
              <a:ea typeface="나눔고딕코딩" pitchFamily="49" charset="-127"/>
            </a:endParaRPr>
          </a:p>
          <a:p>
            <a:pPr eaLnBrk="1" hangingPunct="1">
              <a:lnSpc>
                <a:spcPct val="120000"/>
              </a:lnSpc>
              <a:defRPr/>
            </a:pPr>
            <a:r>
              <a:rPr lang="en-US" altLang="ko-KR">
                <a:solidFill>
                  <a:srgbClr val="000000"/>
                </a:solidFill>
                <a:latin typeface="나눔고딕 Bold" pitchFamily="50" charset="-127"/>
                <a:ea typeface="나눔고딕 Bold" pitchFamily="50" charset="-127"/>
              </a:rPr>
              <a:t>             break;</a:t>
            </a:r>
          </a:p>
          <a:p>
            <a:pPr eaLnBrk="1" hangingPunct="1">
              <a:lnSpc>
                <a:spcPct val="120000"/>
              </a:lnSpc>
              <a:defRPr/>
            </a:pPr>
            <a:r>
              <a:rPr lang="en-US" altLang="ko-KR">
                <a:solidFill>
                  <a:srgbClr val="000000"/>
                </a:solidFill>
                <a:latin typeface="나눔고딕 Bold" pitchFamily="50" charset="-127"/>
                <a:ea typeface="나눔고딕 Bold" pitchFamily="50" charset="-127"/>
              </a:rPr>
              <a:t>         case </a:t>
            </a:r>
            <a:r>
              <a:rPr lang="en-US" altLang="ko-KR" b="1">
                <a:solidFill>
                  <a:srgbClr val="000000"/>
                </a:solidFill>
                <a:latin typeface="나눔고딕 Bold" pitchFamily="50" charset="-127"/>
                <a:ea typeface="나눔고딕 Bold" pitchFamily="50" charset="-127"/>
              </a:rPr>
              <a:t>constant2</a:t>
            </a:r>
            <a:r>
              <a:rPr lang="en-US" altLang="ko-KR">
                <a:solidFill>
                  <a:srgbClr val="000000"/>
                </a:solidFill>
                <a:latin typeface="나눔고딕 Bold" pitchFamily="50" charset="-127"/>
                <a:ea typeface="나눔고딕 Bold" pitchFamily="50" charset="-127"/>
              </a:rPr>
              <a:t> :</a:t>
            </a:r>
          </a:p>
          <a:p>
            <a:pPr eaLnBrk="1" hangingPunct="1">
              <a:lnSpc>
                <a:spcPct val="120000"/>
              </a:lnSpc>
              <a:defRPr/>
            </a:pPr>
            <a:r>
              <a:rPr lang="en-US" altLang="ko-KR" i="1">
                <a:solidFill>
                  <a:srgbClr val="000000"/>
                </a:solidFill>
                <a:latin typeface="나눔고딕 Bold" pitchFamily="50" charset="-127"/>
                <a:ea typeface="나눔고딕 Bold" pitchFamily="50" charset="-127"/>
              </a:rPr>
              <a:t>             // </a:t>
            </a:r>
            <a:r>
              <a:rPr lang="en-ID" altLang="ko-KR" i="1" err="1">
                <a:solidFill>
                  <a:srgbClr val="000000"/>
                </a:solidFill>
                <a:latin typeface="나눔고딕 Bold" pitchFamily="50" charset="-127"/>
                <a:ea typeface="나눔고딕 Bold" pitchFamily="50" charset="-127"/>
              </a:rPr>
              <a:t>variabel</a:t>
            </a:r>
            <a:r>
              <a:rPr lang="en-ID" altLang="ko-KR"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bersyarat</a:t>
            </a:r>
            <a:r>
              <a:rPr lang="ko-KR" altLang="en-US" i="1">
                <a:solidFill>
                  <a:srgbClr val="000000"/>
                </a:solidFill>
                <a:latin typeface="나눔고딕 Bold" pitchFamily="50" charset="-127"/>
                <a:ea typeface="나눔고딕 Bold" pitchFamily="50" charset="-127"/>
              </a:rPr>
              <a:t> </a:t>
            </a:r>
            <a:r>
              <a:rPr lang="en-US" altLang="ko-KR" i="1">
                <a:solidFill>
                  <a:srgbClr val="000000"/>
                </a:solidFill>
                <a:latin typeface="나눔고딕 Bold" pitchFamily="50" charset="-127"/>
                <a:ea typeface="나눔고딕 Bold" pitchFamily="50" charset="-127"/>
              </a:rPr>
              <a:t>constant2</a:t>
            </a:r>
            <a:r>
              <a:rPr lang="ko-KR" altLang="en-US" i="1">
                <a:solidFill>
                  <a:srgbClr val="000000"/>
                </a:solidFill>
                <a:latin typeface="나눔고딕 Bold" pitchFamily="50" charset="-127"/>
                <a:ea typeface="나눔고딕 Bold" pitchFamily="50" charset="-127"/>
              </a:rPr>
              <a:t> </a:t>
            </a:r>
            <a:r>
              <a:rPr lang="en-ID" altLang="ko-KR" i="1">
                <a:solidFill>
                  <a:srgbClr val="000000"/>
                </a:solidFill>
                <a:latin typeface="나눔고딕 Bold" pitchFamily="50" charset="-127"/>
                <a:ea typeface="나눔고딕 Bold" pitchFamily="50" charset="-127"/>
              </a:rPr>
              <a:t>dan</a:t>
            </a:r>
            <a:r>
              <a:rPr lang="ko-KR" altLang="en-US"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jika</a:t>
            </a:r>
            <a:r>
              <a:rPr lang="en-ID" altLang="ko-KR"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berfungsi</a:t>
            </a:r>
            <a:endParaRPr lang="en-US" altLang="ko-KR">
              <a:solidFill>
                <a:srgbClr val="000000"/>
              </a:solidFill>
              <a:latin typeface="나눔고딕 Bold" pitchFamily="50" charset="-127"/>
              <a:ea typeface="나눔고딕 Bold" pitchFamily="50" charset="-127"/>
            </a:endParaRPr>
          </a:p>
          <a:p>
            <a:pPr eaLnBrk="1" hangingPunct="1">
              <a:lnSpc>
                <a:spcPct val="120000"/>
              </a:lnSpc>
              <a:defRPr/>
            </a:pPr>
            <a:r>
              <a:rPr lang="en-US" altLang="ko-KR">
                <a:solidFill>
                  <a:srgbClr val="000000"/>
                </a:solidFill>
                <a:latin typeface="나눔고딕 Bold" pitchFamily="50" charset="-127"/>
                <a:ea typeface="나눔고딕 Bold" pitchFamily="50" charset="-127"/>
              </a:rPr>
              <a:t>             break;</a:t>
            </a:r>
          </a:p>
          <a:p>
            <a:pPr eaLnBrk="1" hangingPunct="1">
              <a:lnSpc>
                <a:spcPct val="120000"/>
              </a:lnSpc>
              <a:defRPr/>
            </a:pPr>
            <a:r>
              <a:rPr lang="en-US" altLang="ko-KR">
                <a:solidFill>
                  <a:srgbClr val="000000"/>
                </a:solidFill>
                <a:latin typeface="나눔고딕 Bold" pitchFamily="50" charset="-127"/>
                <a:ea typeface="나눔고딕 Bold" pitchFamily="50" charset="-127"/>
              </a:rPr>
              <a:t>         </a:t>
            </a:r>
            <a:r>
              <a:rPr lang="en-US" altLang="ko-KR" b="1">
                <a:solidFill>
                  <a:srgbClr val="000000"/>
                </a:solidFill>
                <a:latin typeface="나눔고딕 Bold" pitchFamily="50" charset="-127"/>
                <a:ea typeface="나눔고딕 Bold" pitchFamily="50" charset="-127"/>
              </a:rPr>
              <a:t>default</a:t>
            </a:r>
            <a:r>
              <a:rPr lang="en-US" altLang="ko-KR">
                <a:solidFill>
                  <a:srgbClr val="000000"/>
                </a:solidFill>
                <a:latin typeface="나눔고딕 Bold" pitchFamily="50" charset="-127"/>
                <a:ea typeface="나눔고딕 Bold" pitchFamily="50" charset="-127"/>
              </a:rPr>
              <a:t> :</a:t>
            </a:r>
            <a:endParaRPr lang="ko-KR" altLang="en-US" sz="1600">
              <a:solidFill>
                <a:srgbClr val="000000"/>
              </a:solidFill>
              <a:latin typeface="나눔고딕 Bold" pitchFamily="50" charset="-127"/>
              <a:ea typeface="나눔고딕 Bold" pitchFamily="50" charset="-127"/>
            </a:endParaRPr>
          </a:p>
          <a:p>
            <a:pPr eaLnBrk="1" hangingPunct="1">
              <a:lnSpc>
                <a:spcPct val="120000"/>
              </a:lnSpc>
              <a:defRPr/>
            </a:pPr>
            <a:r>
              <a:rPr lang="ko-KR" altLang="en-US">
                <a:solidFill>
                  <a:srgbClr val="000000"/>
                </a:solidFill>
                <a:latin typeface="나눔고딕 Bold" pitchFamily="50" charset="-127"/>
                <a:ea typeface="나눔고딕 Bold" pitchFamily="50" charset="-127"/>
              </a:rPr>
              <a:t>             </a:t>
            </a:r>
            <a:r>
              <a:rPr lang="en-US" altLang="ko-KR" i="1">
                <a:solidFill>
                  <a:srgbClr val="000000"/>
                </a:solidFill>
                <a:latin typeface="나눔고딕 Bold" pitchFamily="50" charset="-127"/>
                <a:ea typeface="나눔고딕 Bold" pitchFamily="50" charset="-127"/>
              </a:rPr>
              <a:t>// </a:t>
            </a:r>
            <a:r>
              <a:rPr lang="en-US" altLang="ko-KR" i="1" err="1">
                <a:solidFill>
                  <a:srgbClr val="000000"/>
                </a:solidFill>
                <a:latin typeface="나눔고딕 Bold" pitchFamily="50" charset="-127"/>
                <a:ea typeface="나눔고딕 Bold" pitchFamily="50" charset="-127"/>
              </a:rPr>
              <a:t>variabel</a:t>
            </a:r>
            <a:r>
              <a:rPr lang="en-US" altLang="ko-KR" i="1">
                <a:solidFill>
                  <a:srgbClr val="000000"/>
                </a:solidFill>
                <a:latin typeface="나눔고딕 Bold" pitchFamily="50" charset="-127"/>
                <a:ea typeface="나눔고딕 Bold" pitchFamily="50" charset="-127"/>
              </a:rPr>
              <a:t> </a:t>
            </a:r>
            <a:r>
              <a:rPr lang="en-US" altLang="ko-KR" i="1" err="1">
                <a:solidFill>
                  <a:srgbClr val="000000"/>
                </a:solidFill>
                <a:latin typeface="나눔고딕 Bold" pitchFamily="50" charset="-127"/>
                <a:ea typeface="나눔고딕 Bold" pitchFamily="50" charset="-127"/>
              </a:rPr>
              <a:t>bersyarat</a:t>
            </a:r>
            <a:r>
              <a:rPr lang="ko-KR" altLang="en-US"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diatas</a:t>
            </a:r>
            <a:r>
              <a:rPr lang="ko-KR" altLang="en-US" i="1">
                <a:solidFill>
                  <a:srgbClr val="000000"/>
                </a:solidFill>
                <a:latin typeface="나눔고딕 Bold" pitchFamily="50" charset="-127"/>
                <a:ea typeface="나눔고딕 Bold" pitchFamily="50" charset="-127"/>
              </a:rPr>
              <a:t> </a:t>
            </a:r>
            <a:r>
              <a:rPr lang="en-US" altLang="ko-KR" i="1">
                <a:solidFill>
                  <a:srgbClr val="000000"/>
                </a:solidFill>
                <a:latin typeface="나눔고딕 Bold" pitchFamily="50" charset="-127"/>
                <a:ea typeface="나눔고딕 Bold" pitchFamily="50" charset="-127"/>
              </a:rPr>
              <a:t>case</a:t>
            </a:r>
            <a:r>
              <a:rPr lang="en-ID" altLang="ko-KR"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tidak</a:t>
            </a:r>
            <a:r>
              <a:rPr lang="en-ID" altLang="ko-KR"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berlaku</a:t>
            </a:r>
            <a:r>
              <a:rPr lang="en-ID" altLang="ko-KR" i="1">
                <a:solidFill>
                  <a:srgbClr val="000000"/>
                </a:solidFill>
                <a:latin typeface="나눔고딕 Bold" pitchFamily="50" charset="-127"/>
                <a:ea typeface="나눔고딕 Bold" pitchFamily="50" charset="-127"/>
              </a:rPr>
              <a:t> </a:t>
            </a:r>
            <a:r>
              <a:rPr lang="en-ID" altLang="ko-KR" i="1" err="1">
                <a:solidFill>
                  <a:srgbClr val="000000"/>
                </a:solidFill>
                <a:latin typeface="나눔고딕 Bold" pitchFamily="50" charset="-127"/>
                <a:ea typeface="나눔고딕 Bold" pitchFamily="50" charset="-127"/>
              </a:rPr>
              <a:t>apa</a:t>
            </a:r>
            <a:r>
              <a:rPr lang="en-ID" altLang="ko-KR" i="1">
                <a:solidFill>
                  <a:srgbClr val="000000"/>
                </a:solidFill>
                <a:latin typeface="나눔고딕 Bold" pitchFamily="50" charset="-127"/>
                <a:ea typeface="나눔고딕 Bold" pitchFamily="50" charset="-127"/>
              </a:rPr>
              <a:t> yang </a:t>
            </a:r>
            <a:r>
              <a:rPr lang="en-ID" altLang="ko-KR" i="1" err="1">
                <a:solidFill>
                  <a:srgbClr val="000000"/>
                </a:solidFill>
                <a:latin typeface="나눔고딕 Bold" pitchFamily="50" charset="-127"/>
                <a:ea typeface="나눔고딕 Bold" pitchFamily="50" charset="-127"/>
              </a:rPr>
              <a:t>dijalankan</a:t>
            </a:r>
            <a:endParaRPr lang="en-US" altLang="ko-KR">
              <a:solidFill>
                <a:srgbClr val="000000"/>
              </a:solidFill>
              <a:latin typeface="나눔고딕 Bold" pitchFamily="50" charset="-127"/>
              <a:ea typeface="나눔고딕 Bold" pitchFamily="50" charset="-127"/>
            </a:endParaRPr>
          </a:p>
          <a:p>
            <a:pPr eaLnBrk="1" hangingPunct="1">
              <a:lnSpc>
                <a:spcPct val="120000"/>
              </a:lnSpc>
              <a:defRPr/>
            </a:pPr>
            <a:r>
              <a:rPr lang="en-US" altLang="ko-KR" b="1">
                <a:solidFill>
                  <a:srgbClr val="000000"/>
                </a:solidFill>
                <a:latin typeface="나눔고딕 Bold" pitchFamily="50" charset="-127"/>
                <a:ea typeface="나눔고딕 Bold" pitchFamily="50" charset="-127"/>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Box 2">
            <a:extLst>
              <a:ext uri="{FF2B5EF4-FFF2-40B4-BE49-F238E27FC236}">
                <a16:creationId xmlns:a16="http://schemas.microsoft.com/office/drawing/2014/main" id="{5182BD5F-37DB-AD86-7050-CD3562FF1C2C}"/>
              </a:ext>
            </a:extLst>
          </p:cNvPr>
          <p:cNvSpPr txBox="1">
            <a:spLocks noChangeArrowheads="1"/>
          </p:cNvSpPr>
          <p:nvPr/>
        </p:nvSpPr>
        <p:spPr bwMode="auto">
          <a:xfrm>
            <a:off x="350838" y="698500"/>
            <a:ext cx="84423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57" tIns="43228" rIns="86457" bIns="43228">
            <a:spAutoFit/>
          </a:bodyPr>
          <a:lstStyle>
            <a:lvl1pPr marL="269875" indent="-2698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lnSpc>
                <a:spcPct val="150000"/>
              </a:lnSpc>
              <a:buFont typeface="Wingdings" pitchFamily="2" charset="2"/>
              <a:buChar char="Ø"/>
            </a:pPr>
            <a:r>
              <a:rPr lang="en-ID" altLang="ko-KR" sz="1600">
                <a:latin typeface="LG스마트체2.0 Regular" panose="020B0600000101010101" pitchFamily="50" charset="-127"/>
                <a:ea typeface="LG스마트체2.0 Regular" panose="020B0600000101010101" pitchFamily="50" charset="-127"/>
              </a:rPr>
              <a:t>Penggunaan pernyataan berulang </a:t>
            </a:r>
            <a:r>
              <a:rPr lang="en-US" altLang="ko-KR" sz="1600">
                <a:latin typeface="나눔고딕코딩" pitchFamily="49" charset="-127"/>
                <a:ea typeface="나눔고딕코딩" pitchFamily="49" charset="-127"/>
              </a:rPr>
              <a:t>for</a:t>
            </a:r>
            <a:endParaRPr lang="en-US" altLang="ko-KR" sz="1600">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ID" altLang="ko-KR" sz="1400">
                <a:latin typeface="LG스마트체2.0 Regular" panose="020B0600000101010101" pitchFamily="50" charset="-127"/>
                <a:ea typeface="LG스마트체2.0 Regular" panose="020B0600000101010101" pitchFamily="50" charset="-127"/>
              </a:rPr>
              <a:t>Ini sering digunakan apabila Anda tahu, berapa kali Anda perlu mengulangi tindakan yang sama.</a:t>
            </a:r>
            <a:endParaRPr lang="en-US" altLang="ko-KR" sz="1400">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US" altLang="ko-KR" sz="1400">
                <a:latin typeface="나눔고딕코딩" pitchFamily="49" charset="-127"/>
                <a:ea typeface="나눔고딕코딩" pitchFamily="49" charset="-127"/>
              </a:rPr>
              <a:t>Tetapkan nilai yang akan digunakan dalam pernyataan for pada nilai awal dan mulai iterasi.</a:t>
            </a:r>
            <a:endParaRPr lang="en-US" altLang="ko-KR" sz="1400">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ID" altLang="ko-KR" sz="1400">
                <a:latin typeface="LG스마트체2.0 Regular" panose="020B0600000101010101" pitchFamily="50" charset="-127"/>
                <a:ea typeface="LG스마트체2.0 Regular" panose="020B0600000101010101" pitchFamily="50" charset="-127"/>
              </a:rPr>
              <a:t>Setiap iterasi, ia akan memeriksa kondisional dan, jika benar, melakukan isi dari tanda kurung { }.</a:t>
            </a:r>
            <a:endParaRPr lang="en-US" altLang="ko-KR" sz="1400">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US" altLang="ko-KR" sz="1400">
                <a:latin typeface="LG스마트체2.0 Regular" panose="020B0600000101010101" pitchFamily="50" charset="-127"/>
                <a:ea typeface="LG스마트체2.0 Regular" panose="020B0600000101010101" pitchFamily="50" charset="-127"/>
              </a:rPr>
              <a:t>Jalankan konten di dalam tanda kurung { } satu kali, lalu jalankan bagian tambahan sebelum selesai.</a:t>
            </a:r>
          </a:p>
        </p:txBody>
      </p:sp>
      <p:sp>
        <p:nvSpPr>
          <p:cNvPr id="7" name="모서리가 둥근 직사각형 6">
            <a:extLst>
              <a:ext uri="{FF2B5EF4-FFF2-40B4-BE49-F238E27FC236}">
                <a16:creationId xmlns:a16="http://schemas.microsoft.com/office/drawing/2014/main" id="{2EE560BB-5177-9D01-D206-41333477C86D}"/>
              </a:ext>
            </a:extLst>
          </p:cNvPr>
          <p:cNvSpPr/>
          <p:nvPr/>
        </p:nvSpPr>
        <p:spPr>
          <a:xfrm>
            <a:off x="715963" y="3571875"/>
            <a:ext cx="7713662" cy="1270000"/>
          </a:xfrm>
          <a:prstGeom prst="roundRect">
            <a:avLst>
              <a:gd name="adj" fmla="val 14279"/>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a:solidFill>
                  <a:schemeClr val="tx1"/>
                </a:solidFill>
                <a:latin typeface="나눔고딕코딩" pitchFamily="49" charset="-127"/>
                <a:ea typeface="나눔고딕코딩" pitchFamily="49" charset="-127"/>
              </a:rPr>
              <a:t>grammar</a:t>
            </a:r>
            <a:r>
              <a:rPr lang="en-US" altLang="ko-KR">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for ( </a:t>
            </a:r>
            <a:r>
              <a:rPr lang="en-ID" altLang="ko-KR" b="1" err="1">
                <a:solidFill>
                  <a:schemeClr val="tx1"/>
                </a:solidFill>
                <a:latin typeface="나눔고딕코딩" pitchFamily="49" charset="-127"/>
                <a:ea typeface="나눔고딕코딩" pitchFamily="49" charset="-127"/>
              </a:rPr>
              <a:t>nilai</a:t>
            </a:r>
            <a:r>
              <a:rPr lang="en-ID" altLang="ko-KR" b="1">
                <a:solidFill>
                  <a:schemeClr val="tx1"/>
                </a:solidFill>
                <a:latin typeface="나눔고딕코딩" pitchFamily="49" charset="-127"/>
                <a:ea typeface="나눔고딕코딩" pitchFamily="49" charset="-127"/>
              </a:rPr>
              <a:t> </a:t>
            </a:r>
            <a:r>
              <a:rPr lang="en-ID" altLang="ko-KR" b="1" err="1">
                <a:solidFill>
                  <a:schemeClr val="tx1"/>
                </a:solidFill>
                <a:latin typeface="나눔고딕코딩" pitchFamily="49" charset="-127"/>
                <a:ea typeface="나눔고딕코딩" pitchFamily="49" charset="-127"/>
              </a:rPr>
              <a:t>awal</a:t>
            </a:r>
            <a:r>
              <a:rPr lang="ko-KR" altLang="en-US" b="1">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 </a:t>
            </a:r>
            <a:r>
              <a:rPr lang="en-ID" altLang="ko-KR" b="1" err="1">
                <a:solidFill>
                  <a:schemeClr val="tx1"/>
                </a:solidFill>
                <a:latin typeface="나눔고딕코딩" pitchFamily="49" charset="-127"/>
                <a:ea typeface="나눔고딕코딩" pitchFamily="49" charset="-127"/>
              </a:rPr>
              <a:t>syarat</a:t>
            </a:r>
            <a:r>
              <a:rPr lang="ko-KR" altLang="en-US" b="1">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 </a:t>
            </a:r>
            <a:r>
              <a:rPr lang="en-ID" altLang="ko-KR" b="1" err="1">
                <a:solidFill>
                  <a:schemeClr val="tx1"/>
                </a:solidFill>
                <a:latin typeface="나눔고딕코딩" pitchFamily="49" charset="-127"/>
                <a:ea typeface="나눔고딕코딩" pitchFamily="49" charset="-127"/>
              </a:rPr>
              <a:t>tambahan</a:t>
            </a:r>
            <a:r>
              <a:rPr lang="ko-KR" altLang="en-US" b="1">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 {</a:t>
            </a:r>
          </a:p>
          <a:p>
            <a:pPr eaLnBrk="1" hangingPunct="1">
              <a:spcAft>
                <a:spcPts val="567"/>
              </a:spcAft>
              <a:defRPr/>
            </a:pPr>
            <a:r>
              <a:rPr lang="en-US" altLang="ko-KR" b="1">
                <a:solidFill>
                  <a:schemeClr val="tx1"/>
                </a:solidFill>
                <a:latin typeface="나눔고딕코딩" pitchFamily="49" charset="-127"/>
                <a:ea typeface="나눔고딕코딩" pitchFamily="49" charset="-127"/>
              </a:rPr>
              <a:t>	    </a:t>
            </a:r>
            <a:r>
              <a:rPr lang="en-US"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syarat</a:t>
            </a:r>
            <a:r>
              <a:rPr lang="en-ID" altLang="ko-KR" i="1">
                <a:solidFill>
                  <a:schemeClr val="tx1"/>
                </a:solidFill>
                <a:latin typeface="나눔고딕코딩" pitchFamily="49" charset="-127"/>
                <a:ea typeface="나눔고딕코딩" pitchFamily="49" charset="-127"/>
              </a:rPr>
              <a:t> </a:t>
            </a:r>
            <a:r>
              <a:rPr lang="en-US" altLang="ko-KR" i="1">
                <a:solidFill>
                  <a:schemeClr val="tx1"/>
                </a:solidFill>
                <a:latin typeface="나눔고딕코딩" pitchFamily="49" charset="-127"/>
                <a:ea typeface="나눔고딕코딩" pitchFamily="49" charset="-127"/>
              </a:rPr>
              <a:t>(true)</a:t>
            </a:r>
            <a:r>
              <a:rPr lang="ko-KR" altLang="en-US"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saat</a:t>
            </a:r>
            <a:r>
              <a:rPr lang="en-ID"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apa</a:t>
            </a:r>
            <a:r>
              <a:rPr lang="en-ID" altLang="ko-KR" i="1">
                <a:solidFill>
                  <a:schemeClr val="tx1"/>
                </a:solidFill>
                <a:latin typeface="나눔고딕코딩" pitchFamily="49" charset="-127"/>
                <a:ea typeface="나눔고딕코딩" pitchFamily="49" charset="-127"/>
              </a:rPr>
              <a:t> yang </a:t>
            </a:r>
            <a:r>
              <a:rPr lang="en-ID" altLang="ko-KR" i="1" err="1">
                <a:solidFill>
                  <a:schemeClr val="tx1"/>
                </a:solidFill>
                <a:latin typeface="나눔고딕코딩" pitchFamily="49" charset="-127"/>
                <a:ea typeface="나눔고딕코딩" pitchFamily="49" charset="-127"/>
              </a:rPr>
              <a:t>dijalankan</a:t>
            </a:r>
            <a:r>
              <a:rPr lang="en-ID"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berulang</a:t>
            </a:r>
            <a:endParaRPr lang="en-US" altLang="ko-KR" i="1">
              <a:solidFill>
                <a:schemeClr val="tx1"/>
              </a:solidFill>
              <a:latin typeface="나눔고딕코딩" pitchFamily="49" charset="-127"/>
              <a:ea typeface="나눔고딕코딩" pitchFamily="49" charset="-127"/>
            </a:endParaRPr>
          </a:p>
          <a:p>
            <a:pPr eaLnBrk="1" hangingPunct="1">
              <a:spcAft>
                <a:spcPts val="567"/>
              </a:spcAft>
              <a:defRPr/>
            </a:pPr>
            <a:r>
              <a:rPr lang="en-US" altLang="ko-KR" b="1">
                <a:solidFill>
                  <a:schemeClr val="tx1"/>
                </a:solidFill>
                <a:latin typeface="나눔고딕코딩" pitchFamily="49" charset="-127"/>
                <a:ea typeface="나눔고딕코딩" pitchFamily="49" charset="-127"/>
              </a:rPr>
              <a:t>	}</a:t>
            </a:r>
          </a:p>
        </p:txBody>
      </p:sp>
      <p:sp>
        <p:nvSpPr>
          <p:cNvPr id="8" name="모서리가 둥근 직사각형 7">
            <a:extLst>
              <a:ext uri="{FF2B5EF4-FFF2-40B4-BE49-F238E27FC236}">
                <a16:creationId xmlns:a16="http://schemas.microsoft.com/office/drawing/2014/main" id="{5C9539A4-ECA3-923E-88BD-DDC90AFF23F3}"/>
              </a:ext>
            </a:extLst>
          </p:cNvPr>
          <p:cNvSpPr/>
          <p:nvPr/>
        </p:nvSpPr>
        <p:spPr>
          <a:xfrm>
            <a:off x="715963" y="5094288"/>
            <a:ext cx="7713662" cy="1414462"/>
          </a:xfrm>
          <a:prstGeom prst="roundRect">
            <a:avLst>
              <a:gd name="adj" fmla="val 13489"/>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err="1">
                <a:solidFill>
                  <a:schemeClr val="tx1"/>
                </a:solidFill>
                <a:latin typeface="나눔고딕코딩" pitchFamily="49" charset="-127"/>
                <a:ea typeface="나눔고딕코딩" pitchFamily="49" charset="-127"/>
              </a:rPr>
              <a:t>contoh</a:t>
            </a:r>
            <a:r>
              <a:rPr lang="en-US" altLang="ko-KR">
                <a:solidFill>
                  <a:schemeClr val="tx1"/>
                </a:solidFill>
                <a:latin typeface="나눔고딕코딩" pitchFamily="49" charset="-127"/>
                <a:ea typeface="나눔고딕코딩" pitchFamily="49" charset="-127"/>
              </a:rPr>
              <a:t>]	for ( int inx = 1; inx &lt;= 10; inx++ ) {</a:t>
            </a:r>
          </a:p>
          <a:p>
            <a:pPr eaLnBrk="1" hangingPunct="1">
              <a:spcAft>
                <a:spcPts val="567"/>
              </a:spcAft>
              <a:defRPr/>
            </a:pPr>
            <a:r>
              <a:rPr lang="en-US" altLang="ko-KR">
                <a:solidFill>
                  <a:schemeClr val="tx1"/>
                </a:solidFill>
                <a:latin typeface="나눔고딕코딩" pitchFamily="49" charset="-127"/>
                <a:ea typeface="나눔고딕코딩" pitchFamily="49" charset="-127"/>
              </a:rPr>
              <a:t>	    System.out.println( inx + “. </a:t>
            </a:r>
            <a:r>
              <a:rPr lang="en-ID" altLang="ko-KR" err="1">
                <a:solidFill>
                  <a:schemeClr val="tx1"/>
                </a:solidFill>
                <a:latin typeface="나눔고딕코딩" pitchFamily="49" charset="-127"/>
                <a:ea typeface="나눔고딕코딩" pitchFamily="49" charset="-127"/>
              </a:rPr>
              <a:t>Membuat</a:t>
            </a:r>
            <a:r>
              <a:rPr lang="en-ID" altLang="ko-KR">
                <a:solidFill>
                  <a:schemeClr val="tx1"/>
                </a:solidFill>
                <a:latin typeface="나눔고딕코딩" pitchFamily="49" charset="-127"/>
                <a:ea typeface="나눔고딕코딩" pitchFamily="49" charset="-127"/>
              </a:rPr>
              <a:t> </a:t>
            </a:r>
            <a:r>
              <a:rPr lang="en-ID" altLang="ko-KR" err="1">
                <a:solidFill>
                  <a:schemeClr val="tx1"/>
                </a:solidFill>
                <a:latin typeface="나눔고딕코딩" pitchFamily="49" charset="-127"/>
                <a:ea typeface="나눔고딕코딩" pitchFamily="49" charset="-127"/>
              </a:rPr>
              <a:t>hotteok</a:t>
            </a:r>
            <a:r>
              <a:rPr lang="en-US" altLang="ko-KR">
                <a:solidFill>
                  <a:schemeClr val="tx1"/>
                </a:solidFill>
                <a:latin typeface="나눔고딕코딩" pitchFamily="49" charset="-127"/>
                <a:ea typeface="나눔고딕코딩" pitchFamily="49" charset="-127"/>
              </a:rPr>
              <a:t>.”);</a:t>
            </a:r>
          </a:p>
          <a:p>
            <a:pPr eaLnBrk="1" hangingPunct="1">
              <a:spcAft>
                <a:spcPts val="567"/>
              </a:spcAft>
              <a:defRPr/>
            </a:pPr>
            <a:r>
              <a:rPr lang="en-US" altLang="ko-KR">
                <a:solidFill>
                  <a:schemeClr val="tx1"/>
                </a:solidFill>
                <a:latin typeface="나눔고딕코딩" pitchFamily="49" charset="-127"/>
                <a:ea typeface="나눔고딕코딩" pitchFamily="49" charset="-127"/>
              </a:rPr>
              <a:t>	}</a:t>
            </a:r>
          </a:p>
        </p:txBody>
      </p:sp>
      <p:sp>
        <p:nvSpPr>
          <p:cNvPr id="107525" name="제목 5">
            <a:extLst>
              <a:ext uri="{FF2B5EF4-FFF2-40B4-BE49-F238E27FC236}">
                <a16:creationId xmlns:a16="http://schemas.microsoft.com/office/drawing/2014/main" id="{86BC0921-EE18-8463-86D5-20F862AE0FFA}"/>
              </a:ext>
            </a:extLst>
          </p:cNvPr>
          <p:cNvSpPr>
            <a:spLocks/>
          </p:cNvSpPr>
          <p:nvPr/>
        </p:nvSpPr>
        <p:spPr bwMode="auto">
          <a:xfrm>
            <a:off x="123825" y="49213"/>
            <a:ext cx="44862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US" altLang="ko-KR" sz="2300" b="1">
                <a:solidFill>
                  <a:schemeClr val="bg1"/>
                </a:solidFill>
                <a:latin typeface="LG스마트체2.0 Regular" panose="020B0600000101010101" pitchFamily="50" charset="-127"/>
                <a:ea typeface="LG스마트체2.0 Regular" panose="020B0600000101010101" pitchFamily="50" charset="-127"/>
              </a:rPr>
              <a:t>for (</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Pernyataan perulangan</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모서리가 둥근 직사각형 1">
            <a:extLst>
              <a:ext uri="{FF2B5EF4-FFF2-40B4-BE49-F238E27FC236}">
                <a16:creationId xmlns:a16="http://schemas.microsoft.com/office/drawing/2014/main" id="{E7E44B49-6990-4010-7F25-D88BD672B848}"/>
              </a:ext>
            </a:extLst>
          </p:cNvPr>
          <p:cNvSpPr/>
          <p:nvPr/>
        </p:nvSpPr>
        <p:spPr>
          <a:xfrm>
            <a:off x="350838" y="1017588"/>
            <a:ext cx="8442325" cy="5381625"/>
          </a:xfrm>
          <a:prstGeom prst="roundRect">
            <a:avLst>
              <a:gd name="adj" fmla="val 3530"/>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102114" rIns="136152" bIns="102114"/>
          <a:lstStyle/>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Package Name</a:t>
            </a:r>
            <a:r>
              <a:rPr lang="ko-KR" altLang="en-US" b="1">
                <a:solidFill>
                  <a:schemeClr val="tx1"/>
                </a:solidFill>
                <a:latin typeface="LG스마트체2.0 Regular" panose="020B0600000101010101" pitchFamily="50" charset="-127"/>
                <a:ea typeface="LG스마트체2.0 Regular" panose="020B0600000101010101" pitchFamily="50" charset="-127"/>
              </a:rPr>
              <a:t> </a:t>
            </a:r>
            <a:r>
              <a:rPr lang="en-US" altLang="ko-KR" b="1">
                <a:solidFill>
                  <a:schemeClr val="tx1"/>
                </a:solidFill>
                <a:latin typeface="LG스마트체2.0 Regular" panose="020B0600000101010101" pitchFamily="50" charset="-127"/>
                <a:ea typeface="LG스마트체2.0 Regular" panose="020B0600000101010101" pitchFamily="50" charset="-127"/>
              </a:rPr>
              <a:t>: </a:t>
            </a:r>
            <a:r>
              <a:rPr lang="en-US" altLang="ko-KR">
                <a:solidFill>
                  <a:schemeClr val="tx1"/>
                </a:solidFill>
                <a:latin typeface="나눔고딕코딩" pitchFamily="49" charset="-127"/>
                <a:ea typeface="나눔고딕코딩" pitchFamily="49" charset="-127"/>
              </a:rPr>
              <a:t>com.lgcns.chapter05</a:t>
            </a: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Class Name</a:t>
            </a:r>
            <a:r>
              <a:rPr lang="ko-KR" altLang="en-US" b="1">
                <a:solidFill>
                  <a:schemeClr val="tx1"/>
                </a:solidFill>
                <a:latin typeface="LG스마트체2.0 Regular" panose="020B0600000101010101" pitchFamily="50" charset="-127"/>
                <a:ea typeface="LG스마트체2.0 Regular" panose="020B0600000101010101" pitchFamily="50" charset="-127"/>
              </a:rPr>
              <a:t> </a:t>
            </a:r>
            <a:r>
              <a:rPr lang="en-US" altLang="ko-KR" b="1">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나눔고딕코딩" pitchFamily="49" charset="-127"/>
                <a:ea typeface="나눔고딕코딩" pitchFamily="49" charset="-127"/>
              </a:rPr>
              <a:t>PrintStarTest</a:t>
            </a:r>
            <a:endParaRPr lang="en-US" altLang="ko-KR">
              <a:solidFill>
                <a:schemeClr val="tx1"/>
              </a:solidFill>
              <a:latin typeface="나눔고딕코딩" pitchFamily="49" charset="-127"/>
              <a:ea typeface="나눔고딕코딩" pitchFamily="49" charset="-127"/>
            </a:endParaRPr>
          </a:p>
          <a:p>
            <a:pPr eaLnBrk="1" hangingPunct="1">
              <a:spcAft>
                <a:spcPts val="567"/>
              </a:spcAft>
              <a:defRPr/>
            </a:pPr>
            <a:endParaRPr lang="en-US" altLang="ko-KR" sz="1400" b="1">
              <a:solidFill>
                <a:schemeClr val="tx1"/>
              </a:solidFill>
              <a:latin typeface="LG스마트체2.0 Regular" panose="020B0600000101010101" pitchFamily="50" charset="-127"/>
              <a:ea typeface="LG스마트체2.0 Regular" panose="020B0600000101010101" pitchFamily="50" charset="-127"/>
            </a:endParaRP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Isi </a:t>
            </a:r>
            <a:r>
              <a:rPr lang="en-ID" altLang="ko-KR" b="1" err="1">
                <a:solidFill>
                  <a:schemeClr val="tx1"/>
                </a:solidFill>
                <a:latin typeface="LG스마트체2.0 Regular" panose="020B0600000101010101" pitchFamily="50" charset="-127"/>
                <a:ea typeface="LG스마트체2.0 Regular" panose="020B0600000101010101" pitchFamily="50" charset="-127"/>
              </a:rPr>
              <a:t>implementasi</a:t>
            </a: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ID" altLang="ko-KR">
                <a:solidFill>
                  <a:schemeClr val="tx1"/>
                </a:solidFill>
                <a:latin typeface="LG스마트체2.0 Regular" panose="020B0600000101010101" pitchFamily="50" charset="-127"/>
                <a:ea typeface="LG스마트체2.0 Regular" panose="020B0600000101010101" pitchFamily="50" charset="-127"/>
              </a:rPr>
              <a:t>Mari </a:t>
            </a:r>
            <a:r>
              <a:rPr lang="en-ID" altLang="ko-KR" err="1">
                <a:solidFill>
                  <a:schemeClr val="tx1"/>
                </a:solidFill>
                <a:latin typeface="LG스마트체2.0 Regular" panose="020B0600000101010101" pitchFamily="50" charset="-127"/>
                <a:ea typeface="LG스마트체2.0 Regular" panose="020B0600000101010101" pitchFamily="50" charset="-127"/>
              </a:rPr>
              <a:t>kita</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keluarkan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bintang</a:t>
            </a:r>
            <a:r>
              <a:rPr lang="en-ID" altLang="ko-KR">
                <a:solidFill>
                  <a:schemeClr val="tx1"/>
                </a:solidFill>
                <a:latin typeface="LG스마트체2.0 Regular" panose="020B0600000101010101" pitchFamily="50" charset="-127"/>
                <a:ea typeface="LG스마트체2.0 Regular" panose="020B0600000101010101" pitchFamily="50" charset="-127"/>
              </a:rPr>
              <a:t> (*) </a:t>
            </a:r>
            <a:r>
              <a:rPr lang="en-ID" altLang="ko-KR" err="1">
                <a:solidFill>
                  <a:schemeClr val="tx1"/>
                </a:solidFill>
                <a:latin typeface="LG스마트체2.0 Regular" panose="020B0600000101010101" pitchFamily="50" charset="-127"/>
                <a:ea typeface="LG스마트체2.0 Regular" panose="020B0600000101010101" pitchFamily="50" charset="-127"/>
              </a:rPr>
              <a:t>seperti</a:t>
            </a:r>
            <a:r>
              <a:rPr lang="en-ID" altLang="ko-KR">
                <a:solidFill>
                  <a:schemeClr val="tx1"/>
                </a:solidFill>
                <a:latin typeface="LG스마트체2.0 Regular" panose="020B0600000101010101" pitchFamily="50" charset="-127"/>
                <a:ea typeface="LG스마트체2.0 Regular" panose="020B0600000101010101" pitchFamily="50" charset="-127"/>
              </a:rPr>
              <a:t> yang </a:t>
            </a:r>
            <a:r>
              <a:rPr lang="en-ID" altLang="ko-KR" err="1">
                <a:solidFill>
                  <a:schemeClr val="tx1"/>
                </a:solidFill>
                <a:latin typeface="LG스마트체2.0 Regular" panose="020B0600000101010101" pitchFamily="50" charset="-127"/>
                <a:ea typeface="LG스마트체2.0 Regular" panose="020B0600000101010101" pitchFamily="50" charset="-127"/>
              </a:rPr>
              <a:t>ditunjukkan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dalam</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eksekusi</a:t>
            </a:r>
            <a:r>
              <a:rPr lang="en-ID" altLang="ko-KR">
                <a:solidFill>
                  <a:schemeClr val="tx1"/>
                </a:solidFill>
                <a:latin typeface="LG스마트체2.0 Regular" panose="020B0600000101010101" pitchFamily="50" charset="-127"/>
                <a:ea typeface="LG스마트체2.0 Regular" panose="020B0600000101010101" pitchFamily="50" charset="-127"/>
              </a:rPr>
              <a:t> di </a:t>
            </a:r>
            <a:r>
              <a:rPr lang="en-ID" altLang="ko-KR" err="1">
                <a:solidFill>
                  <a:schemeClr val="tx1"/>
                </a:solidFill>
                <a:latin typeface="LG스마트체2.0 Regular" panose="020B0600000101010101" pitchFamily="50" charset="-127"/>
                <a:ea typeface="LG스마트체2.0 Regular" panose="020B0600000101010101" pitchFamily="50" charset="-127"/>
              </a:rPr>
              <a:t>bawah</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ini</a:t>
            </a:r>
            <a:r>
              <a:rPr lang="en-ID" altLang="ko-KR">
                <a:solidFill>
                  <a:schemeClr val="tx1"/>
                </a:solidFill>
                <a:latin typeface="LG스마트체2.0 Regular" panose="020B0600000101010101" pitchFamily="50" charset="-127"/>
                <a:ea typeface="LG스마트체2.0 Regular" panose="020B0600000101010101" pitchFamily="50" charset="-127"/>
              </a:rPr>
              <a:t>.</a:t>
            </a:r>
            <a:endParaRPr lang="en-US" altLang="ko-KR">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endParaRPr lang="en-US" altLang="ko-KR">
              <a:solidFill>
                <a:schemeClr val="tx1"/>
              </a:solidFill>
              <a:latin typeface="LG스마트체2.0 Regular" panose="020B0600000101010101" pitchFamily="50" charset="-127"/>
              <a:ea typeface="LG스마트체2.0 Regular" panose="020B0600000101010101" pitchFamily="50" charset="-127"/>
            </a:endParaRP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Hasil Run</a:t>
            </a: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Box 2">
            <a:extLst>
              <a:ext uri="{FF2B5EF4-FFF2-40B4-BE49-F238E27FC236}">
                <a16:creationId xmlns:a16="http://schemas.microsoft.com/office/drawing/2014/main" id="{A38EB41C-09FE-8DDE-F732-0DC439E3EF80}"/>
              </a:ext>
            </a:extLst>
          </p:cNvPr>
          <p:cNvSpPr txBox="1">
            <a:spLocks noChangeArrowheads="1"/>
          </p:cNvSpPr>
          <p:nvPr/>
        </p:nvSpPr>
        <p:spPr bwMode="auto">
          <a:xfrm>
            <a:off x="350838" y="620713"/>
            <a:ext cx="8442325"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57" tIns="43228" rIns="86457" bIns="43228">
            <a:spAutoFit/>
          </a:bodyPr>
          <a:lstStyle>
            <a:lvl1pPr marL="269875" indent="-2698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lnSpc>
                <a:spcPct val="150000"/>
              </a:lnSpc>
              <a:buFont typeface="Wingdings" pitchFamily="2" charset="2"/>
              <a:buChar char="Ø"/>
            </a:pPr>
            <a:r>
              <a:rPr lang="en-ID" altLang="ko-KR">
                <a:latin typeface="LG스마트체2.0 Regular" panose="020B0600000101010101" pitchFamily="50" charset="-127"/>
                <a:ea typeface="LG스마트체2.0 Regular" panose="020B0600000101010101" pitchFamily="50" charset="-127"/>
              </a:rPr>
              <a:t>Menggunakan Syarat berulang</a:t>
            </a:r>
            <a:r>
              <a:rPr lang="ko-KR" altLang="en-US">
                <a:latin typeface="LG스마트체2.0 Regular" panose="020B0600000101010101" pitchFamily="50" charset="-127"/>
                <a:ea typeface="LG스마트체2.0 Regular" panose="020B0600000101010101" pitchFamily="50" charset="-127"/>
              </a:rPr>
              <a:t> </a:t>
            </a:r>
            <a:r>
              <a:rPr lang="en-US" altLang="ko-KR">
                <a:latin typeface="나눔고딕코딩" pitchFamily="49" charset="-127"/>
                <a:ea typeface="나눔고딕코딩" pitchFamily="49" charset="-127"/>
              </a:rPr>
              <a:t>while</a:t>
            </a:r>
            <a:endParaRPr lang="en-US" altLang="ko-KR">
              <a:latin typeface="LG스마트체2.0 Regular" panose="020B0600000101010101" pitchFamily="50" charset="-127"/>
              <a:ea typeface="LG스마트체2.0 Regular" panose="020B0600000101010101" pitchFamily="50" charset="-127"/>
            </a:endParaRPr>
          </a:p>
          <a:p>
            <a:pPr lvl="1" eaLnBrk="1" latinLnBrk="1" hangingPunct="1">
              <a:lnSpc>
                <a:spcPct val="150000"/>
              </a:lnSpc>
              <a:buFont typeface="Arial" panose="020B0604020202020204" pitchFamily="34" charset="0"/>
              <a:buChar char="•"/>
            </a:pPr>
            <a:r>
              <a:rPr lang="en-ID" altLang="ko-KR" sz="1600">
                <a:latin typeface="LG스마트체2.0 Regular" panose="020B0600000101010101" pitchFamily="50" charset="-127"/>
                <a:ea typeface="LG스마트체2.0 Regular" panose="020B0600000101010101" pitchFamily="50" charset="-127"/>
              </a:rPr>
              <a:t>Gunakan ini ketika Anda tidak tahu berapa kali Anda perlu mengulangi tindakan yang sama.</a:t>
            </a:r>
            <a:endParaRPr lang="en-US" altLang="ko-KR" sz="1600">
              <a:latin typeface="LG스마트체2.0 Regular" panose="020B0600000101010101" pitchFamily="50" charset="-127"/>
              <a:ea typeface="LG스마트체2.0 Regular" panose="020B0600000101010101" pitchFamily="50" charset="-127"/>
            </a:endParaRPr>
          </a:p>
        </p:txBody>
      </p:sp>
      <p:sp>
        <p:nvSpPr>
          <p:cNvPr id="8" name="모서리가 둥근 직사각형 7">
            <a:extLst>
              <a:ext uri="{FF2B5EF4-FFF2-40B4-BE49-F238E27FC236}">
                <a16:creationId xmlns:a16="http://schemas.microsoft.com/office/drawing/2014/main" id="{C9DCD831-EDD4-3D2C-4472-78EDAF37000E}"/>
              </a:ext>
            </a:extLst>
          </p:cNvPr>
          <p:cNvSpPr/>
          <p:nvPr/>
        </p:nvSpPr>
        <p:spPr>
          <a:xfrm>
            <a:off x="715963" y="2049463"/>
            <a:ext cx="7713662" cy="1270000"/>
          </a:xfrm>
          <a:prstGeom prst="roundRect">
            <a:avLst>
              <a:gd name="adj" fmla="val 14279"/>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err="1">
                <a:solidFill>
                  <a:schemeClr val="tx1"/>
                </a:solidFill>
                <a:latin typeface="나눔고딕코딩" pitchFamily="49" charset="-127"/>
                <a:ea typeface="나눔고딕코딩" pitchFamily="49" charset="-127"/>
              </a:rPr>
              <a:t>grmr</a:t>
            </a:r>
            <a:r>
              <a:rPr lang="en-US" altLang="ko-KR">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while ( </a:t>
            </a:r>
            <a:r>
              <a:rPr lang="en-ID" altLang="ko-KR" b="1" err="1">
                <a:solidFill>
                  <a:schemeClr val="tx1"/>
                </a:solidFill>
                <a:latin typeface="나눔고딕코딩" pitchFamily="49" charset="-127"/>
                <a:ea typeface="나눔고딕코딩" pitchFamily="49" charset="-127"/>
              </a:rPr>
              <a:t>syarat</a:t>
            </a:r>
            <a:r>
              <a:rPr lang="ko-KR" altLang="en-US" b="1">
                <a:solidFill>
                  <a:schemeClr val="tx1"/>
                </a:solidFill>
                <a:latin typeface="나눔고딕코딩" pitchFamily="49" charset="-127"/>
                <a:ea typeface="나눔고딕코딩" pitchFamily="49" charset="-127"/>
              </a:rPr>
              <a:t> </a:t>
            </a:r>
            <a:r>
              <a:rPr lang="en-US" altLang="ko-KR" b="1">
                <a:solidFill>
                  <a:schemeClr val="tx1"/>
                </a:solidFill>
                <a:latin typeface="나눔고딕코딩" pitchFamily="49" charset="-127"/>
                <a:ea typeface="나눔고딕코딩" pitchFamily="49" charset="-127"/>
              </a:rPr>
              <a:t>) {</a:t>
            </a:r>
          </a:p>
          <a:p>
            <a:pPr eaLnBrk="1" hangingPunct="1">
              <a:spcAft>
                <a:spcPts val="567"/>
              </a:spcAft>
              <a:defRPr/>
            </a:pPr>
            <a:r>
              <a:rPr lang="en-US" altLang="ko-KR" b="1">
                <a:solidFill>
                  <a:schemeClr val="tx1"/>
                </a:solidFill>
                <a:latin typeface="나눔고딕코딩" pitchFamily="49" charset="-127"/>
                <a:ea typeface="나눔고딕코딩" pitchFamily="49" charset="-127"/>
              </a:rPr>
              <a:t>	    </a:t>
            </a:r>
            <a:r>
              <a:rPr lang="en-US"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syarat</a:t>
            </a:r>
            <a:r>
              <a:rPr lang="en-ID" altLang="ko-KR" i="1">
                <a:solidFill>
                  <a:schemeClr val="tx1"/>
                </a:solidFill>
                <a:latin typeface="나눔고딕코딩" pitchFamily="49" charset="-127"/>
                <a:ea typeface="나눔고딕코딩" pitchFamily="49" charset="-127"/>
              </a:rPr>
              <a:t> </a:t>
            </a:r>
            <a:r>
              <a:rPr lang="en-US" altLang="ko-KR" i="1">
                <a:solidFill>
                  <a:schemeClr val="tx1"/>
                </a:solidFill>
                <a:latin typeface="나눔고딕코딩" pitchFamily="49" charset="-127"/>
                <a:ea typeface="나눔고딕코딩" pitchFamily="49" charset="-127"/>
              </a:rPr>
              <a:t>(true)</a:t>
            </a:r>
            <a:r>
              <a:rPr lang="ko-KR" altLang="en-US"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saat</a:t>
            </a:r>
            <a:r>
              <a:rPr lang="en-ID"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pengulangannya</a:t>
            </a:r>
            <a:r>
              <a:rPr lang="en-ID" altLang="ko-KR" i="1">
                <a:solidFill>
                  <a:schemeClr val="tx1"/>
                </a:solidFill>
                <a:latin typeface="나눔고딕코딩" pitchFamily="49" charset="-127"/>
                <a:ea typeface="나눔고딕코딩" pitchFamily="49" charset="-127"/>
              </a:rPr>
              <a:t> </a:t>
            </a:r>
            <a:r>
              <a:rPr lang="en-ID" altLang="ko-KR" i="1" err="1">
                <a:solidFill>
                  <a:schemeClr val="tx1"/>
                </a:solidFill>
                <a:latin typeface="나눔고딕코딩" pitchFamily="49" charset="-127"/>
                <a:ea typeface="나눔고딕코딩" pitchFamily="49" charset="-127"/>
              </a:rPr>
              <a:t>berfungsi</a:t>
            </a:r>
            <a:endParaRPr lang="en-US" altLang="ko-KR" i="1">
              <a:solidFill>
                <a:schemeClr val="tx1"/>
              </a:solidFill>
              <a:latin typeface="나눔고딕코딩" pitchFamily="49" charset="-127"/>
              <a:ea typeface="나눔고딕코딩" pitchFamily="49" charset="-127"/>
            </a:endParaRPr>
          </a:p>
          <a:p>
            <a:pPr eaLnBrk="1" hangingPunct="1">
              <a:spcAft>
                <a:spcPts val="567"/>
              </a:spcAft>
              <a:defRPr/>
            </a:pPr>
            <a:r>
              <a:rPr lang="en-US" altLang="ko-KR" b="1">
                <a:solidFill>
                  <a:schemeClr val="tx1"/>
                </a:solidFill>
                <a:latin typeface="나눔고딕코딩" pitchFamily="49" charset="-127"/>
                <a:ea typeface="나눔고딕코딩" pitchFamily="49" charset="-127"/>
              </a:rPr>
              <a:t>	}</a:t>
            </a:r>
          </a:p>
        </p:txBody>
      </p:sp>
      <p:sp>
        <p:nvSpPr>
          <p:cNvPr id="9" name="모서리가 둥근 직사각형 8">
            <a:extLst>
              <a:ext uri="{FF2B5EF4-FFF2-40B4-BE49-F238E27FC236}">
                <a16:creationId xmlns:a16="http://schemas.microsoft.com/office/drawing/2014/main" id="{81225A7E-A28A-EC24-0F75-9E93A69E38AF}"/>
              </a:ext>
            </a:extLst>
          </p:cNvPr>
          <p:cNvSpPr/>
          <p:nvPr/>
        </p:nvSpPr>
        <p:spPr>
          <a:xfrm>
            <a:off x="715963" y="3571875"/>
            <a:ext cx="7713662" cy="1414463"/>
          </a:xfrm>
          <a:prstGeom prst="roundRect">
            <a:avLst>
              <a:gd name="adj" fmla="val 13489"/>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nchor="ctr"/>
          <a:lstStyle/>
          <a:p>
            <a:pPr eaLnBrk="1" hangingPunct="1">
              <a:spcAft>
                <a:spcPts val="567"/>
              </a:spcAft>
              <a:defRPr/>
            </a:pPr>
            <a:r>
              <a:rPr lang="en-US" altLang="ko-KR">
                <a:solidFill>
                  <a:schemeClr val="tx1"/>
                </a:solidFill>
                <a:latin typeface="나눔고딕코딩" pitchFamily="49" charset="-127"/>
                <a:ea typeface="나눔고딕코딩" pitchFamily="49" charset="-127"/>
              </a:rPr>
              <a:t>[</a:t>
            </a:r>
            <a:r>
              <a:rPr lang="en-ID" altLang="ko-KR">
                <a:solidFill>
                  <a:schemeClr val="tx1"/>
                </a:solidFill>
                <a:latin typeface="나눔고딕코딩" pitchFamily="49" charset="-127"/>
                <a:ea typeface="나눔고딕코딩" pitchFamily="49" charset="-127"/>
              </a:rPr>
              <a:t>Ex</a:t>
            </a:r>
            <a:r>
              <a:rPr lang="en-US" altLang="ko-KR">
                <a:solidFill>
                  <a:schemeClr val="tx1"/>
                </a:solidFill>
                <a:latin typeface="나눔고딕코딩" pitchFamily="49" charset="-127"/>
                <a:ea typeface="나눔고딕코딩" pitchFamily="49" charset="-127"/>
              </a:rPr>
              <a:t>]	while ( start &lt; 10 ) {</a:t>
            </a:r>
          </a:p>
          <a:p>
            <a:pPr eaLnBrk="1" hangingPunct="1">
              <a:spcAft>
                <a:spcPts val="567"/>
              </a:spcAft>
              <a:defRPr/>
            </a:pPr>
            <a:r>
              <a:rPr lang="en-US" altLang="ko-KR">
                <a:solidFill>
                  <a:schemeClr val="tx1"/>
                </a:solidFill>
                <a:latin typeface="나눔고딕코딩" pitchFamily="49" charset="-127"/>
                <a:ea typeface="나눔고딕코딩" pitchFamily="49" charset="-127"/>
              </a:rPr>
              <a:t>	    System.out.println();</a:t>
            </a:r>
          </a:p>
          <a:p>
            <a:pPr eaLnBrk="1" hangingPunct="1">
              <a:spcAft>
                <a:spcPts val="567"/>
              </a:spcAft>
              <a:defRPr/>
            </a:pPr>
            <a:r>
              <a:rPr lang="en-US" altLang="ko-KR">
                <a:solidFill>
                  <a:schemeClr val="tx1"/>
                </a:solidFill>
                <a:latin typeface="나눔고딕코딩" pitchFamily="49" charset="-127"/>
                <a:ea typeface="나눔고딕코딩" pitchFamily="49" charset="-127"/>
              </a:rPr>
              <a:t>	}</a:t>
            </a:r>
          </a:p>
        </p:txBody>
      </p:sp>
      <p:sp>
        <p:nvSpPr>
          <p:cNvPr id="148485" name="제목 5">
            <a:extLst>
              <a:ext uri="{FF2B5EF4-FFF2-40B4-BE49-F238E27FC236}">
                <a16:creationId xmlns:a16="http://schemas.microsoft.com/office/drawing/2014/main" id="{1CA5E684-6D57-76C5-555D-331B43E98DE1}"/>
              </a:ext>
            </a:extLst>
          </p:cNvPr>
          <p:cNvSpPr>
            <a:spLocks/>
          </p:cNvSpPr>
          <p:nvPr/>
        </p:nvSpPr>
        <p:spPr bwMode="auto">
          <a:xfrm>
            <a:off x="123825" y="49213"/>
            <a:ext cx="44862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US" altLang="ko-KR" sz="2300" b="1">
                <a:solidFill>
                  <a:schemeClr val="bg1"/>
                </a:solidFill>
                <a:latin typeface="LG스마트체2.0 Regular" panose="020B0600000101010101" pitchFamily="50" charset="-127"/>
                <a:ea typeface="LG스마트체2.0 Regular" panose="020B0600000101010101" pitchFamily="50" charset="-127"/>
              </a:rPr>
              <a:t>while (</a:t>
            </a:r>
            <a:r>
              <a:rPr kumimoji="0" lang="en-ID" altLang="ko-KR" sz="2300" b="1">
                <a:solidFill>
                  <a:schemeClr val="bg1"/>
                </a:solidFill>
                <a:latin typeface="LG스마트체2.0 Regular" panose="020B0600000101010101" pitchFamily="50" charset="-127"/>
                <a:ea typeface="LG스마트체2.0 Regular" panose="020B0600000101010101" pitchFamily="50" charset="-127"/>
              </a:rPr>
              <a:t>berulang</a:t>
            </a:r>
            <a:r>
              <a:rPr kumimoji="0" lang="en-US" altLang="ko-KR" sz="2300" b="1">
                <a:solidFill>
                  <a:schemeClr val="bg1"/>
                </a:solidFill>
                <a:latin typeface="LG스마트체2.0 Regular" panose="020B0600000101010101" pitchFamily="50" charset="-127"/>
                <a:ea typeface="LG스마트체2.0 Regular" panose="020B0600000101010101" pitchFamily="50" charset="-127"/>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제목 5">
            <a:extLst>
              <a:ext uri="{FF2B5EF4-FFF2-40B4-BE49-F238E27FC236}">
                <a16:creationId xmlns:a16="http://schemas.microsoft.com/office/drawing/2014/main" id="{01E5969D-92DA-086F-A851-D448A9D4900B}"/>
              </a:ext>
            </a:extLst>
          </p:cNvPr>
          <p:cNvSpPr>
            <a:spLocks/>
          </p:cNvSpPr>
          <p:nvPr/>
        </p:nvSpPr>
        <p:spPr bwMode="auto">
          <a:xfrm>
            <a:off x="123825" y="49213"/>
            <a:ext cx="49164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200" tIns="43100" rIns="86200" bIns="43100" anchor="ctr"/>
          <a:lstStyle>
            <a:lvl1pPr indent="84138" defTabSz="922338">
              <a:defRPr kumimoji="1">
                <a:solidFill>
                  <a:schemeClr val="tx1"/>
                </a:solidFill>
                <a:latin typeface="굴림" panose="020B0600000101010101" pitchFamily="34" charset="-127"/>
                <a:ea typeface="굴림" panose="020B0600000101010101" pitchFamily="34" charset="-127"/>
              </a:defRPr>
            </a:lvl1pPr>
            <a:lvl2pPr marL="742950" indent="-285750" defTabSz="922338">
              <a:defRPr kumimoji="1">
                <a:solidFill>
                  <a:schemeClr val="tx1"/>
                </a:solidFill>
                <a:latin typeface="굴림" panose="020B0600000101010101" pitchFamily="34" charset="-127"/>
                <a:ea typeface="굴림" panose="020B0600000101010101" pitchFamily="34" charset="-127"/>
              </a:defRPr>
            </a:lvl2pPr>
            <a:lvl3pPr marL="1143000" indent="-228600" defTabSz="922338">
              <a:defRPr kumimoji="1">
                <a:solidFill>
                  <a:schemeClr val="tx1"/>
                </a:solidFill>
                <a:latin typeface="굴림" panose="020B0600000101010101" pitchFamily="34" charset="-127"/>
                <a:ea typeface="굴림" panose="020B0600000101010101" pitchFamily="34" charset="-127"/>
              </a:defRPr>
            </a:lvl3pPr>
            <a:lvl4pPr marL="1600200" indent="-228600" defTabSz="922338">
              <a:defRPr kumimoji="1">
                <a:solidFill>
                  <a:schemeClr val="tx1"/>
                </a:solidFill>
                <a:latin typeface="굴림" panose="020B0600000101010101" pitchFamily="34" charset="-127"/>
                <a:ea typeface="굴림" panose="020B0600000101010101" pitchFamily="34" charset="-127"/>
              </a:defRPr>
            </a:lvl4pPr>
            <a:lvl5pPr marL="2057400" indent="-228600" defTabSz="922338">
              <a:defRPr kumimoji="1">
                <a:solidFill>
                  <a:schemeClr val="tx1"/>
                </a:solidFill>
                <a:latin typeface="굴림" panose="020B0600000101010101" pitchFamily="34" charset="-127"/>
                <a:ea typeface="굴림" panose="020B0600000101010101" pitchFamily="34" charset="-127"/>
              </a:defRPr>
            </a:lvl5pPr>
            <a:lvl6pPr marL="25146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defTabSz="922338"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kumimoji="0" lang="en-US" altLang="ko-KR" sz="2300" b="1">
                <a:solidFill>
                  <a:schemeClr val="bg1"/>
                </a:solidFill>
                <a:latin typeface="LG스마트체2.0 Regular" panose="020B0600000101010101" pitchFamily="50" charset="-127"/>
                <a:ea typeface="LG스마트체2.0 Regular" panose="020B0600000101010101" pitchFamily="50" charset="-127"/>
              </a:rPr>
              <a:t>[Contoh] while (kalimat berulang)</a:t>
            </a:r>
          </a:p>
        </p:txBody>
      </p:sp>
      <p:sp>
        <p:nvSpPr>
          <p:cNvPr id="3" name="모서리가 둥근 직사각형 2">
            <a:extLst>
              <a:ext uri="{FF2B5EF4-FFF2-40B4-BE49-F238E27FC236}">
                <a16:creationId xmlns:a16="http://schemas.microsoft.com/office/drawing/2014/main" id="{6B785663-A54A-5E67-3CB1-52A2E510641C}"/>
              </a:ext>
            </a:extLst>
          </p:cNvPr>
          <p:cNvSpPr/>
          <p:nvPr/>
        </p:nvSpPr>
        <p:spPr>
          <a:xfrm>
            <a:off x="350838" y="1017588"/>
            <a:ext cx="8442325" cy="5383212"/>
          </a:xfrm>
          <a:prstGeom prst="roundRect">
            <a:avLst>
              <a:gd name="adj" fmla="val 3840"/>
            </a:avLst>
          </a:prstGeom>
          <a:solidFill>
            <a:schemeClr val="accent5">
              <a:lumMod val="20000"/>
              <a:lumOff val="80000"/>
              <a:alpha val="7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6152" tIns="34038" rIns="136152" bIns="34038"/>
          <a:lstStyle/>
          <a:p>
            <a:pPr eaLnBrk="1" hangingPunct="1">
              <a:spcAft>
                <a:spcPts val="567"/>
              </a:spcAft>
              <a:defRPr/>
            </a:pPr>
            <a:r>
              <a:rPr lang="en-US" altLang="ko-KR" sz="1300">
                <a:solidFill>
                  <a:schemeClr val="tx1"/>
                </a:solidFill>
                <a:latin typeface="나눔고딕코딩" pitchFamily="49" charset="-127"/>
                <a:ea typeface="나눔고딕코딩" pitchFamily="49" charset="-127"/>
              </a:rPr>
              <a:t>package com.lgcns.chapter05;</a:t>
            </a:r>
          </a:p>
          <a:p>
            <a:pPr eaLnBrk="1" hangingPunct="1">
              <a:spcAft>
                <a:spcPts val="567"/>
              </a:spcAft>
              <a:defRPr/>
            </a:pPr>
            <a:endParaRPr lang="en-US" altLang="ko-KR" sz="13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Mulai</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dari</a:t>
            </a:r>
            <a:r>
              <a:rPr lang="en-US" altLang="ko-KR" sz="1300">
                <a:solidFill>
                  <a:schemeClr val="tx1"/>
                </a:solidFill>
                <a:latin typeface="나눔고딕코딩" pitchFamily="49" charset="-127"/>
                <a:ea typeface="나눔고딕코딩" pitchFamily="49" charset="-127"/>
              </a:rPr>
              <a:t> 1, </a:t>
            </a:r>
            <a:r>
              <a:rPr lang="en-US" altLang="ko-KR" sz="1300" err="1">
                <a:solidFill>
                  <a:schemeClr val="tx1"/>
                </a:solidFill>
                <a:latin typeface="나눔고딕코딩" pitchFamily="49" charset="-127"/>
                <a:ea typeface="나눔고딕코딩" pitchFamily="49" charset="-127"/>
              </a:rPr>
              <a:t>tambahkan</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angka</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dalam</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kelipatan</a:t>
            </a:r>
            <a:r>
              <a:rPr lang="en-US" altLang="ko-KR" sz="1300">
                <a:solidFill>
                  <a:schemeClr val="tx1"/>
                </a:solidFill>
                <a:latin typeface="나눔고딕코딩" pitchFamily="49" charset="-127"/>
                <a:ea typeface="나눔고딕코딩" pitchFamily="49" charset="-127"/>
              </a:rPr>
              <a:t> 1, </a:t>
            </a:r>
            <a:r>
              <a:rPr lang="en-US" altLang="ko-KR" sz="1300" err="1">
                <a:solidFill>
                  <a:schemeClr val="tx1"/>
                </a:solidFill>
                <a:latin typeface="나눔고딕코딩" pitchFamily="49" charset="-127"/>
                <a:ea typeface="나눔고딕코딩" pitchFamily="49" charset="-127"/>
              </a:rPr>
              <a:t>satu</a:t>
            </a:r>
            <a:r>
              <a:rPr lang="en-US" altLang="ko-KR" sz="1300">
                <a:solidFill>
                  <a:schemeClr val="tx1"/>
                </a:solidFill>
                <a:latin typeface="나눔고딕코딩" pitchFamily="49" charset="-127"/>
                <a:ea typeface="나눔고딕코딩" pitchFamily="49" charset="-127"/>
              </a:rPr>
              <a:t> demi </a:t>
            </a:r>
            <a:r>
              <a:rPr lang="en-US" altLang="ko-KR" sz="1300" err="1">
                <a:solidFill>
                  <a:schemeClr val="tx1"/>
                </a:solidFill>
                <a:latin typeface="나눔고딕코딩" pitchFamily="49" charset="-127"/>
                <a:ea typeface="나눔고딕코딩" pitchFamily="49" charset="-127"/>
              </a:rPr>
              <a:t>satu</a:t>
            </a:r>
            <a:r>
              <a:rPr lang="en-US" altLang="ko-KR" sz="1300">
                <a:solidFill>
                  <a:schemeClr val="tx1"/>
                </a:solidFill>
                <a:latin typeface="나눔고딕코딩" pitchFamily="49" charset="-127"/>
                <a:ea typeface="나눔고딕코딩" pitchFamily="49" charset="-127"/>
              </a:rPr>
              <a:t>, dan </a:t>
            </a:r>
            <a:r>
              <a:rPr lang="en-US" altLang="ko-KR" sz="1300" err="1">
                <a:solidFill>
                  <a:schemeClr val="tx1"/>
                </a:solidFill>
                <a:latin typeface="나눔고딕코딩" pitchFamily="49" charset="-127"/>
                <a:ea typeface="나눔고딕코딩" pitchFamily="49" charset="-127"/>
              </a:rPr>
              <a:t>berhentilah</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menambahkan</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apabila</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jumlahnya</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lebih</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besar</a:t>
            </a:r>
            <a:r>
              <a:rPr lang="en-US" altLang="ko-KR" sz="1300">
                <a:solidFill>
                  <a:schemeClr val="tx1"/>
                </a:solidFill>
                <a:latin typeface="나눔고딕코딩" pitchFamily="49" charset="-127"/>
                <a:ea typeface="나눔고딕코딩" pitchFamily="49" charset="-127"/>
              </a:rPr>
              <a:t> </a:t>
            </a:r>
            <a:r>
              <a:rPr lang="en-US" altLang="ko-KR" sz="1300" err="1">
                <a:solidFill>
                  <a:schemeClr val="tx1"/>
                </a:solidFill>
                <a:latin typeface="나눔고딕코딩" pitchFamily="49" charset="-127"/>
                <a:ea typeface="나눔고딕코딩" pitchFamily="49" charset="-127"/>
              </a:rPr>
              <a:t>dari</a:t>
            </a:r>
            <a:r>
              <a:rPr lang="en-US" altLang="ko-KR" sz="1300">
                <a:solidFill>
                  <a:schemeClr val="tx1"/>
                </a:solidFill>
                <a:latin typeface="나눔고딕코딩" pitchFamily="49" charset="-127"/>
                <a:ea typeface="나눔고딕코딩" pitchFamily="49" charset="-127"/>
              </a:rPr>
              <a:t> 10.</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public class </a:t>
            </a:r>
            <a:r>
              <a:rPr lang="en-US" altLang="ko-KR" sz="1300" err="1">
                <a:solidFill>
                  <a:schemeClr val="tx1"/>
                </a:solidFill>
                <a:latin typeface="나눔고딕코딩" pitchFamily="49" charset="-127"/>
                <a:ea typeface="나눔고딕코딩" pitchFamily="49" charset="-127"/>
              </a:rPr>
              <a:t>WhileEx</a:t>
            </a: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public static void main( String[] </a:t>
            </a:r>
            <a:r>
              <a:rPr lang="en-US" altLang="ko-KR" sz="1300" err="1">
                <a:solidFill>
                  <a:schemeClr val="tx1"/>
                </a:solidFill>
                <a:latin typeface="나눔고딕코딩" pitchFamily="49" charset="-127"/>
                <a:ea typeface="나눔고딕코딩" pitchFamily="49" charset="-127"/>
              </a:rPr>
              <a:t>args</a:t>
            </a:r>
            <a:r>
              <a:rPr lang="en-US" altLang="ko-KR" sz="1300">
                <a:solidFill>
                  <a:schemeClr val="tx1"/>
                </a:solidFill>
                <a:latin typeface="나눔고딕코딩" pitchFamily="49" charset="-127"/>
                <a:ea typeface="나눔고딕코딩" pitchFamily="49" charset="-127"/>
              </a:rPr>
              <a:t> ) {</a:t>
            </a:r>
          </a:p>
          <a:p>
            <a:pPr eaLnBrk="1" hangingPunct="1">
              <a:spcAft>
                <a:spcPts val="567"/>
              </a:spcAft>
              <a:defRPr/>
            </a:pPr>
            <a:endParaRPr lang="en-US" altLang="ko-KR" sz="13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sum = 0;</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int index = 1;</a:t>
            </a:r>
          </a:p>
          <a:p>
            <a:pPr eaLnBrk="1" hangingPunct="1">
              <a:spcAft>
                <a:spcPts val="567"/>
              </a:spcAft>
              <a:defRPr/>
            </a:pPr>
            <a:endParaRPr lang="en-US" altLang="ko-KR" sz="1300">
              <a:solidFill>
                <a:schemeClr val="tx1"/>
              </a:solidFill>
              <a:latin typeface="나눔고딕코딩" pitchFamily="49" charset="-127"/>
              <a:ea typeface="나눔고딕코딩" pitchFamily="49" charset="-127"/>
            </a:endParaRPr>
          </a:p>
          <a:p>
            <a:pPr eaLnBrk="1" hangingPunct="1">
              <a:spcAft>
                <a:spcPts val="567"/>
              </a:spcAft>
              <a:defRPr/>
            </a:pPr>
            <a:r>
              <a:rPr lang="en-US" altLang="ko-KR" sz="1300">
                <a:solidFill>
                  <a:schemeClr val="tx1"/>
                </a:solidFill>
                <a:latin typeface="나눔고딕코딩" pitchFamily="49" charset="-127"/>
                <a:ea typeface="나눔고딕코딩" pitchFamily="49" charset="-127"/>
              </a:rPr>
              <a:t>        while ( sum &lt; 10 )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sum += index;</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System.out.println( index++ + “:” + sum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    }</a:t>
            </a:r>
          </a:p>
          <a:p>
            <a:pPr eaLnBrk="1" hangingPunct="1">
              <a:spcAft>
                <a:spcPts val="567"/>
              </a:spcAft>
              <a:defRPr/>
            </a:pPr>
            <a:r>
              <a:rPr lang="en-US" altLang="ko-KR" sz="1300">
                <a:solidFill>
                  <a:schemeClr val="tx1"/>
                </a:solidFill>
                <a:latin typeface="나눔고딕코딩" pitchFamily="49" charset="-127"/>
                <a:ea typeface="나눔고딕코딩" pitchFamily="49" charset="-127"/>
              </a:rPr>
              <a:t>}</a:t>
            </a:r>
          </a:p>
        </p:txBody>
      </p:sp>
      <p:pic>
        <p:nvPicPr>
          <p:cNvPr id="150532" name="Picture 1">
            <a:extLst>
              <a:ext uri="{FF2B5EF4-FFF2-40B4-BE49-F238E27FC236}">
                <a16:creationId xmlns:a16="http://schemas.microsoft.com/office/drawing/2014/main" id="{EAC83AA6-2551-B53B-762C-5E4CB5A1B5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7288" y="4578350"/>
            <a:ext cx="2190750" cy="13335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모서리가 둥근 직사각형 2">
            <a:extLst>
              <a:ext uri="{FF2B5EF4-FFF2-40B4-BE49-F238E27FC236}">
                <a16:creationId xmlns:a16="http://schemas.microsoft.com/office/drawing/2014/main" id="{3CCE694A-8613-2812-6E26-A08895ECE34D}"/>
              </a:ext>
            </a:extLst>
          </p:cNvPr>
          <p:cNvSpPr/>
          <p:nvPr/>
        </p:nvSpPr>
        <p:spPr>
          <a:xfrm>
            <a:off x="350838" y="1017588"/>
            <a:ext cx="8442325" cy="5381625"/>
          </a:xfrm>
          <a:prstGeom prst="roundRect">
            <a:avLst>
              <a:gd name="adj" fmla="val 3530"/>
            </a:avLst>
          </a:prstGeom>
          <a:noFill/>
          <a:ln>
            <a:solidFill>
              <a:srgbClr val="C5003D"/>
            </a:solidFill>
          </a:ln>
        </p:spPr>
        <p:style>
          <a:lnRef idx="2">
            <a:schemeClr val="accent1">
              <a:shade val="50000"/>
            </a:schemeClr>
          </a:lnRef>
          <a:fillRef idx="1">
            <a:schemeClr val="accent1"/>
          </a:fillRef>
          <a:effectRef idx="0">
            <a:schemeClr val="accent1"/>
          </a:effectRef>
          <a:fontRef idx="minor">
            <a:schemeClr val="lt1"/>
          </a:fontRef>
        </p:style>
        <p:txBody>
          <a:bodyPr lIns="136152" tIns="102114" rIns="136152" bIns="102114"/>
          <a:lstStyle/>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Package Name</a:t>
            </a:r>
            <a:r>
              <a:rPr lang="ko-KR" altLang="en-US" b="1">
                <a:solidFill>
                  <a:schemeClr val="tx1"/>
                </a:solidFill>
                <a:latin typeface="LG스마트체2.0 Regular" panose="020B0600000101010101" pitchFamily="50" charset="-127"/>
                <a:ea typeface="LG스마트체2.0 Regular" panose="020B0600000101010101" pitchFamily="50" charset="-127"/>
              </a:rPr>
              <a:t> </a:t>
            </a:r>
            <a:r>
              <a:rPr lang="en-US" altLang="ko-KR" b="1">
                <a:solidFill>
                  <a:schemeClr val="tx1"/>
                </a:solidFill>
                <a:latin typeface="LG스마트체2.0 Regular" panose="020B0600000101010101" pitchFamily="50" charset="-127"/>
                <a:ea typeface="LG스마트체2.0 Regular" panose="020B0600000101010101" pitchFamily="50" charset="-127"/>
              </a:rPr>
              <a:t>: </a:t>
            </a:r>
            <a:r>
              <a:rPr lang="en-US" altLang="ko-KR">
                <a:solidFill>
                  <a:schemeClr val="tx1"/>
                </a:solidFill>
                <a:latin typeface="나눔고딕코딩" pitchFamily="49" charset="-127"/>
                <a:ea typeface="나눔고딕코딩" pitchFamily="49" charset="-127"/>
              </a:rPr>
              <a:t>com.lgcns.chapter05</a:t>
            </a: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Class Name</a:t>
            </a:r>
            <a:r>
              <a:rPr lang="ko-KR" altLang="en-US" b="1">
                <a:solidFill>
                  <a:schemeClr val="tx1"/>
                </a:solidFill>
                <a:latin typeface="LG스마트체2.0 Regular" panose="020B0600000101010101" pitchFamily="50" charset="-127"/>
                <a:ea typeface="LG스마트체2.0 Regular" panose="020B0600000101010101" pitchFamily="50" charset="-127"/>
              </a:rPr>
              <a:t> </a:t>
            </a:r>
            <a:r>
              <a:rPr lang="en-US" altLang="ko-KR" b="1">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나눔고딕코딩" pitchFamily="49" charset="-127"/>
                <a:ea typeface="나눔고딕코딩" pitchFamily="49" charset="-127"/>
              </a:rPr>
              <a:t>PrimeNumberTest</a:t>
            </a:r>
            <a:endParaRPr lang="en-US" altLang="ko-KR">
              <a:solidFill>
                <a:schemeClr val="tx1"/>
              </a:solidFill>
              <a:latin typeface="나눔고딕코딩" pitchFamily="49" charset="-127"/>
              <a:ea typeface="나눔고딕코딩" pitchFamily="49" charset="-127"/>
            </a:endParaRPr>
          </a:p>
          <a:p>
            <a:pPr eaLnBrk="1" hangingPunct="1">
              <a:spcAft>
                <a:spcPts val="567"/>
              </a:spcAft>
              <a:defRPr/>
            </a:pPr>
            <a:endParaRPr lang="en-US" altLang="ko-KR" sz="1400" b="1">
              <a:solidFill>
                <a:schemeClr val="tx1"/>
              </a:solidFill>
              <a:latin typeface="LG스마트체2.0 Regular" panose="020B0600000101010101" pitchFamily="50" charset="-127"/>
              <a:ea typeface="LG스마트체2.0 Regular" panose="020B0600000101010101" pitchFamily="50" charset="-127"/>
            </a:endParaRP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Isi </a:t>
            </a:r>
            <a:r>
              <a:rPr lang="en-ID" altLang="ko-KR" b="1" err="1">
                <a:solidFill>
                  <a:schemeClr val="tx1"/>
                </a:solidFill>
                <a:latin typeface="LG스마트체2.0 Regular" panose="020B0600000101010101" pitchFamily="50" charset="-127"/>
                <a:ea typeface="LG스마트체2.0 Regular" panose="020B0600000101010101" pitchFamily="50" charset="-127"/>
              </a:rPr>
              <a:t>implementasi</a:t>
            </a: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ID" altLang="ko-KR">
                <a:solidFill>
                  <a:schemeClr val="tx1"/>
                </a:solidFill>
                <a:latin typeface="LG스마트체2.0 Regular" panose="020B0600000101010101" pitchFamily="50" charset="-127"/>
                <a:ea typeface="LG스마트체2.0 Regular" panose="020B0600000101010101" pitchFamily="50" charset="-127"/>
              </a:rPr>
              <a:t>Jika </a:t>
            </a:r>
            <a:r>
              <a:rPr lang="en-ID" altLang="ko-KR" err="1">
                <a:solidFill>
                  <a:schemeClr val="tx1"/>
                </a:solidFill>
                <a:latin typeface="LG스마트체2.0 Regular" panose="020B0600000101010101" pitchFamily="50" charset="-127"/>
                <a:ea typeface="LG스마트체2.0 Regular" panose="020B0600000101010101" pitchFamily="50" charset="-127"/>
              </a:rPr>
              <a:t>nilai</a:t>
            </a:r>
            <a:r>
              <a:rPr lang="en-ID" altLang="ko-KR">
                <a:solidFill>
                  <a:schemeClr val="tx1"/>
                </a:solidFill>
                <a:latin typeface="LG스마트체2.0 Regular" panose="020B0600000101010101" pitchFamily="50" charset="-127"/>
                <a:ea typeface="LG스마트체2.0 Regular" panose="020B0600000101010101" pitchFamily="50" charset="-127"/>
              </a:rPr>
              <a:t> yang </a:t>
            </a:r>
            <a:r>
              <a:rPr lang="en-ID" altLang="ko-KR" err="1">
                <a:solidFill>
                  <a:schemeClr val="tx1"/>
                </a:solidFill>
                <a:latin typeface="LG스마트체2.0 Regular" panose="020B0600000101010101" pitchFamily="50" charset="-127"/>
                <a:ea typeface="LG스마트체2.0 Regular" panose="020B0600000101010101" pitchFamily="50" charset="-127"/>
              </a:rPr>
              <a:t>diberikan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adalah</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prima, "</a:t>
            </a:r>
            <a:r>
              <a:rPr lang="en-ID" altLang="ko-KR" err="1">
                <a:solidFill>
                  <a:schemeClr val="tx1"/>
                </a:solidFill>
                <a:latin typeface="LG스마트체2.0 Regular" panose="020B0600000101010101" pitchFamily="50" charset="-127"/>
                <a:ea typeface="LG스마트체2.0 Regular" panose="020B0600000101010101" pitchFamily="50" charset="-127"/>
              </a:rPr>
              <a:t>Ini</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adalah</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prima" dan </a:t>
            </a:r>
            <a:r>
              <a:rPr lang="en-ID" altLang="ko-KR" err="1">
                <a:solidFill>
                  <a:schemeClr val="tx1"/>
                </a:solidFill>
                <a:latin typeface="LG스마트체2.0 Regular" panose="020B0600000101010101" pitchFamily="50" charset="-127"/>
                <a:ea typeface="LG스마트체2.0 Regular" panose="020B0600000101010101" pitchFamily="50" charset="-127"/>
              </a:rPr>
              <a:t>jika</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bukan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prima, "</a:t>
            </a:r>
            <a:r>
              <a:rPr lang="en-ID" altLang="ko-KR" err="1">
                <a:solidFill>
                  <a:schemeClr val="tx1"/>
                </a:solidFill>
                <a:latin typeface="LG스마트체2.0 Regular" panose="020B0600000101010101" pitchFamily="50" charset="-127"/>
                <a:ea typeface="LG스마트체2.0 Regular" panose="020B0600000101010101" pitchFamily="50" charset="-127"/>
              </a:rPr>
              <a:t>Ini</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bukan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prima." </a:t>
            </a:r>
            <a:r>
              <a:rPr lang="en-ID" altLang="ko-KR" err="1">
                <a:solidFill>
                  <a:schemeClr val="tx1"/>
                </a:solidFill>
                <a:latin typeface="LG스마트체2.0 Regular" panose="020B0600000101010101" pitchFamily="50" charset="-127"/>
                <a:ea typeface="LG스마트체2.0 Regular" panose="020B0600000101010101" pitchFamily="50" charset="-127"/>
              </a:rPr>
              <a:t>Tulislah</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sebuah</a:t>
            </a:r>
            <a:r>
              <a:rPr lang="en-ID" altLang="ko-KR">
                <a:solidFill>
                  <a:schemeClr val="tx1"/>
                </a:solidFill>
                <a:latin typeface="LG스마트체2.0 Regular" panose="020B0600000101010101" pitchFamily="50" charset="-127"/>
                <a:ea typeface="LG스마트체2.0 Regular" panose="020B0600000101010101" pitchFamily="50" charset="-127"/>
              </a:rPr>
              <a:t> program yang </a:t>
            </a:r>
            <a:r>
              <a:rPr lang="en-ID" altLang="ko-KR" err="1">
                <a:solidFill>
                  <a:schemeClr val="tx1"/>
                </a:solidFill>
                <a:latin typeface="LG스마트체2.0 Regular" panose="020B0600000101010101" pitchFamily="50" charset="-127"/>
                <a:ea typeface="LG스마트체2.0 Regular" panose="020B0600000101010101" pitchFamily="50" charset="-127"/>
              </a:rPr>
              <a:t>menghasilkan</a:t>
            </a:r>
            <a:endParaRPr lang="en-US" altLang="ko-KR">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prima </a:t>
            </a:r>
            <a:r>
              <a:rPr lang="en-ID" altLang="ko-KR" err="1">
                <a:solidFill>
                  <a:schemeClr val="tx1"/>
                </a:solidFill>
                <a:latin typeface="LG스마트체2.0 Regular" panose="020B0600000101010101" pitchFamily="50" charset="-127"/>
                <a:ea typeface="LG스마트체2.0 Regular" panose="020B0600000101010101" pitchFamily="50" charset="-127"/>
              </a:rPr>
              <a:t>adalah</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yang </a:t>
            </a:r>
            <a:r>
              <a:rPr lang="en-ID" altLang="ko-KR" err="1">
                <a:solidFill>
                  <a:schemeClr val="tx1"/>
                </a:solidFill>
                <a:latin typeface="LG스마트체2.0 Regular" panose="020B0600000101010101" pitchFamily="50" charset="-127"/>
                <a:ea typeface="LG스마트체2.0 Regular" panose="020B0600000101010101" pitchFamily="50" charset="-127"/>
              </a:rPr>
              <a:t>tidak</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dapat</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dibagi</a:t>
            </a:r>
            <a:r>
              <a:rPr lang="en-ID" altLang="ko-KR">
                <a:solidFill>
                  <a:schemeClr val="tx1"/>
                </a:solidFill>
                <a:latin typeface="LG스마트체2.0 Regular" panose="020B0600000101010101" pitchFamily="50" charset="-127"/>
                <a:ea typeface="LG스마트체2.0 Regular" panose="020B0600000101010101" pitchFamily="50" charset="-127"/>
              </a:rPr>
              <a:t> oleh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apa</a:t>
            </a:r>
            <a:r>
              <a:rPr lang="en-ID" altLang="ko-KR">
                <a:solidFill>
                  <a:schemeClr val="tx1"/>
                </a:solidFill>
                <a:latin typeface="LG스마트체2.0 Regular" panose="020B0600000101010101" pitchFamily="50" charset="-127"/>
                <a:ea typeface="LG스마트체2.0 Regular" panose="020B0600000101010101" pitchFamily="50" charset="-127"/>
              </a:rPr>
              <a:t> pun </a:t>
            </a:r>
            <a:r>
              <a:rPr lang="en-ID" altLang="ko-KR" err="1">
                <a:solidFill>
                  <a:schemeClr val="tx1"/>
                </a:solidFill>
                <a:latin typeface="LG스마트체2.0 Regular" panose="020B0600000101010101" pitchFamily="50" charset="-127"/>
                <a:ea typeface="LG스마트체2.0 Regular" panose="020B0600000101010101" pitchFamily="50" charset="-127"/>
              </a:rPr>
              <a:t>selain</a:t>
            </a:r>
            <a:r>
              <a:rPr lang="en-ID" altLang="ko-KR">
                <a:solidFill>
                  <a:schemeClr val="tx1"/>
                </a:solidFill>
                <a:latin typeface="LG스마트체2.0 Regular" panose="020B0600000101010101" pitchFamily="50" charset="-127"/>
                <a:ea typeface="LG스마트체2.0 Regular" panose="020B0600000101010101" pitchFamily="50" charset="-127"/>
              </a:rPr>
              <a:t> 1 dan </a:t>
            </a:r>
            <a:r>
              <a:rPr lang="en-ID" altLang="ko-KR" err="1">
                <a:solidFill>
                  <a:schemeClr val="tx1"/>
                </a:solidFill>
                <a:latin typeface="LG스마트체2.0 Regular" panose="020B0600000101010101" pitchFamily="50" charset="-127"/>
                <a:ea typeface="LG스마트체2.0 Regular" panose="020B0600000101010101" pitchFamily="50" charset="-127"/>
              </a:rPr>
              <a:t>dirinya</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sendiri</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Untuk</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menentukan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prima, Anda </a:t>
            </a:r>
            <a:r>
              <a:rPr lang="en-ID" altLang="ko-KR" err="1">
                <a:solidFill>
                  <a:schemeClr val="tx1"/>
                </a:solidFill>
                <a:latin typeface="LG스마트체2.0 Regular" panose="020B0600000101010101" pitchFamily="50" charset="-127"/>
                <a:ea typeface="LG스마트체2.0 Regular" panose="020B0600000101010101" pitchFamily="50" charset="-127"/>
              </a:rPr>
              <a:t>dapat</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melakukan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operasi</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pembagian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dari</a:t>
            </a:r>
            <a:r>
              <a:rPr lang="en-ID" altLang="ko-KR">
                <a:solidFill>
                  <a:schemeClr val="tx1"/>
                </a:solidFill>
                <a:latin typeface="LG스마트체2.0 Regular" panose="020B0600000101010101" pitchFamily="50" charset="-127"/>
                <a:ea typeface="LG스마트체2.0 Regular" panose="020B0600000101010101" pitchFamily="50" charset="-127"/>
              </a:rPr>
              <a:t> 2 </a:t>
            </a:r>
            <a:r>
              <a:rPr lang="en-ID" altLang="ko-KR" err="1">
                <a:solidFill>
                  <a:schemeClr val="tx1"/>
                </a:solidFill>
                <a:latin typeface="LG스마트체2.0 Regular" panose="020B0600000101010101" pitchFamily="50" charset="-127"/>
                <a:ea typeface="LG스마트체2.0 Regular" panose="020B0600000101010101" pitchFamily="50" charset="-127"/>
              </a:rPr>
              <a:t>ke</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yang </a:t>
            </a:r>
            <a:r>
              <a:rPr lang="en-ID" altLang="ko-KR" err="1">
                <a:solidFill>
                  <a:schemeClr val="tx1"/>
                </a:solidFill>
                <a:latin typeface="LG스마트체2.0 Regular" panose="020B0600000101010101" pitchFamily="50" charset="-127"/>
                <a:ea typeface="LG스마트체2.0 Regular" panose="020B0600000101010101" pitchFamily="50" charset="-127"/>
              </a:rPr>
              <a:t>kurang</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dari</a:t>
            </a:r>
            <a:r>
              <a:rPr lang="en-ID" altLang="ko-KR">
                <a:solidFill>
                  <a:schemeClr val="tx1"/>
                </a:solidFill>
                <a:latin typeface="LG스마트체2.0 Regular" panose="020B0600000101010101" pitchFamily="50" charset="-127"/>
                <a:ea typeface="LG스마트체2.0 Regular" panose="020B0600000101010101" pitchFamily="50" charset="-127"/>
              </a:rPr>
              <a:t> 1 dan </a:t>
            </a:r>
            <a:r>
              <a:rPr lang="en-ID" altLang="ko-KR" err="1">
                <a:solidFill>
                  <a:schemeClr val="tx1"/>
                </a:solidFill>
                <a:latin typeface="LG스마트체2.0 Regular" panose="020B0600000101010101" pitchFamily="50" charset="-127"/>
                <a:ea typeface="LG스마트체2.0 Regular" panose="020B0600000101010101" pitchFamily="50" charset="-127"/>
              </a:rPr>
              <a:t>lihat</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apakah</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bilangan</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tersebut</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habis</a:t>
            </a:r>
            <a:r>
              <a:rPr lang="en-ID" altLang="ko-KR">
                <a:solidFill>
                  <a:schemeClr val="tx1"/>
                </a:solidFill>
                <a:latin typeface="LG스마트체2.0 Regular" panose="020B0600000101010101" pitchFamily="50" charset="-127"/>
                <a:ea typeface="LG스마트체2.0 Regular" panose="020B0600000101010101" pitchFamily="50" charset="-127"/>
              </a:rPr>
              <a:t> </a:t>
            </a:r>
            <a:r>
              <a:rPr lang="en-ID" altLang="ko-KR" err="1">
                <a:solidFill>
                  <a:schemeClr val="tx1"/>
                </a:solidFill>
                <a:latin typeface="LG스마트체2.0 Regular" panose="020B0600000101010101" pitchFamily="50" charset="-127"/>
                <a:ea typeface="LG스마트체2.0 Regular" panose="020B0600000101010101" pitchFamily="50" charset="-127"/>
              </a:rPr>
              <a:t>dibagi</a:t>
            </a:r>
            <a:r>
              <a:rPr lang="en-ID" altLang="ko-KR">
                <a:solidFill>
                  <a:schemeClr val="tx1"/>
                </a:solidFill>
                <a:latin typeface="LG스마트체2.0 Regular" panose="020B0600000101010101" pitchFamily="50" charset="-127"/>
                <a:ea typeface="LG스마트체2.0 Regular" panose="020B0600000101010101" pitchFamily="50" charset="-127"/>
              </a:rPr>
              <a:t>.</a:t>
            </a:r>
            <a:endParaRPr lang="en-US" altLang="ko-KR">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 - Data </a:t>
            </a:r>
            <a:r>
              <a:rPr lang="en-US" altLang="ko-KR" err="1">
                <a:solidFill>
                  <a:schemeClr val="tx1"/>
                </a:solidFill>
                <a:latin typeface="LG스마트체2.0 Regular" panose="020B0600000101010101" pitchFamily="50" charset="-127"/>
                <a:ea typeface="LG스마트체2.0 Regular" panose="020B0600000101010101" pitchFamily="50" charset="-127"/>
              </a:rPr>
              <a:t>untuk</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memeriksa</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bilangan</a:t>
            </a:r>
            <a:r>
              <a:rPr lang="en-US" altLang="ko-KR">
                <a:solidFill>
                  <a:schemeClr val="tx1"/>
                </a:solidFill>
                <a:latin typeface="LG스마트체2.0 Regular" panose="020B0600000101010101" pitchFamily="50" charset="-127"/>
                <a:ea typeface="LG스마트체2.0 Regular" panose="020B0600000101010101" pitchFamily="50" charset="-127"/>
              </a:rPr>
              <a:t> prima: 23, 26</a:t>
            </a:r>
          </a:p>
          <a:p>
            <a:pPr marL="255167" eaLnBrk="1" hangingPunct="1">
              <a:spcAft>
                <a:spcPts val="567"/>
              </a:spcAft>
              <a:defRPr/>
            </a:pPr>
            <a:endParaRPr lang="en-US" altLang="ko-KR">
              <a:solidFill>
                <a:schemeClr val="tx1"/>
              </a:solidFill>
              <a:latin typeface="LG스마트체2.0 Regular" panose="020B0600000101010101" pitchFamily="50" charset="-127"/>
              <a:ea typeface="LG스마트체2.0 Regular" panose="020B0600000101010101" pitchFamily="50" charset="-127"/>
            </a:endParaRPr>
          </a:p>
          <a:p>
            <a:pPr marL="324212" indent="-324212" eaLnBrk="1" hangingPunct="1">
              <a:spcAft>
                <a:spcPts val="567"/>
              </a:spcAft>
              <a:buFont typeface="Wingdings" pitchFamily="2" charset="2"/>
              <a:buChar char="Ø"/>
              <a:defRPr/>
            </a:pPr>
            <a:r>
              <a:rPr lang="en-ID" altLang="ko-KR" b="1">
                <a:solidFill>
                  <a:schemeClr val="tx1"/>
                </a:solidFill>
                <a:latin typeface="LG스마트체2.0 Regular" panose="020B0600000101010101" pitchFamily="50" charset="-127"/>
                <a:ea typeface="LG스마트체2.0 Regular" panose="020B0600000101010101" pitchFamily="50" charset="-127"/>
              </a:rPr>
              <a:t>Hasil Run</a:t>
            </a:r>
            <a:endParaRPr lang="en-US" altLang="ko-KR" b="1">
              <a:solidFill>
                <a:schemeClr val="tx1"/>
              </a:solidFill>
              <a:latin typeface="LG스마트체2.0 Regular" panose="020B0600000101010101" pitchFamily="50" charset="-127"/>
              <a:ea typeface="LG스마트체2.0 Regular" panose="020B0600000101010101" pitchFamily="50" charset="-127"/>
            </a:endParaRP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23 </a:t>
            </a:r>
            <a:r>
              <a:rPr lang="en-US" altLang="ko-KR" err="1">
                <a:solidFill>
                  <a:schemeClr val="tx1"/>
                </a:solidFill>
                <a:latin typeface="LG스마트체2.0 Regular" panose="020B0600000101010101" pitchFamily="50" charset="-127"/>
                <a:ea typeface="LG스마트체2.0 Regular" panose="020B0600000101010101" pitchFamily="50" charset="-127"/>
              </a:rPr>
              <a:t>adalah</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bilangan</a:t>
            </a:r>
            <a:r>
              <a:rPr lang="en-US" altLang="ko-KR">
                <a:solidFill>
                  <a:schemeClr val="tx1"/>
                </a:solidFill>
                <a:latin typeface="LG스마트체2.0 Regular" panose="020B0600000101010101" pitchFamily="50" charset="-127"/>
                <a:ea typeface="LG스마트체2.0 Regular" panose="020B0600000101010101" pitchFamily="50" charset="-127"/>
              </a:rPr>
              <a:t> prima.</a:t>
            </a:r>
          </a:p>
          <a:p>
            <a:pPr marL="255167" eaLnBrk="1" hangingPunct="1">
              <a:spcAft>
                <a:spcPts val="567"/>
              </a:spcAft>
              <a:defRPr/>
            </a:pPr>
            <a:r>
              <a:rPr lang="en-US" altLang="ko-KR">
                <a:solidFill>
                  <a:schemeClr val="tx1"/>
                </a:solidFill>
                <a:latin typeface="LG스마트체2.0 Regular" panose="020B0600000101010101" pitchFamily="50" charset="-127"/>
                <a:ea typeface="LG스마트체2.0 Regular" panose="020B0600000101010101" pitchFamily="50" charset="-127"/>
              </a:rPr>
              <a:t>26 </a:t>
            </a:r>
            <a:r>
              <a:rPr lang="en-US" altLang="ko-KR" err="1">
                <a:solidFill>
                  <a:schemeClr val="tx1"/>
                </a:solidFill>
                <a:latin typeface="LG스마트체2.0 Regular" panose="020B0600000101010101" pitchFamily="50" charset="-127"/>
                <a:ea typeface="LG스마트체2.0 Regular" panose="020B0600000101010101" pitchFamily="50" charset="-127"/>
              </a:rPr>
              <a:t>bukan</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merupakan</a:t>
            </a:r>
            <a:r>
              <a:rPr lang="en-US" altLang="ko-KR">
                <a:solidFill>
                  <a:schemeClr val="tx1"/>
                </a:solidFill>
                <a:latin typeface="LG스마트체2.0 Regular" panose="020B0600000101010101" pitchFamily="50" charset="-127"/>
                <a:ea typeface="LG스마트체2.0 Regular" panose="020B0600000101010101" pitchFamily="50" charset="-127"/>
              </a:rPr>
              <a:t> </a:t>
            </a:r>
            <a:r>
              <a:rPr lang="en-US" altLang="ko-KR" err="1">
                <a:solidFill>
                  <a:schemeClr val="tx1"/>
                </a:solidFill>
                <a:latin typeface="LG스마트체2.0 Regular" panose="020B0600000101010101" pitchFamily="50" charset="-127"/>
                <a:ea typeface="LG스마트체2.0 Regular" panose="020B0600000101010101" pitchFamily="50" charset="-127"/>
              </a:rPr>
              <a:t>bilangan</a:t>
            </a:r>
            <a:r>
              <a:rPr lang="en-US" altLang="ko-KR">
                <a:solidFill>
                  <a:schemeClr val="tx1"/>
                </a:solidFill>
                <a:latin typeface="LG스마트체2.0 Regular" panose="020B0600000101010101" pitchFamily="50" charset="-127"/>
                <a:ea typeface="LG스마트체2.0 Regular" panose="020B0600000101010101" pitchFamily="50" charset="-127"/>
              </a:rPr>
              <a:t> prima.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7"/>
          <p:cNvSpPr txBox="1"/>
          <p:nvPr/>
        </p:nvSpPr>
        <p:spPr>
          <a:xfrm>
            <a:off x="123825" y="49212"/>
            <a:ext cx="2643187"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300"/>
              <a:buFont typeface="Arial"/>
              <a:buNone/>
            </a:pPr>
            <a:r>
              <a:rPr lang="en-US" sz="2300" b="1" i="0" u="none">
                <a:solidFill>
                  <a:schemeClr val="lt1"/>
                </a:solidFill>
                <a:latin typeface="Arial"/>
                <a:ea typeface="Arial"/>
                <a:cs typeface="Arial"/>
                <a:sym typeface="Arial"/>
              </a:rPr>
              <a:t>Apa itu Array?</a:t>
            </a:r>
            <a:endParaRPr/>
          </a:p>
        </p:txBody>
      </p:sp>
      <p:sp>
        <p:nvSpPr>
          <p:cNvPr id="157" name="Google Shape;157;p7"/>
          <p:cNvSpPr txBox="1"/>
          <p:nvPr/>
        </p:nvSpPr>
        <p:spPr>
          <a:xfrm>
            <a:off x="482600" y="1968500"/>
            <a:ext cx="8178800" cy="3260725"/>
          </a:xfrm>
          <a:prstGeom prst="rect">
            <a:avLst/>
          </a:prstGeom>
          <a:noFill/>
          <a:ln>
            <a:noFill/>
          </a:ln>
        </p:spPr>
        <p:txBody>
          <a:bodyPr spcFirstLastPara="1" wrap="square" lIns="43225" tIns="43225" rIns="43225" bIns="43225" anchor="t" anchorCtr="0">
            <a:spAutoFit/>
          </a:bodyPr>
          <a:lstStyle/>
          <a:p>
            <a:pPr marL="266700" marR="0" lvl="0" indent="-266700" algn="ctr" rtl="0">
              <a:lnSpc>
                <a:spcPct val="100000"/>
              </a:lnSpc>
              <a:spcBef>
                <a:spcPts val="0"/>
              </a:spcBef>
              <a:spcAft>
                <a:spcPts val="0"/>
              </a:spcAft>
              <a:buClr>
                <a:schemeClr val="dk1"/>
              </a:buClr>
              <a:buSzPts val="4000"/>
              <a:buFont typeface="Malgun Gothic"/>
              <a:buNone/>
            </a:pPr>
            <a:r>
              <a:rPr lang="en-US" sz="4000" b="1" i="0" u="none">
                <a:solidFill>
                  <a:schemeClr val="dk1"/>
                </a:solidFill>
                <a:latin typeface="Malgun Gothic"/>
                <a:ea typeface="Malgun Gothic"/>
                <a:cs typeface="Malgun Gothic"/>
                <a:sym typeface="Malgun Gothic"/>
              </a:rPr>
              <a:t>Array adalah</a:t>
            </a:r>
            <a:endParaRPr/>
          </a:p>
          <a:p>
            <a:pPr marL="266700" marR="0" lvl="0" indent="-266700" algn="ctr" rtl="0">
              <a:lnSpc>
                <a:spcPct val="100000"/>
              </a:lnSpc>
              <a:spcBef>
                <a:spcPts val="500"/>
              </a:spcBef>
              <a:spcAft>
                <a:spcPts val="0"/>
              </a:spcAft>
              <a:buClr>
                <a:srgbClr val="C5003D"/>
              </a:buClr>
              <a:buSzPts val="4000"/>
              <a:buFont typeface="Malgun Gothic"/>
              <a:buNone/>
            </a:pPr>
            <a:r>
              <a:rPr lang="en-US" sz="4000" b="1" i="0" u="none">
                <a:solidFill>
                  <a:srgbClr val="C5003D"/>
                </a:solidFill>
                <a:latin typeface="Malgun Gothic"/>
                <a:ea typeface="Malgun Gothic"/>
                <a:cs typeface="Malgun Gothic"/>
                <a:sym typeface="Malgun Gothic"/>
              </a:rPr>
              <a:t>Menggabungkan data dengan tipe yang sama menjadi satu kesatuan</a:t>
            </a:r>
            <a:endParaRPr/>
          </a:p>
          <a:p>
            <a:pPr marL="266700" marR="0" lvl="0" indent="-266700" algn="ctr" rtl="0">
              <a:lnSpc>
                <a:spcPct val="100000"/>
              </a:lnSpc>
              <a:spcBef>
                <a:spcPts val="500"/>
              </a:spcBef>
              <a:spcAft>
                <a:spcPts val="0"/>
              </a:spcAft>
              <a:buClr>
                <a:schemeClr val="dk1"/>
              </a:buClr>
              <a:buSzPts val="4000"/>
              <a:buFont typeface="Malgun Gothic"/>
              <a:buNone/>
            </a:pPr>
            <a:r>
              <a:rPr lang="en-US" sz="4000" b="1" i="0" u="none">
                <a:solidFill>
                  <a:schemeClr val="dk1"/>
                </a:solidFill>
                <a:latin typeface="Malgun Gothic"/>
                <a:ea typeface="Malgun Gothic"/>
                <a:cs typeface="Malgun Gothic"/>
                <a:sym typeface="Malgun Gothic"/>
              </a:rPr>
              <a:t>dalam sebuah paket.</a:t>
            </a:r>
            <a:endParaRPr/>
          </a:p>
        </p:txBody>
      </p:sp>
    </p:spTree>
    <p:extLst>
      <p:ext uri="{BB962C8B-B14F-4D97-AF65-F5344CB8AC3E}">
        <p14:creationId xmlns:p14="http://schemas.microsoft.com/office/powerpoint/2010/main" val="4186265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0"/>
          <p:cNvSpPr txBox="1"/>
          <p:nvPr/>
        </p:nvSpPr>
        <p:spPr>
          <a:xfrm>
            <a:off x="123825" y="49212"/>
            <a:ext cx="7235825"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000"/>
              <a:buFont typeface="Arial"/>
              <a:buNone/>
            </a:pPr>
            <a:r>
              <a:rPr lang="en-US" sz="2000" b="1" i="0" u="none">
                <a:solidFill>
                  <a:schemeClr val="lt1"/>
                </a:solidFill>
                <a:latin typeface="Arial"/>
                <a:ea typeface="Arial"/>
                <a:cs typeface="Arial"/>
                <a:sym typeface="Arial"/>
              </a:rPr>
              <a:t>Deklarasi dan pembuatan array secara bersamaan</a:t>
            </a:r>
            <a:endParaRPr/>
          </a:p>
        </p:txBody>
      </p:sp>
      <p:sp>
        <p:nvSpPr>
          <p:cNvPr id="205" name="Google Shape;205;p10"/>
          <p:cNvSpPr txBox="1"/>
          <p:nvPr/>
        </p:nvSpPr>
        <p:spPr>
          <a:xfrm>
            <a:off x="350837" y="1017587"/>
            <a:ext cx="8442325" cy="449262"/>
          </a:xfrm>
          <a:prstGeom prst="rect">
            <a:avLst/>
          </a:prstGeom>
          <a:noFill/>
          <a:ln>
            <a:noFill/>
          </a:ln>
        </p:spPr>
        <p:txBody>
          <a:bodyPr spcFirstLastPara="1" wrap="square" lIns="86450" tIns="43225" rIns="86450" bIns="43225" anchor="t" anchorCtr="0">
            <a:spAutoFit/>
          </a:bodyPr>
          <a:lstStyle/>
          <a:p>
            <a:pPr marL="269875" marR="0" lvl="0" indent="-269875" algn="l" rtl="0">
              <a:lnSpc>
                <a:spcPct val="150000"/>
              </a:lnSpc>
              <a:spcBef>
                <a:spcPts val="0"/>
              </a:spcBef>
              <a:spcAft>
                <a:spcPts val="0"/>
              </a:spcAft>
              <a:buClr>
                <a:schemeClr val="dk1"/>
              </a:buClr>
              <a:buSzPts val="1800"/>
              <a:buFont typeface="Noto Sans Symbols"/>
              <a:buChar char="⮚"/>
            </a:pPr>
            <a:r>
              <a:rPr lang="en-US" sz="1800" b="0" i="0" u="none">
                <a:solidFill>
                  <a:schemeClr val="dk1"/>
                </a:solidFill>
                <a:latin typeface="Arial"/>
                <a:ea typeface="Arial"/>
                <a:cs typeface="Arial"/>
                <a:sym typeface="Arial"/>
              </a:rPr>
              <a:t>Cara mendeklarasi array dan membuat array dalam waktu yang bersamaan</a:t>
            </a:r>
            <a:endParaRPr/>
          </a:p>
        </p:txBody>
      </p:sp>
      <p:graphicFrame>
        <p:nvGraphicFramePr>
          <p:cNvPr id="206" name="Google Shape;206;p10"/>
          <p:cNvGraphicFramePr/>
          <p:nvPr/>
        </p:nvGraphicFramePr>
        <p:xfrm>
          <a:off x="2438400" y="3938587"/>
          <a:ext cx="6354700" cy="522275"/>
        </p:xfrm>
        <a:graphic>
          <a:graphicData uri="http://schemas.openxmlformats.org/drawingml/2006/table">
            <a:tbl>
              <a:tblPr>
                <a:noFill/>
              </a:tblPr>
              <a:tblGrid>
                <a:gridCol w="1058850">
                  <a:extLst>
                    <a:ext uri="{9D8B030D-6E8A-4147-A177-3AD203B41FA5}">
                      <a16:colId xmlns:a16="http://schemas.microsoft.com/office/drawing/2014/main" val="20000"/>
                    </a:ext>
                  </a:extLst>
                </a:gridCol>
                <a:gridCol w="1058850">
                  <a:extLst>
                    <a:ext uri="{9D8B030D-6E8A-4147-A177-3AD203B41FA5}">
                      <a16:colId xmlns:a16="http://schemas.microsoft.com/office/drawing/2014/main" val="20001"/>
                    </a:ext>
                  </a:extLst>
                </a:gridCol>
                <a:gridCol w="1058850">
                  <a:extLst>
                    <a:ext uri="{9D8B030D-6E8A-4147-A177-3AD203B41FA5}">
                      <a16:colId xmlns:a16="http://schemas.microsoft.com/office/drawing/2014/main" val="20002"/>
                    </a:ext>
                  </a:extLst>
                </a:gridCol>
                <a:gridCol w="1060450">
                  <a:extLst>
                    <a:ext uri="{9D8B030D-6E8A-4147-A177-3AD203B41FA5}">
                      <a16:colId xmlns:a16="http://schemas.microsoft.com/office/drawing/2014/main" val="20003"/>
                    </a:ext>
                  </a:extLst>
                </a:gridCol>
                <a:gridCol w="1058850">
                  <a:extLst>
                    <a:ext uri="{9D8B030D-6E8A-4147-A177-3AD203B41FA5}">
                      <a16:colId xmlns:a16="http://schemas.microsoft.com/office/drawing/2014/main" val="20004"/>
                    </a:ext>
                  </a:extLst>
                </a:gridCol>
                <a:gridCol w="1058850">
                  <a:extLst>
                    <a:ext uri="{9D8B030D-6E8A-4147-A177-3AD203B41FA5}">
                      <a16:colId xmlns:a16="http://schemas.microsoft.com/office/drawing/2014/main" val="20005"/>
                    </a:ext>
                  </a:extLst>
                </a:gridCol>
              </a:tblGrid>
              <a:tr h="522275">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07" name="Google Shape;207;p10"/>
          <p:cNvSpPr txBox="1"/>
          <p:nvPr/>
        </p:nvSpPr>
        <p:spPr>
          <a:xfrm>
            <a:off x="407987" y="4010025"/>
            <a:ext cx="1636712" cy="333515"/>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chemeClr val="dk1"/>
              </a:buClr>
              <a:buSzPts val="1900"/>
              <a:buFont typeface="Arial"/>
              <a:buNone/>
            </a:pPr>
            <a:r>
              <a:rPr lang="en-US" sz="1600" b="1" i="0" u="none" err="1">
                <a:solidFill>
                  <a:schemeClr val="dk1"/>
                </a:solidFill>
                <a:latin typeface="Arial"/>
                <a:ea typeface="Arial"/>
                <a:cs typeface="Arial"/>
                <a:sym typeface="Arial"/>
              </a:rPr>
              <a:t>lottoNumbers</a:t>
            </a:r>
            <a:endParaRPr lang="id-ID" sz="1600">
              <a:solidFill>
                <a:schemeClr val="dk1"/>
              </a:solidFill>
              <a:cs typeface="Arial"/>
            </a:endParaRPr>
          </a:p>
        </p:txBody>
      </p:sp>
      <p:sp>
        <p:nvSpPr>
          <p:cNvPr id="208" name="Google Shape;208;p10"/>
          <p:cNvSpPr txBox="1"/>
          <p:nvPr/>
        </p:nvSpPr>
        <p:spPr>
          <a:xfrm>
            <a:off x="2800350" y="44942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0</a:t>
            </a:r>
            <a:endParaRPr/>
          </a:p>
        </p:txBody>
      </p:sp>
      <p:sp>
        <p:nvSpPr>
          <p:cNvPr id="209" name="Google Shape;209;p10"/>
          <p:cNvSpPr txBox="1"/>
          <p:nvPr/>
        </p:nvSpPr>
        <p:spPr>
          <a:xfrm>
            <a:off x="3859212" y="44942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1</a:t>
            </a:r>
            <a:endParaRPr/>
          </a:p>
        </p:txBody>
      </p:sp>
      <p:sp>
        <p:nvSpPr>
          <p:cNvPr id="210" name="Google Shape;210;p10"/>
          <p:cNvSpPr txBox="1"/>
          <p:nvPr/>
        </p:nvSpPr>
        <p:spPr>
          <a:xfrm>
            <a:off x="4919662" y="44942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2</a:t>
            </a:r>
            <a:endParaRPr/>
          </a:p>
        </p:txBody>
      </p:sp>
      <p:sp>
        <p:nvSpPr>
          <p:cNvPr id="211" name="Google Shape;211;p10"/>
          <p:cNvSpPr txBox="1"/>
          <p:nvPr/>
        </p:nvSpPr>
        <p:spPr>
          <a:xfrm>
            <a:off x="5978525" y="44942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3</a:t>
            </a:r>
            <a:endParaRPr/>
          </a:p>
        </p:txBody>
      </p:sp>
      <p:sp>
        <p:nvSpPr>
          <p:cNvPr id="212" name="Google Shape;212;p10"/>
          <p:cNvSpPr txBox="1"/>
          <p:nvPr/>
        </p:nvSpPr>
        <p:spPr>
          <a:xfrm>
            <a:off x="7037387" y="44942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4</a:t>
            </a:r>
            <a:endParaRPr/>
          </a:p>
        </p:txBody>
      </p:sp>
      <p:sp>
        <p:nvSpPr>
          <p:cNvPr id="213" name="Google Shape;213;p10"/>
          <p:cNvSpPr txBox="1"/>
          <p:nvPr/>
        </p:nvSpPr>
        <p:spPr>
          <a:xfrm>
            <a:off x="8096250" y="44942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5</a:t>
            </a:r>
            <a:endParaRPr/>
          </a:p>
        </p:txBody>
      </p:sp>
      <p:sp>
        <p:nvSpPr>
          <p:cNvPr id="214" name="Google Shape;214;p10"/>
          <p:cNvSpPr txBox="1"/>
          <p:nvPr/>
        </p:nvSpPr>
        <p:spPr>
          <a:xfrm>
            <a:off x="1830387"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0</a:t>
            </a:r>
            <a:endParaRPr/>
          </a:p>
        </p:txBody>
      </p:sp>
      <p:sp>
        <p:nvSpPr>
          <p:cNvPr id="215" name="Google Shape;215;p10"/>
          <p:cNvSpPr txBox="1"/>
          <p:nvPr/>
        </p:nvSpPr>
        <p:spPr>
          <a:xfrm>
            <a:off x="2544762"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1</a:t>
            </a:r>
            <a:endParaRPr/>
          </a:p>
        </p:txBody>
      </p:sp>
      <p:sp>
        <p:nvSpPr>
          <p:cNvPr id="216" name="Google Shape;216;p10"/>
          <p:cNvSpPr txBox="1"/>
          <p:nvPr/>
        </p:nvSpPr>
        <p:spPr>
          <a:xfrm>
            <a:off x="3270250"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2</a:t>
            </a:r>
            <a:endParaRPr/>
          </a:p>
        </p:txBody>
      </p:sp>
      <p:sp>
        <p:nvSpPr>
          <p:cNvPr id="217" name="Google Shape;217;p10"/>
          <p:cNvSpPr txBox="1"/>
          <p:nvPr/>
        </p:nvSpPr>
        <p:spPr>
          <a:xfrm>
            <a:off x="3990975" y="5827712"/>
            <a:ext cx="320675"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3</a:t>
            </a:r>
            <a:endParaRPr/>
          </a:p>
        </p:txBody>
      </p:sp>
      <p:sp>
        <p:nvSpPr>
          <p:cNvPr id="218" name="Google Shape;218;p10"/>
          <p:cNvSpPr txBox="1"/>
          <p:nvPr/>
        </p:nvSpPr>
        <p:spPr>
          <a:xfrm>
            <a:off x="4699000"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4</a:t>
            </a:r>
            <a:endParaRPr/>
          </a:p>
        </p:txBody>
      </p:sp>
      <p:sp>
        <p:nvSpPr>
          <p:cNvPr id="219" name="Google Shape;219;p10"/>
          <p:cNvSpPr txBox="1"/>
          <p:nvPr/>
        </p:nvSpPr>
        <p:spPr>
          <a:xfrm>
            <a:off x="5424487"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5</a:t>
            </a:r>
            <a:endParaRPr/>
          </a:p>
        </p:txBody>
      </p:sp>
      <p:sp>
        <p:nvSpPr>
          <p:cNvPr id="220" name="Google Shape;220;p10"/>
          <p:cNvSpPr txBox="1"/>
          <p:nvPr/>
        </p:nvSpPr>
        <p:spPr>
          <a:xfrm>
            <a:off x="6138862"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6</a:t>
            </a:r>
            <a:endParaRPr/>
          </a:p>
        </p:txBody>
      </p:sp>
      <p:sp>
        <p:nvSpPr>
          <p:cNvPr id="221" name="Google Shape;221;p10"/>
          <p:cNvSpPr txBox="1"/>
          <p:nvPr/>
        </p:nvSpPr>
        <p:spPr>
          <a:xfrm>
            <a:off x="6854825"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7</a:t>
            </a:r>
            <a:endParaRPr/>
          </a:p>
        </p:txBody>
      </p:sp>
      <p:sp>
        <p:nvSpPr>
          <p:cNvPr id="222" name="Google Shape;222;p10"/>
          <p:cNvSpPr txBox="1"/>
          <p:nvPr/>
        </p:nvSpPr>
        <p:spPr>
          <a:xfrm>
            <a:off x="7569200" y="5827712"/>
            <a:ext cx="320675"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8</a:t>
            </a:r>
            <a:endParaRPr/>
          </a:p>
        </p:txBody>
      </p:sp>
      <p:sp>
        <p:nvSpPr>
          <p:cNvPr id="223" name="Google Shape;223;p10"/>
          <p:cNvSpPr txBox="1"/>
          <p:nvPr/>
        </p:nvSpPr>
        <p:spPr>
          <a:xfrm>
            <a:off x="8297862" y="5827712"/>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9</a:t>
            </a:r>
            <a:endParaRPr/>
          </a:p>
        </p:txBody>
      </p:sp>
      <p:graphicFrame>
        <p:nvGraphicFramePr>
          <p:cNvPr id="224" name="Google Shape;224;p10"/>
          <p:cNvGraphicFramePr/>
          <p:nvPr/>
        </p:nvGraphicFramePr>
        <p:xfrm>
          <a:off x="1627187" y="5276850"/>
          <a:ext cx="7165900" cy="523875"/>
        </p:xfrm>
        <a:graphic>
          <a:graphicData uri="http://schemas.openxmlformats.org/drawingml/2006/table">
            <a:tbl>
              <a:tblPr>
                <a:noFill/>
              </a:tblPr>
              <a:tblGrid>
                <a:gridCol w="715950">
                  <a:extLst>
                    <a:ext uri="{9D8B030D-6E8A-4147-A177-3AD203B41FA5}">
                      <a16:colId xmlns:a16="http://schemas.microsoft.com/office/drawing/2014/main" val="20000"/>
                    </a:ext>
                  </a:extLst>
                </a:gridCol>
                <a:gridCol w="717550">
                  <a:extLst>
                    <a:ext uri="{9D8B030D-6E8A-4147-A177-3AD203B41FA5}">
                      <a16:colId xmlns:a16="http://schemas.microsoft.com/office/drawing/2014/main" val="20001"/>
                    </a:ext>
                  </a:extLst>
                </a:gridCol>
                <a:gridCol w="715950">
                  <a:extLst>
                    <a:ext uri="{9D8B030D-6E8A-4147-A177-3AD203B41FA5}">
                      <a16:colId xmlns:a16="http://schemas.microsoft.com/office/drawing/2014/main" val="20002"/>
                    </a:ext>
                  </a:extLst>
                </a:gridCol>
                <a:gridCol w="717550">
                  <a:extLst>
                    <a:ext uri="{9D8B030D-6E8A-4147-A177-3AD203B41FA5}">
                      <a16:colId xmlns:a16="http://schemas.microsoft.com/office/drawing/2014/main" val="20003"/>
                    </a:ext>
                  </a:extLst>
                </a:gridCol>
                <a:gridCol w="715950">
                  <a:extLst>
                    <a:ext uri="{9D8B030D-6E8A-4147-A177-3AD203B41FA5}">
                      <a16:colId xmlns:a16="http://schemas.microsoft.com/office/drawing/2014/main" val="20004"/>
                    </a:ext>
                  </a:extLst>
                </a:gridCol>
                <a:gridCol w="715950">
                  <a:extLst>
                    <a:ext uri="{9D8B030D-6E8A-4147-A177-3AD203B41FA5}">
                      <a16:colId xmlns:a16="http://schemas.microsoft.com/office/drawing/2014/main" val="20005"/>
                    </a:ext>
                  </a:extLst>
                </a:gridCol>
                <a:gridCol w="717550">
                  <a:extLst>
                    <a:ext uri="{9D8B030D-6E8A-4147-A177-3AD203B41FA5}">
                      <a16:colId xmlns:a16="http://schemas.microsoft.com/office/drawing/2014/main" val="20006"/>
                    </a:ext>
                  </a:extLst>
                </a:gridCol>
                <a:gridCol w="715950">
                  <a:extLst>
                    <a:ext uri="{9D8B030D-6E8A-4147-A177-3AD203B41FA5}">
                      <a16:colId xmlns:a16="http://schemas.microsoft.com/office/drawing/2014/main" val="20007"/>
                    </a:ext>
                  </a:extLst>
                </a:gridCol>
                <a:gridCol w="717550">
                  <a:extLst>
                    <a:ext uri="{9D8B030D-6E8A-4147-A177-3AD203B41FA5}">
                      <a16:colId xmlns:a16="http://schemas.microsoft.com/office/drawing/2014/main" val="20008"/>
                    </a:ext>
                  </a:extLst>
                </a:gridCol>
                <a:gridCol w="715950">
                  <a:extLst>
                    <a:ext uri="{9D8B030D-6E8A-4147-A177-3AD203B41FA5}">
                      <a16:colId xmlns:a16="http://schemas.microsoft.com/office/drawing/2014/main" val="20009"/>
                    </a:ext>
                  </a:extLst>
                </a:gridCol>
              </a:tblGrid>
              <a:tr h="523875">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25" name="Google Shape;225;p10"/>
          <p:cNvSpPr txBox="1"/>
          <p:nvPr/>
        </p:nvSpPr>
        <p:spPr>
          <a:xfrm>
            <a:off x="443642" y="5349875"/>
            <a:ext cx="1058936" cy="333515"/>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chemeClr val="dk1"/>
              </a:buClr>
              <a:buSzPts val="1900"/>
              <a:buFont typeface="Arial"/>
              <a:buNone/>
            </a:pPr>
            <a:r>
              <a:rPr lang="en-US" sz="1600" b="1" i="0" u="none">
                <a:solidFill>
                  <a:schemeClr val="dk1"/>
                </a:solidFill>
                <a:latin typeface="Arial"/>
                <a:ea typeface="Arial"/>
                <a:cs typeface="Arial"/>
                <a:sym typeface="Arial"/>
              </a:rPr>
              <a:t>names</a:t>
            </a:r>
            <a:endParaRPr lang="id-ID" sz="1600">
              <a:solidFill>
                <a:schemeClr val="dk1"/>
              </a:solidFill>
              <a:cs typeface="Arial"/>
            </a:endParaRPr>
          </a:p>
        </p:txBody>
      </p:sp>
      <p:grpSp>
        <p:nvGrpSpPr>
          <p:cNvPr id="226" name="Google Shape;226;p10"/>
          <p:cNvGrpSpPr/>
          <p:nvPr/>
        </p:nvGrpSpPr>
        <p:grpSpPr>
          <a:xfrm>
            <a:off x="715962" y="1596093"/>
            <a:ext cx="8335963" cy="538438"/>
            <a:chOff x="0" y="0"/>
            <a:chExt cx="8336199" cy="539750"/>
          </a:xfrm>
        </p:grpSpPr>
        <p:sp>
          <p:nvSpPr>
            <p:cNvPr id="227" name="Google Shape;227;p10"/>
            <p:cNvSpPr/>
            <p:nvPr/>
          </p:nvSpPr>
          <p:spPr>
            <a:xfrm>
              <a:off x="0" y="0"/>
              <a:ext cx="7713663" cy="539750"/>
            </a:xfrm>
            <a:prstGeom prst="roundRect">
              <a:avLst>
                <a:gd name="adj" fmla="val 4734"/>
              </a:avLst>
            </a:prstGeom>
            <a:noFill/>
            <a:ln w="25400" cap="flat" cmpd="sng">
              <a:solidFill>
                <a:srgbClr val="C5003D"/>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228" name="Google Shape;228;p10"/>
            <p:cNvSpPr txBox="1"/>
            <p:nvPr/>
          </p:nvSpPr>
          <p:spPr>
            <a:xfrm>
              <a:off x="149473" y="127449"/>
              <a:ext cx="8186726" cy="284850"/>
            </a:xfrm>
            <a:prstGeom prst="rect">
              <a:avLst/>
            </a:prstGeom>
            <a:noFill/>
            <a:ln>
              <a:noFill/>
            </a:ln>
          </p:spPr>
          <p:txBody>
            <a:bodyPr spcFirstLastPara="1" wrap="square" lIns="34025" tIns="34025" rIns="34025" bIns="34025" anchor="ctr" anchorCtr="0">
              <a:spAutoFit/>
            </a:bodyPr>
            <a:lstStyle/>
            <a:p>
              <a:pPr marL="0" marR="0" lvl="0" indent="0" algn="l" rtl="0">
                <a:lnSpc>
                  <a:spcPct val="100000"/>
                </a:lnSpc>
                <a:spcBef>
                  <a:spcPts val="0"/>
                </a:spcBef>
                <a:spcAft>
                  <a:spcPts val="0"/>
                </a:spcAft>
                <a:buClr>
                  <a:schemeClr val="dk1"/>
                </a:buClr>
                <a:buSzPts val="1700"/>
                <a:buFont typeface="Arial"/>
                <a:buNone/>
              </a:pPr>
              <a:r>
                <a:rPr lang="en-US" sz="1400" b="0" i="0" u="none">
                  <a:solidFill>
                    <a:schemeClr val="dk1"/>
                  </a:solidFill>
                  <a:latin typeface="Arial"/>
                  <a:ea typeface="Arial"/>
                  <a:cs typeface="Arial"/>
                  <a:sym typeface="Arial"/>
                </a:rPr>
                <a:t>[Grammar]	</a:t>
              </a:r>
              <a:r>
                <a:rPr lang="en-US" sz="1400" b="1" i="0" u="none" err="1">
                  <a:solidFill>
                    <a:schemeClr val="dk1"/>
                  </a:solidFill>
                  <a:latin typeface="Arial"/>
                  <a:ea typeface="Arial"/>
                  <a:cs typeface="Arial"/>
                  <a:sym typeface="Arial"/>
                </a:rPr>
                <a:t>Data_Type</a:t>
              </a:r>
              <a:r>
                <a:rPr lang="en-US" sz="1400" b="1" i="0" u="none">
                  <a:solidFill>
                    <a:schemeClr val="dk1"/>
                  </a:solidFill>
                  <a:latin typeface="Arial"/>
                  <a:ea typeface="Arial"/>
                  <a:cs typeface="Arial"/>
                  <a:sym typeface="Arial"/>
                </a:rPr>
                <a:t>[]  Nama </a:t>
              </a:r>
              <a:r>
                <a:rPr lang="en-US" sz="1400" b="1" i="0" u="none" err="1">
                  <a:solidFill>
                    <a:schemeClr val="dk1"/>
                  </a:solidFill>
                  <a:latin typeface="Arial"/>
                  <a:ea typeface="Arial"/>
                  <a:cs typeface="Arial"/>
                  <a:sym typeface="Arial"/>
                </a:rPr>
                <a:t>variabel</a:t>
              </a:r>
              <a:r>
                <a:rPr lang="en-US" sz="1400" b="1" i="0" u="none">
                  <a:solidFill>
                    <a:schemeClr val="dk1"/>
                  </a:solidFill>
                  <a:latin typeface="Arial"/>
                  <a:ea typeface="Arial"/>
                  <a:cs typeface="Arial"/>
                  <a:sym typeface="Arial"/>
                </a:rPr>
                <a:t>  =  new  </a:t>
              </a:r>
              <a:r>
                <a:rPr lang="en-US" sz="1400" b="1" i="0" u="none" err="1">
                  <a:solidFill>
                    <a:schemeClr val="dk1"/>
                  </a:solidFill>
                  <a:latin typeface="Arial"/>
                  <a:ea typeface="Arial"/>
                  <a:cs typeface="Arial"/>
                  <a:sym typeface="Arial"/>
                </a:rPr>
                <a:t>Data_Type</a:t>
              </a:r>
              <a:r>
                <a:rPr lang="en-US" sz="1400" b="1" i="0" u="none">
                  <a:solidFill>
                    <a:schemeClr val="dk1"/>
                  </a:solidFill>
                  <a:latin typeface="Arial"/>
                  <a:ea typeface="Arial"/>
                  <a:cs typeface="Arial"/>
                  <a:sym typeface="Arial"/>
                </a:rPr>
                <a:t> [</a:t>
              </a:r>
              <a:r>
                <a:rPr lang="en-US" sz="1400" b="1" i="0" u="none" err="1">
                  <a:solidFill>
                    <a:schemeClr val="dk1"/>
                  </a:solidFill>
                  <a:latin typeface="Arial"/>
                  <a:ea typeface="Arial"/>
                  <a:cs typeface="Arial"/>
                  <a:sym typeface="Arial"/>
                </a:rPr>
                <a:t>penyimpanan_jumlah</a:t>
              </a:r>
              <a:r>
                <a:rPr lang="en-US" sz="1400" b="1" i="0" u="none">
                  <a:solidFill>
                    <a:schemeClr val="dk1"/>
                  </a:solidFill>
                  <a:latin typeface="Arial"/>
                  <a:ea typeface="Arial"/>
                  <a:cs typeface="Arial"/>
                  <a:sym typeface="Arial"/>
                </a:rPr>
                <a:t>] ;</a:t>
              </a:r>
              <a:endParaRPr lang="id-ID" sz="1400">
                <a:solidFill>
                  <a:schemeClr val="dk1"/>
                </a:solidFill>
                <a:cs typeface="Arial"/>
              </a:endParaRPr>
            </a:p>
          </p:txBody>
        </p:sp>
      </p:grpSp>
      <p:grpSp>
        <p:nvGrpSpPr>
          <p:cNvPr id="229" name="Google Shape;229;p10"/>
          <p:cNvGrpSpPr/>
          <p:nvPr/>
        </p:nvGrpSpPr>
        <p:grpSpPr>
          <a:xfrm>
            <a:off x="715962" y="2322512"/>
            <a:ext cx="7713663" cy="1011238"/>
            <a:chOff x="0" y="0"/>
            <a:chExt cx="7713663" cy="1011238"/>
          </a:xfrm>
        </p:grpSpPr>
        <p:sp>
          <p:nvSpPr>
            <p:cNvPr id="230" name="Google Shape;230;p10"/>
            <p:cNvSpPr/>
            <p:nvPr/>
          </p:nvSpPr>
          <p:spPr>
            <a:xfrm>
              <a:off x="0" y="0"/>
              <a:ext cx="7713663" cy="1011238"/>
            </a:xfrm>
            <a:prstGeom prst="roundRect">
              <a:avLst>
                <a:gd name="adj" fmla="val 2755"/>
              </a:avLst>
            </a:prstGeom>
            <a:noFill/>
            <a:ln w="25400" cap="flat" cmpd="sng">
              <a:solidFill>
                <a:srgbClr val="C5003D"/>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231" name="Google Shape;231;p10"/>
            <p:cNvSpPr txBox="1"/>
            <p:nvPr/>
          </p:nvSpPr>
          <p:spPr>
            <a:xfrm>
              <a:off x="152595" y="223757"/>
              <a:ext cx="7408473" cy="563722"/>
            </a:xfrm>
            <a:prstGeom prst="rect">
              <a:avLst/>
            </a:prstGeom>
            <a:noFill/>
            <a:ln>
              <a:noFill/>
            </a:ln>
          </p:spPr>
          <p:txBody>
            <a:bodyPr spcFirstLastPara="1" wrap="square" lIns="34025" tIns="34025" rIns="34025" bIns="34025" anchor="ctr" anchorCtr="0">
              <a:spAutoFit/>
            </a:bodyPr>
            <a:lstStyle/>
            <a:p>
              <a:pPr marL="0" marR="0" lvl="0" indent="0" algn="l" rtl="0">
                <a:lnSpc>
                  <a:spcPct val="100000"/>
                </a:lnSpc>
                <a:spcBef>
                  <a:spcPts val="0"/>
                </a:spcBef>
                <a:spcAft>
                  <a:spcPts val="0"/>
                </a:spcAft>
                <a:buClr>
                  <a:schemeClr val="dk1"/>
                </a:buClr>
                <a:buSzPts val="1700"/>
                <a:buFont typeface="Arial"/>
                <a:buNone/>
              </a:pPr>
              <a:r>
                <a:rPr lang="en-US" sz="1400" b="0" i="0" u="none">
                  <a:solidFill>
                    <a:schemeClr val="dk1"/>
                  </a:solidFill>
                  <a:latin typeface="Arial"/>
                  <a:ea typeface="Arial"/>
                  <a:cs typeface="Arial"/>
                  <a:sym typeface="Arial"/>
                </a:rPr>
                <a:t>[</a:t>
              </a:r>
              <a:r>
                <a:rPr lang="en-US" sz="1400" b="0" i="0" u="none" err="1">
                  <a:solidFill>
                    <a:schemeClr val="dk1"/>
                  </a:solidFill>
                  <a:latin typeface="Arial"/>
                  <a:ea typeface="Arial"/>
                  <a:cs typeface="Arial"/>
                  <a:sym typeface="Arial"/>
                </a:rPr>
                <a:t>Contoh</a:t>
              </a:r>
              <a:r>
                <a:rPr lang="en-US" sz="1400" b="0" i="0" u="none">
                  <a:solidFill>
                    <a:schemeClr val="dk1"/>
                  </a:solidFill>
                  <a:latin typeface="Arial"/>
                  <a:ea typeface="Arial"/>
                  <a:cs typeface="Arial"/>
                  <a:sym typeface="Arial"/>
                </a:rPr>
                <a:t>]	 int[]    </a:t>
              </a:r>
              <a:r>
                <a:rPr lang="en-US" sz="1400" b="0" i="0" u="none" err="1">
                  <a:solidFill>
                    <a:schemeClr val="dk1"/>
                  </a:solidFill>
                  <a:latin typeface="Arial"/>
                  <a:ea typeface="Arial"/>
                  <a:cs typeface="Arial"/>
                  <a:sym typeface="Arial"/>
                </a:rPr>
                <a:t>lottoNumbers</a:t>
              </a:r>
              <a:r>
                <a:rPr lang="en-US" sz="1400" b="0" i="0" u="none">
                  <a:solidFill>
                    <a:schemeClr val="dk1"/>
                  </a:solidFill>
                  <a:latin typeface="Arial"/>
                  <a:ea typeface="Arial"/>
                  <a:cs typeface="Arial"/>
                  <a:sym typeface="Arial"/>
                </a:rPr>
                <a:t>  =  new  int[6] ;</a:t>
              </a:r>
              <a:endParaRPr lang="id-ID" sz="1400">
                <a:solidFill>
                  <a:schemeClr val="dk1"/>
                </a:solidFill>
                <a:cs typeface="Arial"/>
              </a:endParaRPr>
            </a:p>
            <a:p>
              <a:pPr marL="0" marR="0" lvl="0" indent="0" algn="l" rtl="0">
                <a:lnSpc>
                  <a:spcPct val="100000"/>
                </a:lnSpc>
                <a:spcBef>
                  <a:spcPts val="500"/>
                </a:spcBef>
                <a:spcAft>
                  <a:spcPts val="0"/>
                </a:spcAft>
                <a:buClr>
                  <a:schemeClr val="dk1"/>
                </a:buClr>
                <a:buSzPts val="1700"/>
                <a:buFont typeface="Arial"/>
                <a:buNone/>
              </a:pPr>
              <a:r>
                <a:rPr lang="en-US" sz="1400" b="0" i="0" u="none">
                  <a:solidFill>
                    <a:schemeClr val="dk1"/>
                  </a:solidFill>
                  <a:latin typeface="Arial"/>
                  <a:ea typeface="Arial"/>
                  <a:cs typeface="Arial"/>
                  <a:sym typeface="Arial"/>
                </a:rPr>
                <a:t>	String[]      names     =  new  String[10] ;</a:t>
              </a:r>
              <a:endParaRPr sz="1400">
                <a:solidFill>
                  <a:schemeClr val="dk1"/>
                </a:solidFill>
                <a:cs typeface="Arial"/>
              </a:endParaRPr>
            </a:p>
          </p:txBody>
        </p:sp>
      </p:grpSp>
    </p:spTree>
    <p:extLst>
      <p:ext uri="{BB962C8B-B14F-4D97-AF65-F5344CB8AC3E}">
        <p14:creationId xmlns:p14="http://schemas.microsoft.com/office/powerpoint/2010/main" val="25168398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1"/>
          <p:cNvSpPr txBox="1"/>
          <p:nvPr/>
        </p:nvSpPr>
        <p:spPr>
          <a:xfrm>
            <a:off x="123825" y="49212"/>
            <a:ext cx="4448175" cy="571500"/>
          </a:xfrm>
          <a:prstGeom prst="rect">
            <a:avLst/>
          </a:prstGeom>
          <a:noFill/>
          <a:ln>
            <a:noFill/>
          </a:ln>
        </p:spPr>
        <p:txBody>
          <a:bodyPr spcFirstLastPara="1" wrap="square" lIns="86200" tIns="43100" rIns="86200" bIns="43100" anchor="ctr" anchorCtr="0">
            <a:noAutofit/>
          </a:bodyPr>
          <a:lstStyle/>
          <a:p>
            <a:pPr marL="0" marR="0" lvl="0" indent="84137" algn="l" rtl="0">
              <a:lnSpc>
                <a:spcPct val="100000"/>
              </a:lnSpc>
              <a:spcBef>
                <a:spcPts val="0"/>
              </a:spcBef>
              <a:spcAft>
                <a:spcPts val="0"/>
              </a:spcAft>
              <a:buClr>
                <a:schemeClr val="lt1"/>
              </a:buClr>
              <a:buSzPts val="2300"/>
              <a:buFont typeface="Arial"/>
              <a:buNone/>
            </a:pPr>
            <a:r>
              <a:rPr lang="en-US" sz="2300" b="1" i="0" u="none">
                <a:solidFill>
                  <a:schemeClr val="lt1"/>
                </a:solidFill>
                <a:latin typeface="Arial"/>
                <a:ea typeface="Arial"/>
                <a:cs typeface="Arial"/>
                <a:sym typeface="Arial"/>
              </a:rPr>
              <a:t>Mencetak nilai array</a:t>
            </a:r>
            <a:endParaRPr/>
          </a:p>
        </p:txBody>
      </p:sp>
      <p:sp>
        <p:nvSpPr>
          <p:cNvPr id="240" name="Google Shape;240;p11"/>
          <p:cNvSpPr txBox="1"/>
          <p:nvPr/>
        </p:nvSpPr>
        <p:spPr>
          <a:xfrm>
            <a:off x="350837" y="1017587"/>
            <a:ext cx="8442325" cy="449262"/>
          </a:xfrm>
          <a:prstGeom prst="rect">
            <a:avLst/>
          </a:prstGeom>
          <a:noFill/>
          <a:ln>
            <a:noFill/>
          </a:ln>
        </p:spPr>
        <p:txBody>
          <a:bodyPr spcFirstLastPara="1" wrap="square" lIns="86450" tIns="43225" rIns="86450" bIns="43225" anchor="t" anchorCtr="0">
            <a:spAutoFit/>
          </a:bodyPr>
          <a:lstStyle/>
          <a:p>
            <a:pPr marL="269875" marR="0" lvl="0" indent="-269875" algn="l" rtl="0">
              <a:lnSpc>
                <a:spcPct val="150000"/>
              </a:lnSpc>
              <a:spcBef>
                <a:spcPts val="0"/>
              </a:spcBef>
              <a:spcAft>
                <a:spcPts val="0"/>
              </a:spcAft>
              <a:buClr>
                <a:schemeClr val="dk1"/>
              </a:buClr>
              <a:buSzPts val="1800"/>
              <a:buFont typeface="Noto Sans Symbols"/>
              <a:buChar char="⮚"/>
            </a:pPr>
            <a:r>
              <a:rPr lang="en-US" sz="1800" b="0" i="0" u="none">
                <a:solidFill>
                  <a:schemeClr val="dk1"/>
                </a:solidFill>
                <a:latin typeface="Arial"/>
                <a:ea typeface="Arial"/>
                <a:cs typeface="Arial"/>
                <a:sym typeface="Arial"/>
              </a:rPr>
              <a:t>Cara mengecek nilai yang sudah tersimpan di dalam array</a:t>
            </a:r>
            <a:endParaRPr/>
          </a:p>
        </p:txBody>
      </p:sp>
      <p:graphicFrame>
        <p:nvGraphicFramePr>
          <p:cNvPr id="241" name="Google Shape;241;p11"/>
          <p:cNvGraphicFramePr/>
          <p:nvPr/>
        </p:nvGraphicFramePr>
        <p:xfrm>
          <a:off x="2438400" y="3854450"/>
          <a:ext cx="6354700" cy="522275"/>
        </p:xfrm>
        <a:graphic>
          <a:graphicData uri="http://schemas.openxmlformats.org/drawingml/2006/table">
            <a:tbl>
              <a:tblPr>
                <a:noFill/>
              </a:tblPr>
              <a:tblGrid>
                <a:gridCol w="1058850">
                  <a:extLst>
                    <a:ext uri="{9D8B030D-6E8A-4147-A177-3AD203B41FA5}">
                      <a16:colId xmlns:a16="http://schemas.microsoft.com/office/drawing/2014/main" val="20000"/>
                    </a:ext>
                  </a:extLst>
                </a:gridCol>
                <a:gridCol w="1058850">
                  <a:extLst>
                    <a:ext uri="{9D8B030D-6E8A-4147-A177-3AD203B41FA5}">
                      <a16:colId xmlns:a16="http://schemas.microsoft.com/office/drawing/2014/main" val="20001"/>
                    </a:ext>
                  </a:extLst>
                </a:gridCol>
                <a:gridCol w="1058850">
                  <a:extLst>
                    <a:ext uri="{9D8B030D-6E8A-4147-A177-3AD203B41FA5}">
                      <a16:colId xmlns:a16="http://schemas.microsoft.com/office/drawing/2014/main" val="20002"/>
                    </a:ext>
                  </a:extLst>
                </a:gridCol>
                <a:gridCol w="1060450">
                  <a:extLst>
                    <a:ext uri="{9D8B030D-6E8A-4147-A177-3AD203B41FA5}">
                      <a16:colId xmlns:a16="http://schemas.microsoft.com/office/drawing/2014/main" val="20003"/>
                    </a:ext>
                  </a:extLst>
                </a:gridCol>
                <a:gridCol w="1058850">
                  <a:extLst>
                    <a:ext uri="{9D8B030D-6E8A-4147-A177-3AD203B41FA5}">
                      <a16:colId xmlns:a16="http://schemas.microsoft.com/office/drawing/2014/main" val="20004"/>
                    </a:ext>
                  </a:extLst>
                </a:gridCol>
                <a:gridCol w="1058850">
                  <a:extLst>
                    <a:ext uri="{9D8B030D-6E8A-4147-A177-3AD203B41FA5}">
                      <a16:colId xmlns:a16="http://schemas.microsoft.com/office/drawing/2014/main" val="20005"/>
                    </a:ext>
                  </a:extLst>
                </a:gridCol>
              </a:tblGrid>
              <a:tr h="522275">
                <a:tc>
                  <a:txBody>
                    <a:bodyPr/>
                    <a:lstStyle/>
                    <a:p>
                      <a:pPr marL="0" marR="0" lvl="0" indent="0" algn="ctr" rtl="0">
                        <a:lnSpc>
                          <a:spcPct val="100000"/>
                        </a:lnSpc>
                        <a:spcBef>
                          <a:spcPts val="0"/>
                        </a:spcBef>
                        <a:spcAft>
                          <a:spcPts val="0"/>
                        </a:spcAft>
                        <a:buClr>
                          <a:srgbClr val="C5003D"/>
                        </a:buClr>
                        <a:buSzPts val="1900"/>
                        <a:buFont typeface="Arial"/>
                        <a:buNone/>
                      </a:pPr>
                      <a:r>
                        <a:rPr lang="en-US" sz="1900" b="1" i="0" u="none" strike="noStrike" cap="none">
                          <a:solidFill>
                            <a:srgbClr val="C5003D"/>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0</a:t>
                      </a:r>
                      <a:endParaRPr/>
                    </a:p>
                  </a:txBody>
                  <a:tcPr marL="91450" marR="91450" marT="45600" marB="45600"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42" name="Google Shape;242;p11"/>
          <p:cNvSpPr txBox="1"/>
          <p:nvPr/>
        </p:nvSpPr>
        <p:spPr>
          <a:xfrm>
            <a:off x="2800350" y="44100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C5003D"/>
              </a:buClr>
              <a:buSzPts val="1900"/>
              <a:buFont typeface="Arial"/>
              <a:buNone/>
            </a:pPr>
            <a:r>
              <a:rPr lang="en-US" sz="1900" b="1" i="0" u="none">
                <a:solidFill>
                  <a:srgbClr val="C5003D"/>
                </a:solidFill>
                <a:latin typeface="Arial"/>
                <a:ea typeface="Arial"/>
                <a:cs typeface="Arial"/>
                <a:sym typeface="Arial"/>
              </a:rPr>
              <a:t>0</a:t>
            </a:r>
            <a:endParaRPr/>
          </a:p>
        </p:txBody>
      </p:sp>
      <p:sp>
        <p:nvSpPr>
          <p:cNvPr id="243" name="Google Shape;243;p11"/>
          <p:cNvSpPr txBox="1"/>
          <p:nvPr/>
        </p:nvSpPr>
        <p:spPr>
          <a:xfrm>
            <a:off x="3859212" y="44100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1</a:t>
            </a:r>
            <a:endParaRPr/>
          </a:p>
        </p:txBody>
      </p:sp>
      <p:sp>
        <p:nvSpPr>
          <p:cNvPr id="244" name="Google Shape;244;p11"/>
          <p:cNvSpPr txBox="1"/>
          <p:nvPr/>
        </p:nvSpPr>
        <p:spPr>
          <a:xfrm>
            <a:off x="4919662" y="44100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2</a:t>
            </a:r>
            <a:endParaRPr/>
          </a:p>
        </p:txBody>
      </p:sp>
      <p:sp>
        <p:nvSpPr>
          <p:cNvPr id="245" name="Google Shape;245;p11"/>
          <p:cNvSpPr txBox="1"/>
          <p:nvPr/>
        </p:nvSpPr>
        <p:spPr>
          <a:xfrm>
            <a:off x="5978525" y="44100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3</a:t>
            </a:r>
            <a:endParaRPr/>
          </a:p>
        </p:txBody>
      </p:sp>
      <p:sp>
        <p:nvSpPr>
          <p:cNvPr id="246" name="Google Shape;246;p11"/>
          <p:cNvSpPr txBox="1"/>
          <p:nvPr/>
        </p:nvSpPr>
        <p:spPr>
          <a:xfrm>
            <a:off x="7037387" y="44100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4</a:t>
            </a:r>
            <a:endParaRPr/>
          </a:p>
        </p:txBody>
      </p:sp>
      <p:sp>
        <p:nvSpPr>
          <p:cNvPr id="247" name="Google Shape;247;p11"/>
          <p:cNvSpPr txBox="1"/>
          <p:nvPr/>
        </p:nvSpPr>
        <p:spPr>
          <a:xfrm>
            <a:off x="8096250" y="44100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5</a:t>
            </a:r>
            <a:endParaRPr/>
          </a:p>
        </p:txBody>
      </p:sp>
      <p:sp>
        <p:nvSpPr>
          <p:cNvPr id="248" name="Google Shape;248;p11"/>
          <p:cNvSpPr txBox="1"/>
          <p:nvPr/>
        </p:nvSpPr>
        <p:spPr>
          <a:xfrm>
            <a:off x="1830387"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0</a:t>
            </a:r>
            <a:endParaRPr/>
          </a:p>
        </p:txBody>
      </p:sp>
      <p:sp>
        <p:nvSpPr>
          <p:cNvPr id="249" name="Google Shape;249;p11"/>
          <p:cNvSpPr txBox="1"/>
          <p:nvPr/>
        </p:nvSpPr>
        <p:spPr>
          <a:xfrm>
            <a:off x="2544762"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1</a:t>
            </a:r>
            <a:endParaRPr/>
          </a:p>
        </p:txBody>
      </p:sp>
      <p:sp>
        <p:nvSpPr>
          <p:cNvPr id="250" name="Google Shape;250;p11"/>
          <p:cNvSpPr txBox="1"/>
          <p:nvPr/>
        </p:nvSpPr>
        <p:spPr>
          <a:xfrm>
            <a:off x="3270250"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2</a:t>
            </a:r>
            <a:endParaRPr/>
          </a:p>
        </p:txBody>
      </p:sp>
      <p:sp>
        <p:nvSpPr>
          <p:cNvPr id="251" name="Google Shape;251;p11"/>
          <p:cNvSpPr txBox="1"/>
          <p:nvPr/>
        </p:nvSpPr>
        <p:spPr>
          <a:xfrm>
            <a:off x="3990975" y="5743575"/>
            <a:ext cx="320675"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3</a:t>
            </a:r>
            <a:endParaRPr/>
          </a:p>
        </p:txBody>
      </p:sp>
      <p:sp>
        <p:nvSpPr>
          <p:cNvPr id="252" name="Google Shape;252;p11"/>
          <p:cNvSpPr txBox="1"/>
          <p:nvPr/>
        </p:nvSpPr>
        <p:spPr>
          <a:xfrm>
            <a:off x="4699000"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4</a:t>
            </a:r>
            <a:endParaRPr/>
          </a:p>
        </p:txBody>
      </p:sp>
      <p:sp>
        <p:nvSpPr>
          <p:cNvPr id="253" name="Google Shape;253;p11"/>
          <p:cNvSpPr txBox="1"/>
          <p:nvPr/>
        </p:nvSpPr>
        <p:spPr>
          <a:xfrm>
            <a:off x="5424487"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5</a:t>
            </a:r>
            <a:endParaRPr/>
          </a:p>
        </p:txBody>
      </p:sp>
      <p:sp>
        <p:nvSpPr>
          <p:cNvPr id="254" name="Google Shape;254;p11"/>
          <p:cNvSpPr txBox="1"/>
          <p:nvPr/>
        </p:nvSpPr>
        <p:spPr>
          <a:xfrm>
            <a:off x="6138862"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6</a:t>
            </a:r>
            <a:endParaRPr/>
          </a:p>
        </p:txBody>
      </p:sp>
      <p:sp>
        <p:nvSpPr>
          <p:cNvPr id="255" name="Google Shape;255;p11"/>
          <p:cNvSpPr txBox="1"/>
          <p:nvPr/>
        </p:nvSpPr>
        <p:spPr>
          <a:xfrm>
            <a:off x="6854825"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7</a:t>
            </a:r>
            <a:endParaRPr/>
          </a:p>
        </p:txBody>
      </p:sp>
      <p:sp>
        <p:nvSpPr>
          <p:cNvPr id="256" name="Google Shape;256;p11"/>
          <p:cNvSpPr txBox="1"/>
          <p:nvPr/>
        </p:nvSpPr>
        <p:spPr>
          <a:xfrm>
            <a:off x="7569200" y="5743575"/>
            <a:ext cx="320675"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4F6228"/>
              </a:buClr>
              <a:buSzPts val="1900"/>
              <a:buFont typeface="Arial"/>
              <a:buNone/>
            </a:pPr>
            <a:r>
              <a:rPr lang="en-US" sz="1900" b="1" i="0" u="none">
                <a:solidFill>
                  <a:srgbClr val="4F6228"/>
                </a:solidFill>
                <a:latin typeface="Arial"/>
                <a:ea typeface="Arial"/>
                <a:cs typeface="Arial"/>
                <a:sym typeface="Arial"/>
              </a:rPr>
              <a:t>8</a:t>
            </a:r>
            <a:endParaRPr/>
          </a:p>
        </p:txBody>
      </p:sp>
      <p:sp>
        <p:nvSpPr>
          <p:cNvPr id="257" name="Google Shape;257;p11"/>
          <p:cNvSpPr txBox="1"/>
          <p:nvPr/>
        </p:nvSpPr>
        <p:spPr>
          <a:xfrm>
            <a:off x="8297862" y="5743575"/>
            <a:ext cx="32226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rgbClr val="C5003D"/>
              </a:buClr>
              <a:buSzPts val="1900"/>
              <a:buFont typeface="Arial"/>
              <a:buNone/>
            </a:pPr>
            <a:r>
              <a:rPr lang="en-US" sz="1900" b="1" i="0" u="none">
                <a:solidFill>
                  <a:srgbClr val="C5003D"/>
                </a:solidFill>
                <a:latin typeface="Arial"/>
                <a:ea typeface="Arial"/>
                <a:cs typeface="Arial"/>
                <a:sym typeface="Arial"/>
              </a:rPr>
              <a:t>9</a:t>
            </a:r>
            <a:endParaRPr/>
          </a:p>
        </p:txBody>
      </p:sp>
      <p:graphicFrame>
        <p:nvGraphicFramePr>
          <p:cNvPr id="258" name="Google Shape;258;p11"/>
          <p:cNvGraphicFramePr/>
          <p:nvPr/>
        </p:nvGraphicFramePr>
        <p:xfrm>
          <a:off x="1627187" y="5192712"/>
          <a:ext cx="7165900" cy="523875"/>
        </p:xfrm>
        <a:graphic>
          <a:graphicData uri="http://schemas.openxmlformats.org/drawingml/2006/table">
            <a:tbl>
              <a:tblPr>
                <a:noFill/>
              </a:tblPr>
              <a:tblGrid>
                <a:gridCol w="715950">
                  <a:extLst>
                    <a:ext uri="{9D8B030D-6E8A-4147-A177-3AD203B41FA5}">
                      <a16:colId xmlns:a16="http://schemas.microsoft.com/office/drawing/2014/main" val="20000"/>
                    </a:ext>
                  </a:extLst>
                </a:gridCol>
                <a:gridCol w="717550">
                  <a:extLst>
                    <a:ext uri="{9D8B030D-6E8A-4147-A177-3AD203B41FA5}">
                      <a16:colId xmlns:a16="http://schemas.microsoft.com/office/drawing/2014/main" val="20001"/>
                    </a:ext>
                  </a:extLst>
                </a:gridCol>
                <a:gridCol w="715950">
                  <a:extLst>
                    <a:ext uri="{9D8B030D-6E8A-4147-A177-3AD203B41FA5}">
                      <a16:colId xmlns:a16="http://schemas.microsoft.com/office/drawing/2014/main" val="20002"/>
                    </a:ext>
                  </a:extLst>
                </a:gridCol>
                <a:gridCol w="717550">
                  <a:extLst>
                    <a:ext uri="{9D8B030D-6E8A-4147-A177-3AD203B41FA5}">
                      <a16:colId xmlns:a16="http://schemas.microsoft.com/office/drawing/2014/main" val="20003"/>
                    </a:ext>
                  </a:extLst>
                </a:gridCol>
                <a:gridCol w="715950">
                  <a:extLst>
                    <a:ext uri="{9D8B030D-6E8A-4147-A177-3AD203B41FA5}">
                      <a16:colId xmlns:a16="http://schemas.microsoft.com/office/drawing/2014/main" val="20004"/>
                    </a:ext>
                  </a:extLst>
                </a:gridCol>
                <a:gridCol w="715950">
                  <a:extLst>
                    <a:ext uri="{9D8B030D-6E8A-4147-A177-3AD203B41FA5}">
                      <a16:colId xmlns:a16="http://schemas.microsoft.com/office/drawing/2014/main" val="20005"/>
                    </a:ext>
                  </a:extLst>
                </a:gridCol>
                <a:gridCol w="717550">
                  <a:extLst>
                    <a:ext uri="{9D8B030D-6E8A-4147-A177-3AD203B41FA5}">
                      <a16:colId xmlns:a16="http://schemas.microsoft.com/office/drawing/2014/main" val="20006"/>
                    </a:ext>
                  </a:extLst>
                </a:gridCol>
                <a:gridCol w="715950">
                  <a:extLst>
                    <a:ext uri="{9D8B030D-6E8A-4147-A177-3AD203B41FA5}">
                      <a16:colId xmlns:a16="http://schemas.microsoft.com/office/drawing/2014/main" val="20007"/>
                    </a:ext>
                  </a:extLst>
                </a:gridCol>
                <a:gridCol w="717550">
                  <a:extLst>
                    <a:ext uri="{9D8B030D-6E8A-4147-A177-3AD203B41FA5}">
                      <a16:colId xmlns:a16="http://schemas.microsoft.com/office/drawing/2014/main" val="20008"/>
                    </a:ext>
                  </a:extLst>
                </a:gridCol>
                <a:gridCol w="715950">
                  <a:extLst>
                    <a:ext uri="{9D8B030D-6E8A-4147-A177-3AD203B41FA5}">
                      <a16:colId xmlns:a16="http://schemas.microsoft.com/office/drawing/2014/main" val="20009"/>
                    </a:ext>
                  </a:extLst>
                </a:gridCol>
              </a:tblGrid>
              <a:tr h="523875">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C5003D"/>
                        </a:buClr>
                        <a:buSzPts val="1900"/>
                        <a:buFont typeface="Arial"/>
                        <a:buNone/>
                      </a:pPr>
                      <a:r>
                        <a:rPr lang="en-US" sz="1900" b="1" i="0" u="none" strike="noStrike" cap="none">
                          <a:solidFill>
                            <a:srgbClr val="C5003D"/>
                          </a:solidFill>
                          <a:latin typeface="Arial"/>
                          <a:ea typeface="Arial"/>
                          <a:cs typeface="Arial"/>
                          <a:sym typeface="Arial"/>
                        </a:rPr>
                        <a:t>null</a:t>
                      </a:r>
                      <a:endParaRPr/>
                    </a:p>
                  </a:txBody>
                  <a:tcPr marL="91450" marR="91450" marT="45725" marB="45725" anchor="ctr">
                    <a:lnL w="76200" cap="flat" cmpd="sng">
                      <a:solidFill>
                        <a:srgbClr val="4F6228"/>
                      </a:solidFill>
                      <a:prstDash val="solid"/>
                      <a:round/>
                      <a:headEnd type="none" w="sm" len="sm"/>
                      <a:tailEnd type="none" w="sm" len="sm"/>
                    </a:lnL>
                    <a:lnR w="76200" cap="flat" cmpd="sng">
                      <a:solidFill>
                        <a:srgbClr val="4F6228"/>
                      </a:solidFill>
                      <a:prstDash val="solid"/>
                      <a:round/>
                      <a:headEnd type="none" w="sm" len="sm"/>
                      <a:tailEnd type="none" w="sm" len="sm"/>
                    </a:lnR>
                    <a:lnT w="76200" cap="flat" cmpd="sng">
                      <a:solidFill>
                        <a:srgbClr val="4F6228"/>
                      </a:solidFill>
                      <a:prstDash val="solid"/>
                      <a:round/>
                      <a:headEnd type="none" w="sm" len="sm"/>
                      <a:tailEnd type="none" w="sm" len="sm"/>
                    </a:lnT>
                    <a:lnB w="76200" cap="flat" cmpd="sng">
                      <a:solidFill>
                        <a:srgbClr val="4F6228"/>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59" name="Google Shape;259;p11"/>
          <p:cNvSpPr txBox="1"/>
          <p:nvPr/>
        </p:nvSpPr>
        <p:spPr>
          <a:xfrm>
            <a:off x="550862" y="5265737"/>
            <a:ext cx="784225"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chemeClr val="dk1"/>
              </a:buClr>
              <a:buSzPts val="1900"/>
              <a:buFont typeface="Arial"/>
              <a:buNone/>
            </a:pPr>
            <a:r>
              <a:rPr lang="en-US" sz="1900" b="1" i="0" u="none">
                <a:solidFill>
                  <a:schemeClr val="dk1"/>
                </a:solidFill>
                <a:latin typeface="Arial"/>
                <a:ea typeface="Arial"/>
                <a:cs typeface="Arial"/>
                <a:sym typeface="Arial"/>
              </a:rPr>
              <a:t>names</a:t>
            </a:r>
            <a:endParaRPr/>
          </a:p>
        </p:txBody>
      </p:sp>
      <p:sp>
        <p:nvSpPr>
          <p:cNvPr id="260" name="Google Shape;260;p11"/>
          <p:cNvSpPr txBox="1"/>
          <p:nvPr/>
        </p:nvSpPr>
        <p:spPr>
          <a:xfrm>
            <a:off x="515937" y="3925887"/>
            <a:ext cx="1636712" cy="379412"/>
          </a:xfrm>
          <a:prstGeom prst="rect">
            <a:avLst/>
          </a:prstGeom>
          <a:noFill/>
          <a:ln>
            <a:noFill/>
          </a:ln>
        </p:spPr>
        <p:txBody>
          <a:bodyPr spcFirstLastPara="1" wrap="square" lIns="86450" tIns="43225" rIns="86450" bIns="43225" anchor="t" anchorCtr="0">
            <a:spAutoFit/>
          </a:bodyPr>
          <a:lstStyle/>
          <a:p>
            <a:pPr marL="0" marR="0" lvl="0" indent="0" algn="l" rtl="0">
              <a:lnSpc>
                <a:spcPct val="100000"/>
              </a:lnSpc>
              <a:spcBef>
                <a:spcPts val="0"/>
              </a:spcBef>
              <a:spcAft>
                <a:spcPts val="0"/>
              </a:spcAft>
              <a:buClr>
                <a:schemeClr val="dk1"/>
              </a:buClr>
              <a:buSzPts val="1900"/>
              <a:buFont typeface="Arial"/>
              <a:buNone/>
            </a:pPr>
            <a:r>
              <a:rPr lang="en-US" sz="1900" b="1" i="0" u="none">
                <a:solidFill>
                  <a:schemeClr val="dk1"/>
                </a:solidFill>
                <a:latin typeface="Arial"/>
                <a:ea typeface="Arial"/>
                <a:cs typeface="Arial"/>
                <a:sym typeface="Arial"/>
              </a:rPr>
              <a:t>lottoNumbers</a:t>
            </a:r>
            <a:endParaRPr/>
          </a:p>
        </p:txBody>
      </p:sp>
      <p:grpSp>
        <p:nvGrpSpPr>
          <p:cNvPr id="261" name="Google Shape;261;p11"/>
          <p:cNvGrpSpPr/>
          <p:nvPr/>
        </p:nvGrpSpPr>
        <p:grpSpPr>
          <a:xfrm>
            <a:off x="715962" y="1552574"/>
            <a:ext cx="8356601" cy="625477"/>
            <a:chOff x="0" y="-19676"/>
            <a:chExt cx="8355867" cy="624039"/>
          </a:xfrm>
        </p:grpSpPr>
        <p:sp>
          <p:nvSpPr>
            <p:cNvPr id="262" name="Google Shape;262;p11"/>
            <p:cNvSpPr/>
            <p:nvPr/>
          </p:nvSpPr>
          <p:spPr>
            <a:xfrm>
              <a:off x="0" y="0"/>
              <a:ext cx="8355867" cy="584688"/>
            </a:xfrm>
            <a:prstGeom prst="roundRect">
              <a:avLst>
                <a:gd name="adj" fmla="val 4734"/>
              </a:avLst>
            </a:prstGeom>
            <a:noFill/>
            <a:ln w="25400" cap="flat" cmpd="sng">
              <a:solidFill>
                <a:srgbClr val="C5003D"/>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263" name="Google Shape;263;p11"/>
            <p:cNvSpPr txBox="1"/>
            <p:nvPr/>
          </p:nvSpPr>
          <p:spPr>
            <a:xfrm>
              <a:off x="161917" y="-19676"/>
              <a:ext cx="8032033" cy="624039"/>
            </a:xfrm>
            <a:prstGeom prst="rect">
              <a:avLst/>
            </a:prstGeom>
            <a:noFill/>
            <a:ln>
              <a:noFill/>
            </a:ln>
          </p:spPr>
          <p:txBody>
            <a:bodyPr spcFirstLastPara="1" wrap="square" lIns="34025" tIns="34025" rIns="34025" bIns="34025" anchor="ctr"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0" i="0" u="none">
                  <a:solidFill>
                    <a:schemeClr val="dk1"/>
                  </a:solidFill>
                  <a:latin typeface="Arial"/>
                  <a:ea typeface="Arial"/>
                  <a:cs typeface="Arial"/>
                  <a:sym typeface="Arial"/>
                </a:rPr>
                <a:t>[Grammar]	</a:t>
              </a:r>
              <a:r>
                <a:rPr lang="en-US" sz="1700" b="1" i="0" u="none">
                  <a:solidFill>
                    <a:schemeClr val="dk1"/>
                  </a:solidFill>
                  <a:latin typeface="Arial"/>
                  <a:ea typeface="Arial"/>
                  <a:cs typeface="Arial"/>
                  <a:sym typeface="Arial"/>
                </a:rPr>
                <a:t>System.out.println(  array_nama variabel [index_angka] ) ;</a:t>
              </a:r>
              <a:endParaRPr/>
            </a:p>
          </p:txBody>
        </p:sp>
      </p:grpSp>
      <p:grpSp>
        <p:nvGrpSpPr>
          <p:cNvPr id="264" name="Google Shape;264;p11"/>
          <p:cNvGrpSpPr/>
          <p:nvPr/>
        </p:nvGrpSpPr>
        <p:grpSpPr>
          <a:xfrm>
            <a:off x="715962" y="2322512"/>
            <a:ext cx="7713663" cy="1011238"/>
            <a:chOff x="0" y="0"/>
            <a:chExt cx="7713663" cy="1011238"/>
          </a:xfrm>
        </p:grpSpPr>
        <p:sp>
          <p:nvSpPr>
            <p:cNvPr id="265" name="Google Shape;265;p11"/>
            <p:cNvSpPr/>
            <p:nvPr/>
          </p:nvSpPr>
          <p:spPr>
            <a:xfrm>
              <a:off x="0" y="0"/>
              <a:ext cx="7713663" cy="1011238"/>
            </a:xfrm>
            <a:prstGeom prst="roundRect">
              <a:avLst>
                <a:gd name="adj" fmla="val 2755"/>
              </a:avLst>
            </a:prstGeom>
            <a:noFill/>
            <a:ln w="25400" cap="flat" cmpd="sng">
              <a:solidFill>
                <a:srgbClr val="C5003D"/>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266" name="Google Shape;266;p11"/>
            <p:cNvSpPr txBox="1"/>
            <p:nvPr/>
          </p:nvSpPr>
          <p:spPr>
            <a:xfrm>
              <a:off x="152595" y="185830"/>
              <a:ext cx="7408473" cy="639577"/>
            </a:xfrm>
            <a:prstGeom prst="rect">
              <a:avLst/>
            </a:prstGeom>
            <a:noFill/>
            <a:ln>
              <a:noFill/>
            </a:ln>
          </p:spPr>
          <p:txBody>
            <a:bodyPr spcFirstLastPara="1" wrap="square" lIns="34025" tIns="34025" rIns="34025" bIns="34025" anchor="ctr" anchorCtr="0">
              <a:spAutoFit/>
            </a:bodyPr>
            <a:lstStyle/>
            <a:p>
              <a:pPr marL="0" marR="0" lvl="0" indent="0" algn="l" rtl="0">
                <a:lnSpc>
                  <a:spcPct val="100000"/>
                </a:lnSpc>
                <a:spcBef>
                  <a:spcPts val="0"/>
                </a:spcBef>
                <a:spcAft>
                  <a:spcPts val="0"/>
                </a:spcAft>
                <a:buClr>
                  <a:schemeClr val="dk1"/>
                </a:buClr>
                <a:buSzPts val="1700"/>
                <a:buFont typeface="Arial"/>
                <a:buNone/>
              </a:pPr>
              <a:r>
                <a:rPr lang="en-US" sz="1700" b="0" i="0" u="none">
                  <a:solidFill>
                    <a:schemeClr val="dk1"/>
                  </a:solidFill>
                  <a:latin typeface="Arial"/>
                  <a:ea typeface="Arial"/>
                  <a:cs typeface="Arial"/>
                  <a:sym typeface="Arial"/>
                </a:rPr>
                <a:t>[Contoh]	System.out.println(  lottoNumbers[0]  );</a:t>
              </a:r>
              <a:endParaRPr/>
            </a:p>
            <a:p>
              <a:pPr marL="0" marR="0" lvl="0" indent="0" algn="l" rtl="0">
                <a:lnSpc>
                  <a:spcPct val="100000"/>
                </a:lnSpc>
                <a:spcBef>
                  <a:spcPts val="500"/>
                </a:spcBef>
                <a:spcAft>
                  <a:spcPts val="0"/>
                </a:spcAft>
                <a:buClr>
                  <a:schemeClr val="dk1"/>
                </a:buClr>
                <a:buSzPts val="1700"/>
                <a:buFont typeface="Arial"/>
                <a:buNone/>
              </a:pPr>
              <a:r>
                <a:rPr lang="en-US" sz="1700" b="0" i="0" u="none">
                  <a:solidFill>
                    <a:schemeClr val="dk1"/>
                  </a:solidFill>
                  <a:latin typeface="Arial"/>
                  <a:ea typeface="Arial"/>
                  <a:cs typeface="Arial"/>
                  <a:sym typeface="Arial"/>
                </a:rPr>
                <a:t>	System.out.println(  names[9]  );</a:t>
              </a:r>
              <a:endParaRPr/>
            </a:p>
          </p:txBody>
        </p:sp>
      </p:grpSp>
    </p:spTree>
    <p:extLst>
      <p:ext uri="{BB962C8B-B14F-4D97-AF65-F5344CB8AC3E}">
        <p14:creationId xmlns:p14="http://schemas.microsoft.com/office/powerpoint/2010/main" val="4228344353"/>
      </p:ext>
    </p:extLst>
  </p:cSld>
  <p:clrMapOvr>
    <a:masterClrMapping/>
  </p:clrMapOvr>
</p:sld>
</file>

<file path=ppt/theme/theme1.xml><?xml version="1.0" encoding="utf-8"?>
<a:theme xmlns:a="http://schemas.openxmlformats.org/drawingml/2006/main" name="1_중간표지">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중간표지">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3">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4">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3">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2.4">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3_2.4">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중간표지">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38</Slides>
  <Notes>37</Notes>
  <HiddenSlides>0</HiddenSlides>
  <ScaleCrop>false</ScaleCrop>
  <HeadingPairs>
    <vt:vector size="4" baseType="variant">
      <vt:variant>
        <vt:lpstr>Theme</vt:lpstr>
      </vt:variant>
      <vt:variant>
        <vt:i4>9</vt:i4>
      </vt:variant>
      <vt:variant>
        <vt:lpstr>Slide Titles</vt:lpstr>
      </vt:variant>
      <vt:variant>
        <vt:i4>38</vt:i4>
      </vt:variant>
    </vt:vector>
  </HeadingPairs>
  <TitlesOfParts>
    <vt:vector size="47" baseType="lpstr">
      <vt:lpstr>1_중간표지</vt:lpstr>
      <vt:lpstr>2_중간표지</vt:lpstr>
      <vt:lpstr>2.3</vt:lpstr>
      <vt:lpstr>2.4</vt:lpstr>
      <vt:lpstr>2.3</vt:lpstr>
      <vt:lpstr>2.3</vt:lpstr>
      <vt:lpstr>2.4</vt:lpstr>
      <vt:lpstr>3_2.4</vt:lpstr>
      <vt:lpstr>2_중간표지</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190</cp:revision>
  <dcterms:created xsi:type="dcterms:W3CDTF">2024-09-09T03:46:03Z</dcterms:created>
  <dcterms:modified xsi:type="dcterms:W3CDTF">2026-02-23T13:23:14Z</dcterms:modified>
</cp:coreProperties>
</file>